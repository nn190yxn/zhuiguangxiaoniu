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029200" cy="6858000"/>
          </a:xfrm>
          <a:prstGeom prst="roundRect">
            <a:avLst>
              <a:gd name="adj" fmla="val 1818"/>
            </a:avLst>
          </a:prstGeom>
          <a:solidFill>
            <a:srgbClr val="FF6B35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3474720" y="457200"/>
            <a:ext cx="1097280" cy="1097280"/>
          </a:xfrm>
          <a:prstGeom prst="ellipse">
            <a:avLst/>
          </a:prstGeom>
          <a:solidFill>
            <a:srgbClr val="FF8C5A"/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3840480" y="5029200"/>
            <a:ext cx="731520" cy="731520"/>
          </a:xfrm>
          <a:prstGeom prst="ellipse">
            <a:avLst/>
          </a:prstGeom>
          <a:solidFill>
            <a:srgbClr val="FF8C5A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274320" y="3657600"/>
            <a:ext cx="548640" cy="548640"/>
          </a:xfrm>
          <a:prstGeom prst="ellipse">
            <a:avLst/>
          </a:prstGeom>
          <a:solidFill>
            <a:srgbClr val="E55A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1371600"/>
            <a:ext cx="3657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微软雅黑" pitchFamily="34" charset="0"/>
                <a:ea typeface="Arial Black" pitchFamily="34" charset="-122"/>
                <a:cs typeface="Arial Black" pitchFamily="34" charset="-120"/>
              </a:rPr>
              <a:t>追光小牛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731520" y="246888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FFD4BC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CHILDREN'S FITNESS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669280" y="1645920"/>
            <a:ext cx="5486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微软雅黑" pitchFamily="34" charset="0"/>
                <a:ea typeface="Arial Black" pitchFamily="34" charset="-122"/>
                <a:cs typeface="Arial Black" pitchFamily="34" charset="-120"/>
              </a:rPr>
              <a:t>销售培训</a:t>
            </a:r>
            <a:endParaRPr lang="en-US" sz="3600" dirty="0"/>
          </a:p>
        </p:txBody>
      </p:sp>
      <p:sp>
        <p:nvSpPr>
          <p:cNvPr id="9" name="Shape 7"/>
          <p:cNvSpPr/>
          <p:nvPr/>
        </p:nvSpPr>
        <p:spPr>
          <a:xfrm>
            <a:off x="5669280" y="2560320"/>
            <a:ext cx="1828800" cy="54864"/>
          </a:xfrm>
          <a:prstGeom prst="roundRect">
            <a:avLst>
              <a:gd name="adj" fmla="val 166667"/>
            </a:avLst>
          </a:prstGeom>
          <a:solidFill>
            <a:srgbClr val="FF6B3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5669280" y="283464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第一课：品牌与产品认知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5669280" y="502920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0D1B3E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943600" y="5074920"/>
            <a:ext cx="4572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让每一个孩子爱上运动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0" y="6400800"/>
            <a:ext cx="12188952" cy="457200"/>
          </a:xfrm>
          <a:prstGeom prst="roundRect">
            <a:avLst>
              <a:gd name="adj" fmla="val 20000"/>
            </a:avLst>
          </a:prstGeom>
          <a:solidFill>
            <a:srgbClr val="1E2761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457200" y="640080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追光小牛 · 销售培训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0360152" y="640080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1 / 13</a:t>
            </a:r>
            <a:endParaRPr lang="en-US" sz="900" dirty="0"/>
          </a:p>
        </p:txBody>
      </p:sp>
      <p:sp>
        <p:nvSpPr>
          <p:cNvPr id="16" name="Rectangle 15"/>
          <p:cNvSpPr/>
          <p:nvPr/>
        </p:nvSpPr>
        <p:spPr>
          <a:xfrm rot="20700000">
            <a:off x="243840" y="1028700"/>
            <a:ext cx="975360" cy="19050"/>
          </a:xfrm>
          <a:prstGeom prst="rect">
            <a:avLst/>
          </a:prstGeom>
          <a:solidFill>
            <a:srgbClr val="00E676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0700000">
            <a:off x="609600" y="1577339"/>
            <a:ext cx="1219200" cy="25400"/>
          </a:xfrm>
          <a:prstGeom prst="rect">
            <a:avLst/>
          </a:prstGeom>
          <a:solidFill>
            <a:srgbClr val="00E676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0700000">
            <a:off x="975360" y="2125980"/>
            <a:ext cx="1463040" cy="31750"/>
          </a:xfrm>
          <a:prstGeom prst="rect">
            <a:avLst/>
          </a:prstGeom>
          <a:solidFill>
            <a:srgbClr val="00E676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0700000">
            <a:off x="1341120" y="2674620"/>
            <a:ext cx="1706880" cy="38100"/>
          </a:xfrm>
          <a:prstGeom prst="rect">
            <a:avLst/>
          </a:prstGeom>
          <a:solidFill>
            <a:srgbClr val="00E676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Isosceles Triangle 19"/>
          <p:cNvSpPr/>
          <p:nvPr/>
        </p:nvSpPr>
        <p:spPr>
          <a:xfrm>
            <a:off x="10728960" y="0"/>
            <a:ext cx="1463040" cy="548640"/>
          </a:xfrm>
          <a:prstGeom prst="triangle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Isosceles Triangle 20"/>
          <p:cNvSpPr/>
          <p:nvPr/>
        </p:nvSpPr>
        <p:spPr>
          <a:xfrm rot="10800000">
            <a:off x="0" y="6309360"/>
            <a:ext cx="975360" cy="548640"/>
          </a:xfrm>
          <a:prstGeom prst="triangle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Arc 21"/>
          <p:cNvSpPr/>
          <p:nvPr/>
        </p:nvSpPr>
        <p:spPr>
          <a:xfrm>
            <a:off x="9997440" y="685800"/>
            <a:ext cx="2438400" cy="2057400"/>
          </a:xfrm>
          <a:prstGeom prst="arc">
            <a:avLst/>
          </a:prstGeom>
          <a:noFill/>
          <a:ln w="25400">
            <a:solidFill>
              <a:srgbClr val="FF6B35">
                <a:alpha val="25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0" y="6652260"/>
            <a:ext cx="12192000" cy="20574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oundRect">
            <a:avLst>
              <a:gd name="adj" fmla="val 125000"/>
            </a:avLst>
          </a:prstGeom>
          <a:solidFill>
            <a:srgbClr val="FF6B35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731520" y="457200"/>
            <a:ext cx="73152" cy="502920"/>
          </a:xfrm>
          <a:prstGeom prst="roundRect">
            <a:avLst>
              <a:gd name="adj" fmla="val 50000"/>
            </a:avLst>
          </a:prstGeom>
          <a:solidFill>
            <a:srgbClr val="FF6B35"/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96012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微软雅黑" pitchFamily="34" charset="0"/>
                <a:ea typeface="Arial Black" pitchFamily="34" charset="-122"/>
                <a:cs typeface="Arial Black" pitchFamily="34" charset="-120"/>
              </a:rPr>
              <a:t>课程目录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960120" y="822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今天我们将了解追光小牛的核心价值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731520" y="1645920"/>
            <a:ext cx="10515600" cy="1280160"/>
          </a:xfrm>
          <a:prstGeom prst="roundRect">
            <a:avLst>
              <a:gd name="adj" fmla="val 10714"/>
            </a:avLst>
          </a:prstGeom>
          <a:solidFill>
            <a:srgbClr val="1A2A50">
              <a:alpha val="70000"/>
            </a:srgbClr>
          </a:solidFill>
          <a:ln/>
          <a:effectLst>
            <a:outerShdw sx="100000" sy="100000" kx="0" ky="0" algn="bl" rotWithShape="0" blurRad="76200" dist="25400" dir="16200000">
              <a:srgbClr val="000000">
                <a:alpha val="15000"/>
              </a:srgbClr>
            </a:outerShdw>
          </a:effectLst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1097280" y="1828800"/>
            <a:ext cx="914400" cy="914400"/>
          </a:xfrm>
          <a:prstGeom prst="ellipse">
            <a:avLst/>
          </a:prstGeom>
          <a:solidFill>
            <a:srgbClr val="FF6B35"/>
          </a:solidFill>
          <a:ln/>
          <a:effectLst>
            <a:outerShdw sx="100000" sy="100000" kx="0" ky="0" algn="bl" rotWithShape="0" blurRad="50800" dist="12700" dir="162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97280" y="182880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4000" dirty="0"/>
          </a:p>
        </p:txBody>
      </p:sp>
      <p:sp>
        <p:nvSpPr>
          <p:cNvPr id="9" name="Shape 7"/>
          <p:cNvSpPr/>
          <p:nvPr/>
        </p:nvSpPr>
        <p:spPr>
          <a:xfrm>
            <a:off x="2377440" y="1920240"/>
            <a:ext cx="457200" cy="457200"/>
          </a:xfrm>
          <a:prstGeom prst="ellipse">
            <a:avLst/>
          </a:prstGeom>
          <a:solidFill>
            <a:srgbClr val="FF6B3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2377440" y="19202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★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108960" y="178308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微软雅黑" pitchFamily="34" charset="0"/>
                <a:ea typeface="Arial Black" pitchFamily="34" charset="-122"/>
                <a:cs typeface="Arial Black" pitchFamily="34" charset="-120"/>
              </a:rPr>
              <a:t>品牌理念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3108960" y="22860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我们是谁 / HLGP教学理念 / 行业定位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0515600" y="19202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2400" b="1" dirty="0">
                <a:solidFill>
                  <a:srgbClr val="FF6B35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400" dirty="0"/>
          </a:p>
        </p:txBody>
      </p:sp>
      <p:sp>
        <p:nvSpPr>
          <p:cNvPr id="14" name="Shape 12"/>
          <p:cNvSpPr/>
          <p:nvPr/>
        </p:nvSpPr>
        <p:spPr>
          <a:xfrm>
            <a:off x="731520" y="3200400"/>
            <a:ext cx="10515600" cy="1280160"/>
          </a:xfrm>
          <a:prstGeom prst="roundRect">
            <a:avLst>
              <a:gd name="adj" fmla="val 10714"/>
            </a:avLst>
          </a:prstGeom>
          <a:solidFill>
            <a:srgbClr val="1A2A50">
              <a:alpha val="70000"/>
            </a:srgbClr>
          </a:solidFill>
          <a:ln/>
          <a:effectLst>
            <a:outerShdw sx="100000" sy="100000" kx="0" ky="0" algn="bl" rotWithShape="0" blurRad="76200" dist="25400" dir="16200000">
              <a:srgbClr val="000000">
                <a:alpha val="15000"/>
              </a:srgbClr>
            </a:outerShdw>
          </a:effectLst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1097280" y="3383280"/>
            <a:ext cx="914400" cy="914400"/>
          </a:xfrm>
          <a:prstGeom prst="ellipse">
            <a:avLst/>
          </a:prstGeom>
          <a:solidFill>
            <a:srgbClr val="1E2761"/>
          </a:solidFill>
          <a:ln/>
          <a:effectLst>
            <a:outerShdw sx="100000" sy="100000" kx="0" ky="0" algn="bl" rotWithShape="0" blurRad="50800" dist="12700" dir="162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1097280" y="338328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4000" dirty="0"/>
          </a:p>
        </p:txBody>
      </p:sp>
      <p:sp>
        <p:nvSpPr>
          <p:cNvPr id="17" name="Shape 15"/>
          <p:cNvSpPr/>
          <p:nvPr/>
        </p:nvSpPr>
        <p:spPr>
          <a:xfrm>
            <a:off x="2377440" y="347472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2377440" y="34747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◆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3108960" y="33375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微软雅黑" pitchFamily="34" charset="0"/>
                <a:ea typeface="Arial Black" pitchFamily="34" charset="-122"/>
                <a:cs typeface="Arial Black" pitchFamily="34" charset="-120"/>
              </a:rPr>
              <a:t>课程体系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3108960" y="38404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分龄课程 / 核心优势 / 与传统体培区别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0515600" y="34747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400" dirty="0"/>
          </a:p>
        </p:txBody>
      </p:sp>
      <p:sp>
        <p:nvSpPr>
          <p:cNvPr id="22" name="Shape 20"/>
          <p:cNvSpPr/>
          <p:nvPr/>
        </p:nvSpPr>
        <p:spPr>
          <a:xfrm>
            <a:off x="731520" y="4754880"/>
            <a:ext cx="10515600" cy="1280160"/>
          </a:xfrm>
          <a:prstGeom prst="roundRect">
            <a:avLst>
              <a:gd name="adj" fmla="val 10714"/>
            </a:avLst>
          </a:prstGeom>
          <a:solidFill>
            <a:srgbClr val="1A2A50">
              <a:alpha val="70000"/>
            </a:srgbClr>
          </a:solidFill>
          <a:ln/>
          <a:effectLst>
            <a:outerShdw sx="100000" sy="100000" kx="0" ky="0" algn="bl" rotWithShape="0" blurRad="76200" dist="25400" dir="16200000">
              <a:srgbClr val="000000">
                <a:alpha val="15000"/>
              </a:srgbClr>
            </a:outerShdw>
          </a:effectLst>
        </p:spPr>
        <p:txBody>
          <a:bodyPr/>
          <a:p/>
        </p:txBody>
      </p:sp>
      <p:sp>
        <p:nvSpPr>
          <p:cNvPr id="23" name="Shape 21"/>
          <p:cNvSpPr/>
          <p:nvPr/>
        </p:nvSpPr>
        <p:spPr>
          <a:xfrm>
            <a:off x="1097280" y="4937760"/>
            <a:ext cx="914400" cy="914400"/>
          </a:xfrm>
          <a:prstGeom prst="ellipse">
            <a:avLst/>
          </a:prstGeom>
          <a:solidFill>
            <a:srgbClr val="4CAF50"/>
          </a:solidFill>
          <a:ln/>
          <a:effectLst>
            <a:outerShdw sx="100000" sy="100000" kx="0" ky="0" algn="bl" rotWithShape="0" blurRad="50800" dist="12700" dir="162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1097280" y="493776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4000" dirty="0"/>
          </a:p>
        </p:txBody>
      </p:sp>
      <p:sp>
        <p:nvSpPr>
          <p:cNvPr id="25" name="Shape 23"/>
          <p:cNvSpPr/>
          <p:nvPr/>
        </p:nvSpPr>
        <p:spPr>
          <a:xfrm>
            <a:off x="2377440" y="5029200"/>
            <a:ext cx="457200" cy="457200"/>
          </a:xfrm>
          <a:prstGeom prst="ellipse">
            <a:avLst/>
          </a:prstGeom>
          <a:solidFill>
            <a:srgbClr val="4CAF50"/>
          </a:solidFill>
          <a:ln/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2377440" y="50292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3108960" y="48920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微软雅黑" pitchFamily="34" charset="0"/>
                <a:ea typeface="Arial Black" pitchFamily="34" charset="-122"/>
                <a:cs typeface="Arial Black" pitchFamily="34" charset="-120"/>
              </a:rPr>
              <a:t>销售实战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3108960" y="53949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客户画像 / 竞品差异化 / 电梯话术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10515600" y="50292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2400" b="1" dirty="0">
                <a:solidFill>
                  <a:srgbClr val="4CAF50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400" dirty="0"/>
          </a:p>
        </p:txBody>
      </p:sp>
      <p:sp>
        <p:nvSpPr>
          <p:cNvPr id="30" name="Shape 28"/>
          <p:cNvSpPr/>
          <p:nvPr/>
        </p:nvSpPr>
        <p:spPr>
          <a:xfrm>
            <a:off x="0" y="6400800"/>
            <a:ext cx="12188952" cy="457200"/>
          </a:xfrm>
          <a:prstGeom prst="roundRect">
            <a:avLst>
              <a:gd name="adj" fmla="val 20000"/>
            </a:avLst>
          </a:prstGeom>
          <a:solidFill>
            <a:srgbClr val="1E2761"/>
          </a:solidFill>
          <a:ln/>
        </p:spPr>
        <p:txBody>
          <a:bodyPr/>
          <a:p/>
        </p:txBody>
      </p:sp>
      <p:sp>
        <p:nvSpPr>
          <p:cNvPr id="31" name="Text 29"/>
          <p:cNvSpPr/>
          <p:nvPr/>
        </p:nvSpPr>
        <p:spPr>
          <a:xfrm>
            <a:off x="457200" y="640080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追光小牛 · 销售培训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0360152" y="640080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2 / 13</a:t>
            </a:r>
            <a:endParaRPr lang="en-US" sz="900" dirty="0"/>
          </a:p>
        </p:txBody>
      </p:sp>
      <p:sp>
        <p:nvSpPr>
          <p:cNvPr id="33" name="Rectangle 32"/>
          <p:cNvSpPr/>
          <p:nvPr/>
        </p:nvSpPr>
        <p:spPr>
          <a:xfrm rot="20700000">
            <a:off x="243840" y="1028700"/>
            <a:ext cx="975360" cy="19050"/>
          </a:xfrm>
          <a:prstGeom prst="rect">
            <a:avLst/>
          </a:prstGeom>
          <a:solidFill>
            <a:srgbClr val="00E676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 rot="20700000">
            <a:off x="609600" y="1577339"/>
            <a:ext cx="1219200" cy="25400"/>
          </a:xfrm>
          <a:prstGeom prst="rect">
            <a:avLst/>
          </a:prstGeom>
          <a:solidFill>
            <a:srgbClr val="00E676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0" y="0"/>
            <a:ext cx="12192000" cy="54864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Isosceles Triangle 35"/>
          <p:cNvSpPr/>
          <p:nvPr/>
        </p:nvSpPr>
        <p:spPr>
          <a:xfrm>
            <a:off x="10728960" y="0"/>
            <a:ext cx="1463040" cy="548640"/>
          </a:xfrm>
          <a:prstGeom prst="triangle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oundRect">
            <a:avLst>
              <a:gd name="adj" fmla="val 125000"/>
            </a:avLst>
          </a:prstGeom>
          <a:solidFill>
            <a:srgbClr val="FF6B35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731520" y="457200"/>
            <a:ext cx="73152" cy="502920"/>
          </a:xfrm>
          <a:prstGeom prst="roundRect">
            <a:avLst>
              <a:gd name="adj" fmla="val 50000"/>
            </a:avLst>
          </a:prstGeom>
          <a:solidFill>
            <a:srgbClr val="FF6B35"/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96012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微软雅黑" pitchFamily="34" charset="0"/>
                <a:ea typeface="Arial Black" pitchFamily="34" charset="-122"/>
                <a:cs typeface="Arial Black" pitchFamily="34" charset="-120"/>
              </a:rPr>
              <a:t>我们是谁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960120" y="822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追光小牛儿童体适能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731520" y="1371600"/>
            <a:ext cx="6858000" cy="4389120"/>
          </a:xfrm>
          <a:prstGeom prst="roundRect">
            <a:avLst>
              <a:gd name="adj" fmla="val 3125"/>
            </a:avLst>
          </a:prstGeom>
          <a:solidFill>
            <a:srgbClr val="1A2A50">
              <a:alpha val="70000"/>
            </a:srgbClr>
          </a:solidFill>
          <a:ln/>
          <a:effectLst>
            <a:outerShdw sx="100000" sy="100000" kx="0" ky="0" algn="bl" rotWithShape="0" blurRad="76200" dist="25400" dir="16200000">
              <a:srgbClr val="000000">
                <a:alpha val="15000"/>
              </a:srgbClr>
            </a:outerShdw>
          </a:effectLst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1188720" y="1645920"/>
            <a:ext cx="1828800" cy="1645920"/>
          </a:xfrm>
          <a:prstGeom prst="roundRect">
            <a:avLst>
              <a:gd name="adj" fmla="val 5556"/>
            </a:avLst>
          </a:prstGeom>
          <a:solidFill>
            <a:srgbClr val="FF6B3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188720" y="1737360"/>
            <a:ext cx="1828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微软雅黑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1188720" y="246888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家 连锁门店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291840" y="1645920"/>
            <a:ext cx="1828800" cy="1645920"/>
          </a:xfrm>
          <a:prstGeom prst="roundRect">
            <a:avLst>
              <a:gd name="adj" fmla="val 5556"/>
            </a:avLst>
          </a:prstGeom>
          <a:solidFill>
            <a:srgbClr val="1E2761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3291840" y="1737360"/>
            <a:ext cx="1828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微软雅黑" pitchFamily="34" charset="0"/>
                <a:ea typeface="Arial Black" pitchFamily="34" charset="-122"/>
                <a:cs typeface="Arial Black" pitchFamily="34" charset="-120"/>
              </a:rPr>
              <a:t>3000+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3291840" y="246888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 会员家庭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394960" y="1645920"/>
            <a:ext cx="1828800" cy="1645920"/>
          </a:xfrm>
          <a:prstGeom prst="roundRect">
            <a:avLst>
              <a:gd name="adj" fmla="val 5556"/>
            </a:avLst>
          </a:prstGeom>
          <a:solidFill>
            <a:srgbClr val="4CAF50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5394960" y="1737360"/>
            <a:ext cx="1828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微软雅黑" pitchFamily="34" charset="0"/>
                <a:ea typeface="Arial Black" pitchFamily="34" charset="-122"/>
                <a:cs typeface="Arial Black" pitchFamily="34" charset="-120"/>
              </a:rPr>
              <a:t>客户满意度</a:t>
            </a:r>
            <a:endParaRPr lang="en-US" sz="3600" dirty="0"/>
          </a:p>
        </p:txBody>
      </p:sp>
      <p:sp>
        <p:nvSpPr>
          <p:cNvPr id="15" name="Text 13"/>
          <p:cNvSpPr/>
          <p:nvPr/>
        </p:nvSpPr>
        <p:spPr>
          <a:xfrm>
            <a:off x="5394960" y="246888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≥90%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188720" y="3566160"/>
            <a:ext cx="59436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追光小牛专注于3-12岁儿童体适能教育，</a:t>
            </a:r>
            <a:pPr algn="l" indent="0" marL="0">
              <a:lnSpc>
                <a:spcPct val="160000"/>
              </a:lnSpc>
              <a:buNone/>
            </a:pPr>
            <a:r>
              <a:rPr lang="en-US" sz="1400" b="1" dirty="0">
                <a:solidFill>
                  <a:srgbClr val="FF6B35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以科学运动体系为核心，</a:t>
            </a:r>
            <a:pPr algn="l"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通过游戏化教学激发孩子运动兴趣，</a:t>
            </a:r>
            <a:pPr algn="l" indent="0" marL="0">
              <a:lnSpc>
                <a:spcPct val="16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帮助每个孩子建立健康体魄与自信品格。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8046720" y="1371600"/>
            <a:ext cx="3474720" cy="4389120"/>
          </a:xfrm>
          <a:prstGeom prst="roundRect">
            <a:avLst>
              <a:gd name="adj" fmla="val 3947"/>
            </a:avLst>
          </a:prstGeom>
          <a:solidFill>
            <a:srgbClr val="1E2761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8229600" y="155448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微软雅黑" pitchFamily="34" charset="0"/>
                <a:ea typeface="Arial Black" pitchFamily="34" charset="-122"/>
                <a:cs typeface="Arial Black" pitchFamily="34" charset="-120"/>
              </a:rPr>
              <a:t>品牌核心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8412480" y="2286000"/>
            <a:ext cx="457200" cy="457200"/>
          </a:xfrm>
          <a:prstGeom prst="ellipse">
            <a:avLst/>
          </a:prstGeom>
          <a:solidFill>
            <a:srgbClr val="FF6B35"/>
          </a:solidFill>
          <a:ln/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8412480" y="22860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微软雅黑" pitchFamily="34" charset="0"/>
                <a:ea typeface="Arial Black" pitchFamily="34" charset="-122"/>
                <a:cs typeface="Arial Black" pitchFamily="34" charset="-120"/>
              </a:rPr>
              <a:t>专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9052560" y="228600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专业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8412480" y="3063240"/>
            <a:ext cx="457200" cy="457200"/>
          </a:xfrm>
          <a:prstGeom prst="ellipse">
            <a:avLst/>
          </a:prstGeom>
          <a:solidFill>
            <a:srgbClr val="FF6B35"/>
          </a:solidFill>
          <a:ln/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8412480" y="30632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微软雅黑" pitchFamily="34" charset="0"/>
                <a:ea typeface="Arial Black" pitchFamily="34" charset="-122"/>
                <a:cs typeface="Arial Black" pitchFamily="34" charset="-120"/>
              </a:rPr>
              <a:t>科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9052560" y="306324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科学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8412480" y="3840480"/>
            <a:ext cx="457200" cy="457200"/>
          </a:xfrm>
          <a:prstGeom prst="ellipse">
            <a:avLst/>
          </a:prstGeom>
          <a:solidFill>
            <a:srgbClr val="FF6B35"/>
          </a:solidFill>
          <a:ln/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8412480" y="38404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微软雅黑" pitchFamily="34" charset="0"/>
                <a:ea typeface="Arial Black" pitchFamily="34" charset="-122"/>
                <a:cs typeface="Arial Black" pitchFamily="34" charset="-120"/>
              </a:rPr>
              <a:t>快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9052560" y="384048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快乐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8412480" y="4617720"/>
            <a:ext cx="457200" cy="457200"/>
          </a:xfrm>
          <a:prstGeom prst="ellipse">
            <a:avLst/>
          </a:prstGeom>
          <a:solidFill>
            <a:srgbClr val="FF6B35"/>
          </a:solidFill>
          <a:ln/>
        </p:spPr>
        <p:txBody>
          <a:bodyPr/>
          <a:p/>
        </p:txBody>
      </p:sp>
      <p:sp>
        <p:nvSpPr>
          <p:cNvPr id="29" name="Text 27"/>
          <p:cNvSpPr/>
          <p:nvPr/>
        </p:nvSpPr>
        <p:spPr>
          <a:xfrm>
            <a:off x="8412480" y="46177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微软雅黑" pitchFamily="34" charset="0"/>
                <a:ea typeface="Arial Black" pitchFamily="34" charset="-122"/>
                <a:cs typeface="Arial Black" pitchFamily="34" charset="-120"/>
              </a:rPr>
              <a:t>成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9052560" y="461772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成长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0" y="6400800"/>
            <a:ext cx="12188952" cy="457200"/>
          </a:xfrm>
          <a:prstGeom prst="roundRect">
            <a:avLst>
              <a:gd name="adj" fmla="val 20000"/>
            </a:avLst>
          </a:prstGeom>
          <a:solidFill>
            <a:srgbClr val="1E2761"/>
          </a:solidFill>
          <a:ln/>
        </p:spPr>
        <p:txBody>
          <a:bodyPr/>
          <a:p/>
        </p:txBody>
      </p:sp>
      <p:sp>
        <p:nvSpPr>
          <p:cNvPr id="32" name="Text 30"/>
          <p:cNvSpPr/>
          <p:nvPr/>
        </p:nvSpPr>
        <p:spPr>
          <a:xfrm>
            <a:off x="457200" y="640080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追光小牛 · 销售培训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0360152" y="640080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3 / 13</a:t>
            </a:r>
            <a:endParaRPr lang="en-US" sz="900" dirty="0"/>
          </a:p>
        </p:txBody>
      </p:sp>
      <p:sp>
        <p:nvSpPr>
          <p:cNvPr id="34" name="Rectangle 33"/>
          <p:cNvSpPr/>
          <p:nvPr/>
        </p:nvSpPr>
        <p:spPr>
          <a:xfrm>
            <a:off x="0" y="0"/>
            <a:ext cx="12192000" cy="54864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 rot="20700000">
            <a:off x="243840" y="1028700"/>
            <a:ext cx="975360" cy="19050"/>
          </a:xfrm>
          <a:prstGeom prst="rect">
            <a:avLst/>
          </a:prstGeom>
          <a:solidFill>
            <a:srgbClr val="00E676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 rot="20700000">
            <a:off x="609600" y="1577339"/>
            <a:ext cx="1219200" cy="25400"/>
          </a:xfrm>
          <a:prstGeom prst="rect">
            <a:avLst/>
          </a:prstGeom>
          <a:solidFill>
            <a:srgbClr val="00E676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0" y="5829300"/>
            <a:ext cx="12192000" cy="1028700"/>
          </a:xfrm>
          <a:prstGeom prst="rect">
            <a:avLst/>
          </a:prstGeom>
          <a:solidFill>
            <a:srgbClr val="14244D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oundRect">
            <a:avLst>
              <a:gd name="adj" fmla="val 125000"/>
            </a:avLst>
          </a:prstGeom>
          <a:solidFill>
            <a:srgbClr val="FF6B35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731520" y="457200"/>
            <a:ext cx="73152" cy="502920"/>
          </a:xfrm>
          <a:prstGeom prst="roundRect">
            <a:avLst>
              <a:gd name="adj" fmla="val 50000"/>
            </a:avLst>
          </a:prstGeom>
          <a:solidFill>
            <a:srgbClr val="FF6B35"/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96012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微软雅黑" pitchFamily="34" charset="0"/>
                <a:ea typeface="Arial Black" pitchFamily="34" charset="-122"/>
                <a:cs typeface="Arial Black" pitchFamily="34" charset="-120"/>
              </a:rPr>
              <a:t>HLGP教学理念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960120" y="822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我们的核心竞争力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731520" y="1188720"/>
            <a:ext cx="1645920" cy="320040"/>
          </a:xfrm>
          <a:prstGeom prst="roundRect">
            <a:avLst>
              <a:gd name="adj" fmla="val 14286"/>
            </a:avLst>
          </a:prstGeom>
          <a:solidFill>
            <a:srgbClr val="FF6B3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118872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Feature 特性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2560320" y="11887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四大维度：Health健康 / Joy快乐 / Growth成长 / Professional专业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31520" y="1645920"/>
            <a:ext cx="1645920" cy="320040"/>
          </a:xfrm>
          <a:prstGeom prst="roundRect">
            <a:avLst>
              <a:gd name="adj" fmla="val 14286"/>
            </a:avLst>
          </a:prstGeom>
          <a:solidFill>
            <a:srgbClr val="1E2761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731520" y="164592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Advantage 优势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560320" y="16459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区别于传统体培的单一体能训练，HLGP关注孩子的全面发展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31520" y="2103120"/>
            <a:ext cx="1645920" cy="320040"/>
          </a:xfrm>
          <a:prstGeom prst="roundRect">
            <a:avLst>
              <a:gd name="adj" fmla="val 14286"/>
            </a:avLst>
          </a:prstGeom>
          <a:solidFill>
            <a:srgbClr val="4CAF50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731520" y="210312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Benefit 利益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560320" y="21031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让你自信地向家长介绍：我们不只是教运动，更是在培养孩子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31520" y="2743200"/>
            <a:ext cx="2560320" cy="3200400"/>
          </a:xfrm>
          <a:prstGeom prst="roundRect">
            <a:avLst>
              <a:gd name="adj" fmla="val 5357"/>
            </a:avLst>
          </a:prstGeom>
          <a:solidFill>
            <a:srgbClr val="1A2A50">
              <a:alpha val="70000"/>
            </a:srgbClr>
          </a:solidFill>
          <a:ln/>
          <a:effectLst>
            <a:outerShdw sx="100000" sy="100000" kx="0" ky="0" algn="bl" rotWithShape="0" blurRad="76200" dist="25400" dir="16200000">
              <a:srgbClr val="000000">
                <a:alpha val="15000"/>
              </a:srgbClr>
            </a:outerShdw>
          </a:effectLst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>
            <a:off x="731520" y="2743200"/>
            <a:ext cx="2560320" cy="548640"/>
          </a:xfrm>
          <a:prstGeom prst="roundRect">
            <a:avLst>
              <a:gd name="adj" fmla="val 16667"/>
            </a:avLst>
          </a:prstGeom>
          <a:solidFill>
            <a:srgbClr val="FF6B35"/>
          </a:solidFill>
          <a:ln/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731520" y="274320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微软雅黑" pitchFamily="34" charset="0"/>
                <a:ea typeface="Arial Black" pitchFamily="34" charset="-122"/>
                <a:cs typeface="Arial Black" pitchFamily="34" charset="-120"/>
              </a:rPr>
              <a:t>H</a:t>
            </a:r>
            <a:endParaRPr lang="en-US" sz="2800" dirty="0"/>
          </a:p>
        </p:txBody>
      </p:sp>
      <p:sp>
        <p:nvSpPr>
          <p:cNvPr id="18" name="Shape 16"/>
          <p:cNvSpPr/>
          <p:nvPr/>
        </p:nvSpPr>
        <p:spPr>
          <a:xfrm>
            <a:off x="1554480" y="3474720"/>
            <a:ext cx="640080" cy="640080"/>
          </a:xfrm>
          <a:prstGeom prst="ellipse">
            <a:avLst/>
          </a:prstGeom>
          <a:solidFill>
            <a:srgbClr val="FF6B35"/>
          </a:solidFill>
          <a:ln/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1554480" y="34747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♥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731520" y="425196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FF6B35"/>
                </a:solidFill>
                <a:latin typeface="微软雅黑" pitchFamily="34" charset="0"/>
                <a:ea typeface="Arial Black" pitchFamily="34" charset="-122"/>
                <a:cs typeface="Arial Black" pitchFamily="34" charset="-120"/>
              </a:rPr>
              <a:t>Health 健康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914400" y="4663440"/>
            <a:ext cx="21945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科学训练，强健体魄</a:t>
            </a:r>
            <a:endParaRPr lang="en-US" sz="110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提升协调性与柔韧性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520440" y="2743200"/>
            <a:ext cx="2560320" cy="3200400"/>
          </a:xfrm>
          <a:prstGeom prst="roundRect">
            <a:avLst>
              <a:gd name="adj" fmla="val 5357"/>
            </a:avLst>
          </a:prstGeom>
          <a:solidFill>
            <a:srgbClr val="1A2A50">
              <a:alpha val="70000"/>
            </a:srgbClr>
          </a:solidFill>
          <a:ln/>
          <a:effectLst>
            <a:outerShdw sx="100000" sy="100000" kx="0" ky="0" algn="bl" rotWithShape="0" blurRad="76200" dist="25400" dir="16200000">
              <a:srgbClr val="000000">
                <a:alpha val="15000"/>
              </a:srgbClr>
            </a:outerShdw>
          </a:effectLst>
        </p:spPr>
        <p:txBody>
          <a:bodyPr/>
          <a:p/>
        </p:txBody>
      </p:sp>
      <p:sp>
        <p:nvSpPr>
          <p:cNvPr id="23" name="Shape 21"/>
          <p:cNvSpPr/>
          <p:nvPr/>
        </p:nvSpPr>
        <p:spPr>
          <a:xfrm>
            <a:off x="3520440" y="2743200"/>
            <a:ext cx="2560320" cy="548640"/>
          </a:xfrm>
          <a:prstGeom prst="roundRect">
            <a:avLst>
              <a:gd name="adj" fmla="val 16667"/>
            </a:avLst>
          </a:prstGeom>
          <a:solidFill>
            <a:srgbClr val="FFB347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3520440" y="274320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微软雅黑" pitchFamily="34" charset="0"/>
                <a:ea typeface="Arial Black" pitchFamily="34" charset="-122"/>
                <a:cs typeface="Arial Black" pitchFamily="34" charset="-120"/>
              </a:rPr>
              <a:t>L</a:t>
            </a:r>
            <a:endParaRPr lang="en-US" sz="2800" dirty="0"/>
          </a:p>
        </p:txBody>
      </p:sp>
      <p:sp>
        <p:nvSpPr>
          <p:cNvPr id="25" name="Shape 23"/>
          <p:cNvSpPr/>
          <p:nvPr/>
        </p:nvSpPr>
        <p:spPr>
          <a:xfrm>
            <a:off x="4343400" y="3474720"/>
            <a:ext cx="640080" cy="640080"/>
          </a:xfrm>
          <a:prstGeom prst="ellipse">
            <a:avLst/>
          </a:prstGeom>
          <a:solidFill>
            <a:srgbClr val="FFB347"/>
          </a:solidFill>
          <a:ln/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4343400" y="34747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☺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3520440" y="425196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FFB347"/>
                </a:solidFill>
                <a:latin typeface="微软雅黑" pitchFamily="34" charset="0"/>
                <a:ea typeface="Arial Black" pitchFamily="34" charset="-122"/>
                <a:cs typeface="Arial Black" pitchFamily="34" charset="-120"/>
              </a:rPr>
              <a:t>Joy 快乐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3703320" y="4663440"/>
            <a:ext cx="21945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游戏化教学设计</a:t>
            </a:r>
            <a:endParaRPr lang="en-US" sz="110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让孩子爱上运动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309360" y="2743200"/>
            <a:ext cx="2560320" cy="3200400"/>
          </a:xfrm>
          <a:prstGeom prst="roundRect">
            <a:avLst>
              <a:gd name="adj" fmla="val 5357"/>
            </a:avLst>
          </a:prstGeom>
          <a:solidFill>
            <a:srgbClr val="1A2A50">
              <a:alpha val="70000"/>
            </a:srgbClr>
          </a:solidFill>
          <a:ln/>
          <a:effectLst>
            <a:outerShdw sx="100000" sy="100000" kx="0" ky="0" algn="bl" rotWithShape="0" blurRad="76200" dist="25400" dir="16200000">
              <a:srgbClr val="000000">
                <a:alpha val="15000"/>
              </a:srgbClr>
            </a:outerShdw>
          </a:effectLst>
        </p:spPr>
        <p:txBody>
          <a:bodyPr/>
          <a:p/>
        </p:txBody>
      </p:sp>
      <p:sp>
        <p:nvSpPr>
          <p:cNvPr id="30" name="Shape 28"/>
          <p:cNvSpPr/>
          <p:nvPr/>
        </p:nvSpPr>
        <p:spPr>
          <a:xfrm>
            <a:off x="6309360" y="2743200"/>
            <a:ext cx="2560320" cy="548640"/>
          </a:xfrm>
          <a:prstGeom prst="roundRect">
            <a:avLst>
              <a:gd name="adj" fmla="val 16667"/>
            </a:avLst>
          </a:prstGeom>
          <a:solidFill>
            <a:srgbClr val="4CAF50"/>
          </a:solidFill>
          <a:ln/>
        </p:spPr>
        <p:txBody>
          <a:bodyPr/>
          <a:p/>
        </p:txBody>
      </p:sp>
      <p:sp>
        <p:nvSpPr>
          <p:cNvPr id="31" name="Text 29"/>
          <p:cNvSpPr/>
          <p:nvPr/>
        </p:nvSpPr>
        <p:spPr>
          <a:xfrm>
            <a:off x="6309360" y="274320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微软雅黑" pitchFamily="34" charset="0"/>
                <a:ea typeface="Arial Black" pitchFamily="34" charset="-122"/>
                <a:cs typeface="Arial Black" pitchFamily="34" charset="-120"/>
              </a:rPr>
              <a:t>G</a:t>
            </a:r>
            <a:endParaRPr lang="en-US" sz="2800" dirty="0"/>
          </a:p>
        </p:txBody>
      </p:sp>
      <p:sp>
        <p:nvSpPr>
          <p:cNvPr id="32" name="Shape 30"/>
          <p:cNvSpPr/>
          <p:nvPr/>
        </p:nvSpPr>
        <p:spPr>
          <a:xfrm>
            <a:off x="7132320" y="3474720"/>
            <a:ext cx="640080" cy="640080"/>
          </a:xfrm>
          <a:prstGeom prst="ellipse">
            <a:avLst/>
          </a:prstGeom>
          <a:solidFill>
            <a:srgbClr val="4CAF50"/>
          </a:solidFill>
          <a:ln/>
        </p:spPr>
        <p:txBody>
          <a:bodyPr/>
          <a:p/>
        </p:txBody>
      </p:sp>
      <p:sp>
        <p:nvSpPr>
          <p:cNvPr id="33" name="Text 31"/>
          <p:cNvSpPr/>
          <p:nvPr/>
        </p:nvSpPr>
        <p:spPr>
          <a:xfrm>
            <a:off x="7132320" y="34747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↑</a:t>
            </a:r>
            <a:endParaRPr lang="en-US" sz="2200" dirty="0"/>
          </a:p>
        </p:txBody>
      </p:sp>
      <p:sp>
        <p:nvSpPr>
          <p:cNvPr id="34" name="Text 32"/>
          <p:cNvSpPr/>
          <p:nvPr/>
        </p:nvSpPr>
        <p:spPr>
          <a:xfrm>
            <a:off x="6309360" y="425196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4CAF50"/>
                </a:solidFill>
                <a:latin typeface="微软雅黑" pitchFamily="34" charset="0"/>
                <a:ea typeface="Arial Black" pitchFamily="34" charset="-122"/>
                <a:cs typeface="Arial Black" pitchFamily="34" charset="-120"/>
              </a:rPr>
              <a:t>Growth 成长</a:t>
            </a:r>
            <a:endParaRPr lang="en-US" sz="1500" dirty="0"/>
          </a:p>
        </p:txBody>
      </p:sp>
      <p:sp>
        <p:nvSpPr>
          <p:cNvPr id="35" name="Text 33"/>
          <p:cNvSpPr/>
          <p:nvPr/>
        </p:nvSpPr>
        <p:spPr>
          <a:xfrm>
            <a:off x="6492240" y="4663440"/>
            <a:ext cx="21945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培养自信与抗挫力</a:t>
            </a:r>
            <a:endParaRPr lang="en-US" sz="110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社交能力同步提升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9098280" y="2743200"/>
            <a:ext cx="2560320" cy="3200400"/>
          </a:xfrm>
          <a:prstGeom prst="roundRect">
            <a:avLst>
              <a:gd name="adj" fmla="val 5357"/>
            </a:avLst>
          </a:prstGeom>
          <a:solidFill>
            <a:srgbClr val="1A2A50">
              <a:alpha val="70000"/>
            </a:srgbClr>
          </a:solidFill>
          <a:ln/>
          <a:effectLst>
            <a:outerShdw sx="100000" sy="100000" kx="0" ky="0" algn="bl" rotWithShape="0" blurRad="76200" dist="25400" dir="16200000">
              <a:srgbClr val="000000">
                <a:alpha val="15000"/>
              </a:srgbClr>
            </a:outerShdw>
          </a:effectLst>
        </p:spPr>
        <p:txBody>
          <a:bodyPr/>
          <a:p/>
        </p:txBody>
      </p:sp>
      <p:sp>
        <p:nvSpPr>
          <p:cNvPr id="37" name="Shape 35"/>
          <p:cNvSpPr/>
          <p:nvPr/>
        </p:nvSpPr>
        <p:spPr>
          <a:xfrm>
            <a:off x="9098280" y="2743200"/>
            <a:ext cx="2560320" cy="548640"/>
          </a:xfrm>
          <a:prstGeom prst="roundRect">
            <a:avLst>
              <a:gd name="adj" fmla="val 16667"/>
            </a:avLst>
          </a:prstGeom>
          <a:solidFill>
            <a:srgbClr val="1E2761"/>
          </a:solidFill>
          <a:ln/>
        </p:spPr>
        <p:txBody>
          <a:bodyPr/>
          <a:p/>
        </p:txBody>
      </p:sp>
      <p:sp>
        <p:nvSpPr>
          <p:cNvPr id="38" name="Text 36"/>
          <p:cNvSpPr/>
          <p:nvPr/>
        </p:nvSpPr>
        <p:spPr>
          <a:xfrm>
            <a:off x="9098280" y="274320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微软雅黑" pitchFamily="34" charset="0"/>
                <a:ea typeface="Arial Black" pitchFamily="34" charset="-122"/>
                <a:cs typeface="Arial Black" pitchFamily="34" charset="-120"/>
              </a:rPr>
              <a:t>P</a:t>
            </a:r>
            <a:endParaRPr lang="en-US" sz="2800" dirty="0"/>
          </a:p>
        </p:txBody>
      </p:sp>
      <p:sp>
        <p:nvSpPr>
          <p:cNvPr id="39" name="Shape 37"/>
          <p:cNvSpPr/>
          <p:nvPr/>
        </p:nvSpPr>
        <p:spPr>
          <a:xfrm>
            <a:off x="9921240" y="347472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p/>
        </p:txBody>
      </p:sp>
      <p:sp>
        <p:nvSpPr>
          <p:cNvPr id="40" name="Text 38"/>
          <p:cNvSpPr/>
          <p:nvPr/>
        </p:nvSpPr>
        <p:spPr>
          <a:xfrm>
            <a:off x="9921240" y="34747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★</a:t>
            </a:r>
            <a:endParaRPr lang="en-US" sz="2200" dirty="0"/>
          </a:p>
        </p:txBody>
      </p:sp>
      <p:sp>
        <p:nvSpPr>
          <p:cNvPr id="41" name="Text 39"/>
          <p:cNvSpPr/>
          <p:nvPr/>
        </p:nvSpPr>
        <p:spPr>
          <a:xfrm>
            <a:off x="9098280" y="425196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微软雅黑" pitchFamily="34" charset="0"/>
                <a:ea typeface="Arial Black" pitchFamily="34" charset="-122"/>
                <a:cs typeface="Arial Black" pitchFamily="34" charset="-120"/>
              </a:rPr>
              <a:t>Professional 专业</a:t>
            </a:r>
            <a:endParaRPr lang="en-US" sz="1500" dirty="0"/>
          </a:p>
        </p:txBody>
      </p:sp>
      <p:sp>
        <p:nvSpPr>
          <p:cNvPr id="42" name="Text 40"/>
          <p:cNvSpPr/>
          <p:nvPr/>
        </p:nvSpPr>
        <p:spPr>
          <a:xfrm>
            <a:off x="9281160" y="4663440"/>
            <a:ext cx="21945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持证教练团队</a:t>
            </a:r>
            <a:endParaRPr lang="en-US" sz="110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科学分龄课程体系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0" y="6400800"/>
            <a:ext cx="12188952" cy="457200"/>
          </a:xfrm>
          <a:prstGeom prst="roundRect">
            <a:avLst>
              <a:gd name="adj" fmla="val 20000"/>
            </a:avLst>
          </a:prstGeom>
          <a:solidFill>
            <a:srgbClr val="1E2761"/>
          </a:solidFill>
          <a:ln/>
        </p:spPr>
        <p:txBody>
          <a:bodyPr/>
          <a:p/>
        </p:txBody>
      </p:sp>
      <p:sp>
        <p:nvSpPr>
          <p:cNvPr id="44" name="Text 42"/>
          <p:cNvSpPr/>
          <p:nvPr/>
        </p:nvSpPr>
        <p:spPr>
          <a:xfrm>
            <a:off x="457200" y="640080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追光小牛 · 销售培训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10360152" y="640080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4 / 13</a:t>
            </a:r>
            <a:endParaRPr lang="en-US" sz="900" dirty="0"/>
          </a:p>
        </p:txBody>
      </p:sp>
      <p:sp>
        <p:nvSpPr>
          <p:cNvPr id="46" name="Rectangle 45"/>
          <p:cNvSpPr/>
          <p:nvPr/>
        </p:nvSpPr>
        <p:spPr>
          <a:xfrm>
            <a:off x="0" y="0"/>
            <a:ext cx="12192000" cy="54864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0" y="5829300"/>
            <a:ext cx="12192000" cy="1028700"/>
          </a:xfrm>
          <a:prstGeom prst="rect">
            <a:avLst/>
          </a:prstGeom>
          <a:solidFill>
            <a:srgbClr val="14244D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oundRect">
            <a:avLst>
              <a:gd name="adj" fmla="val 125000"/>
            </a:avLst>
          </a:prstGeom>
          <a:solidFill>
            <a:srgbClr val="FF6B35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731520" y="457200"/>
            <a:ext cx="73152" cy="502920"/>
          </a:xfrm>
          <a:prstGeom prst="roundRect">
            <a:avLst>
              <a:gd name="adj" fmla="val 50000"/>
            </a:avLst>
          </a:prstGeom>
          <a:solidFill>
            <a:srgbClr val="FF6B35"/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96012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微软雅黑" pitchFamily="34" charset="0"/>
                <a:ea typeface="Arial Black" pitchFamily="34" charset="-122"/>
                <a:cs typeface="Arial Black" pitchFamily="34" charset="-120"/>
              </a:rPr>
              <a:t>我们的课程体系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960120" y="822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科学分龄 · 精准匹配每个成长阶段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731520" y="1188720"/>
            <a:ext cx="3474720" cy="731520"/>
          </a:xfrm>
          <a:prstGeom prst="roundRect">
            <a:avLst>
              <a:gd name="adj" fmla="val 12500"/>
            </a:avLst>
          </a:prstGeom>
          <a:solidFill>
            <a:srgbClr val="FF6B3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914400" y="1188720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微软雅黑" pitchFamily="34" charset="0"/>
                <a:ea typeface="Arial Black" pitchFamily="34" charset="-122"/>
                <a:cs typeface="Arial Black" pitchFamily="34" charset="-120"/>
              </a:rPr>
              <a:t>4个年龄段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14400" y="155448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FFFFFF">
                    <a:alpha val="80000"/>
                  </a:srgbClr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3-12岁全覆盖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480560" y="1188720"/>
            <a:ext cx="3474720" cy="731520"/>
          </a:xfrm>
          <a:prstGeom prst="roundRect">
            <a:avLst>
              <a:gd name="adj" fmla="val 12500"/>
            </a:avLst>
          </a:prstGeom>
          <a:solidFill>
            <a:srgbClr val="1E2761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4663440" y="1188720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微软雅黑" pitchFamily="34" charset="0"/>
                <a:ea typeface="Arial Black" pitchFamily="34" charset="-122"/>
                <a:cs typeface="Arial Black" pitchFamily="34" charset="-120"/>
              </a:rPr>
              <a:t>60分钟/课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663440" y="155448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FFFFFF">
                    <a:alpha val="80000"/>
                  </a:srgbClr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科学运动时长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229600" y="1188720"/>
            <a:ext cx="3474720" cy="731520"/>
          </a:xfrm>
          <a:prstGeom prst="roundRect">
            <a:avLst>
              <a:gd name="adj" fmla="val 12500"/>
            </a:avLst>
          </a:prstGeom>
          <a:solidFill>
            <a:srgbClr val="4CAF50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412480" y="1188720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微软雅黑" pitchFamily="34" charset="0"/>
                <a:ea typeface="Arial Black" pitchFamily="34" charset="-122"/>
                <a:cs typeface="Arial Black" pitchFamily="34" charset="-120"/>
              </a:rPr>
              <a:t>1:6师资配比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8412480" y="155448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FFFFFF">
                    <a:alpha val="80000"/>
                  </a:srgbClr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精细化关注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31520" y="2286000"/>
            <a:ext cx="2560320" cy="3474720"/>
          </a:xfrm>
          <a:prstGeom prst="roundRect">
            <a:avLst>
              <a:gd name="adj" fmla="val 5357"/>
            </a:avLst>
          </a:prstGeom>
          <a:solidFill>
            <a:srgbClr val="1A2A50">
              <a:alpha val="70000"/>
            </a:srgbClr>
          </a:solidFill>
          <a:ln/>
          <a:effectLst>
            <a:outerShdw sx="100000" sy="100000" kx="0" ky="0" algn="bl" rotWithShape="0" blurRad="76200" dist="25400" dir="16200000">
              <a:srgbClr val="000000">
                <a:alpha val="15000"/>
              </a:srgbClr>
            </a:outerShdw>
          </a:effectLst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>
            <a:off x="731520" y="2286000"/>
            <a:ext cx="2560320" cy="640080"/>
          </a:xfrm>
          <a:prstGeom prst="roundRect">
            <a:avLst>
              <a:gd name="adj" fmla="val 14286"/>
            </a:avLst>
          </a:prstGeom>
          <a:solidFill>
            <a:srgbClr val="FF9B70"/>
          </a:solidFill>
          <a:ln/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731520" y="228600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微软雅黑" pitchFamily="34" charset="0"/>
                <a:ea typeface="Arial Black" pitchFamily="34" charset="-122"/>
                <a:cs typeface="Arial Black" pitchFamily="34" charset="-120"/>
              </a:rPr>
              <a:t>3-4岁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731520" y="310896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FF9B70"/>
                </a:solidFill>
                <a:latin typeface="微软雅黑" pitchFamily="34" charset="0"/>
                <a:ea typeface="Arial Black" pitchFamily="34" charset="-122"/>
                <a:cs typeface="Arial Black" pitchFamily="34" charset="-120"/>
              </a:rPr>
              <a:t>运动启蒙班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1188720" y="3566160"/>
            <a:ext cx="1645920" cy="36576"/>
          </a:xfrm>
          <a:prstGeom prst="roundRect">
            <a:avLst>
              <a:gd name="adj" fmla="val 250000"/>
            </a:avLst>
          </a:prstGeom>
          <a:solidFill>
            <a:srgbClr val="FF9B70"/>
          </a:solidFill>
          <a:ln/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914400" y="3749040"/>
            <a:ext cx="21945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6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基础动作发展</a:t>
            </a:r>
            <a:endParaRPr lang="en-US" sz="1200" dirty="0"/>
          </a:p>
          <a:p>
            <a:pPr algn="ctr" indent="0" marL="0">
              <a:lnSpc>
                <a:spcPct val="16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平衡感/协调性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731520" y="502920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FF9B70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3520440" y="2286000"/>
            <a:ext cx="2560320" cy="3474720"/>
          </a:xfrm>
          <a:prstGeom prst="roundRect">
            <a:avLst>
              <a:gd name="adj" fmla="val 5357"/>
            </a:avLst>
          </a:prstGeom>
          <a:solidFill>
            <a:srgbClr val="1A2A50">
              <a:alpha val="70000"/>
            </a:srgbClr>
          </a:solidFill>
          <a:ln/>
          <a:effectLst>
            <a:outerShdw sx="100000" sy="100000" kx="0" ky="0" algn="bl" rotWithShape="0" blurRad="76200" dist="25400" dir="16200000">
              <a:srgbClr val="000000">
                <a:alpha val="15000"/>
              </a:srgbClr>
            </a:outerShdw>
          </a:effectLst>
        </p:spPr>
        <p:txBody>
          <a:bodyPr/>
          <a:p/>
        </p:txBody>
      </p:sp>
      <p:sp>
        <p:nvSpPr>
          <p:cNvPr id="23" name="Shape 21"/>
          <p:cNvSpPr/>
          <p:nvPr/>
        </p:nvSpPr>
        <p:spPr>
          <a:xfrm>
            <a:off x="3520440" y="2286000"/>
            <a:ext cx="2560320" cy="640080"/>
          </a:xfrm>
          <a:prstGeom prst="roundRect">
            <a:avLst>
              <a:gd name="adj" fmla="val 14286"/>
            </a:avLst>
          </a:prstGeom>
          <a:solidFill>
            <a:srgbClr val="FF6B3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3520440" y="228600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微软雅黑" pitchFamily="34" charset="0"/>
                <a:ea typeface="Arial Black" pitchFamily="34" charset="-122"/>
                <a:cs typeface="Arial Black" pitchFamily="34" charset="-120"/>
              </a:rPr>
              <a:t>4-6岁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3520440" y="310896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FF6B35"/>
                </a:solidFill>
                <a:latin typeface="微软雅黑" pitchFamily="34" charset="0"/>
                <a:ea typeface="Arial Black" pitchFamily="34" charset="-122"/>
                <a:cs typeface="Arial Black" pitchFamily="34" charset="-120"/>
              </a:rPr>
              <a:t>运动基础班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3977640" y="3566160"/>
            <a:ext cx="1645920" cy="36576"/>
          </a:xfrm>
          <a:prstGeom prst="roundRect">
            <a:avLst>
              <a:gd name="adj" fmla="val 250000"/>
            </a:avLst>
          </a:prstGeom>
          <a:solidFill>
            <a:srgbClr val="FF6B35"/>
          </a:solidFill>
          <a:ln/>
        </p:spPr>
        <p:txBody>
          <a:bodyPr/>
          <a:p/>
        </p:txBody>
      </p:sp>
      <p:sp>
        <p:nvSpPr>
          <p:cNvPr id="27" name="Text 25"/>
          <p:cNvSpPr/>
          <p:nvPr/>
        </p:nvSpPr>
        <p:spPr>
          <a:xfrm>
            <a:off x="3703320" y="3749040"/>
            <a:ext cx="21945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6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运动技能入门</a:t>
            </a:r>
            <a:endParaRPr lang="en-US" sz="1200" dirty="0"/>
          </a:p>
          <a:p>
            <a:pPr algn="ctr" indent="0" marL="0">
              <a:lnSpc>
                <a:spcPct val="16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体能素质培养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3520440" y="502920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FF6B35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6309360" y="2286000"/>
            <a:ext cx="2560320" cy="3474720"/>
          </a:xfrm>
          <a:prstGeom prst="roundRect">
            <a:avLst>
              <a:gd name="adj" fmla="val 5357"/>
            </a:avLst>
          </a:prstGeom>
          <a:solidFill>
            <a:srgbClr val="1A2A50">
              <a:alpha val="70000"/>
            </a:srgbClr>
          </a:solidFill>
          <a:ln/>
          <a:effectLst>
            <a:outerShdw sx="100000" sy="100000" kx="0" ky="0" algn="bl" rotWithShape="0" blurRad="76200" dist="25400" dir="16200000">
              <a:srgbClr val="000000">
                <a:alpha val="15000"/>
              </a:srgbClr>
            </a:outerShdw>
          </a:effectLst>
        </p:spPr>
        <p:txBody>
          <a:bodyPr/>
          <a:p/>
        </p:txBody>
      </p:sp>
      <p:sp>
        <p:nvSpPr>
          <p:cNvPr id="30" name="Shape 28"/>
          <p:cNvSpPr/>
          <p:nvPr/>
        </p:nvSpPr>
        <p:spPr>
          <a:xfrm>
            <a:off x="6309360" y="2286000"/>
            <a:ext cx="2560320" cy="640080"/>
          </a:xfrm>
          <a:prstGeom prst="roundRect">
            <a:avLst>
              <a:gd name="adj" fmla="val 14286"/>
            </a:avLst>
          </a:prstGeom>
          <a:solidFill>
            <a:srgbClr val="E55A25"/>
          </a:solidFill>
          <a:ln/>
        </p:spPr>
        <p:txBody>
          <a:bodyPr/>
          <a:p/>
        </p:txBody>
      </p:sp>
      <p:sp>
        <p:nvSpPr>
          <p:cNvPr id="31" name="Text 29"/>
          <p:cNvSpPr/>
          <p:nvPr/>
        </p:nvSpPr>
        <p:spPr>
          <a:xfrm>
            <a:off x="6309360" y="228600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微软雅黑" pitchFamily="34" charset="0"/>
                <a:ea typeface="Arial Black" pitchFamily="34" charset="-122"/>
                <a:cs typeface="Arial Black" pitchFamily="34" charset="-120"/>
              </a:rPr>
              <a:t>6-8岁</a:t>
            </a:r>
            <a:endParaRPr lang="en-US" sz="2200" dirty="0"/>
          </a:p>
        </p:txBody>
      </p:sp>
      <p:sp>
        <p:nvSpPr>
          <p:cNvPr id="32" name="Text 30"/>
          <p:cNvSpPr/>
          <p:nvPr/>
        </p:nvSpPr>
        <p:spPr>
          <a:xfrm>
            <a:off x="6309360" y="310896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E55A25"/>
                </a:solidFill>
                <a:latin typeface="微软雅黑" pitchFamily="34" charset="0"/>
                <a:ea typeface="Arial Black" pitchFamily="34" charset="-122"/>
                <a:cs typeface="Arial Black" pitchFamily="34" charset="-120"/>
              </a:rPr>
              <a:t>运动提升班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6766560" y="3566160"/>
            <a:ext cx="1645920" cy="36576"/>
          </a:xfrm>
          <a:prstGeom prst="roundRect">
            <a:avLst>
              <a:gd name="adj" fmla="val 250000"/>
            </a:avLst>
          </a:prstGeom>
          <a:solidFill>
            <a:srgbClr val="E55A25"/>
          </a:solidFill>
          <a:ln/>
        </p:spPr>
        <p:txBody>
          <a:bodyPr/>
          <a:p/>
        </p:txBody>
      </p:sp>
      <p:sp>
        <p:nvSpPr>
          <p:cNvPr id="34" name="Text 32"/>
          <p:cNvSpPr/>
          <p:nvPr/>
        </p:nvSpPr>
        <p:spPr>
          <a:xfrm>
            <a:off x="6492240" y="3749040"/>
            <a:ext cx="21945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6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专项运动能力</a:t>
            </a:r>
            <a:endParaRPr lang="en-US" sz="1200" dirty="0"/>
          </a:p>
          <a:p>
            <a:pPr algn="ctr" indent="0" marL="0">
              <a:lnSpc>
                <a:spcPct val="16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团队协作训练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6309360" y="502920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E55A25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9098280" y="2286000"/>
            <a:ext cx="2560320" cy="3474720"/>
          </a:xfrm>
          <a:prstGeom prst="roundRect">
            <a:avLst>
              <a:gd name="adj" fmla="val 5357"/>
            </a:avLst>
          </a:prstGeom>
          <a:solidFill>
            <a:srgbClr val="1A2A50">
              <a:alpha val="70000"/>
            </a:srgbClr>
          </a:solidFill>
          <a:ln/>
          <a:effectLst>
            <a:outerShdw sx="100000" sy="100000" kx="0" ky="0" algn="bl" rotWithShape="0" blurRad="76200" dist="25400" dir="16200000">
              <a:srgbClr val="000000">
                <a:alpha val="15000"/>
              </a:srgbClr>
            </a:outerShdw>
          </a:effectLst>
        </p:spPr>
        <p:txBody>
          <a:bodyPr/>
          <a:p/>
        </p:txBody>
      </p:sp>
      <p:sp>
        <p:nvSpPr>
          <p:cNvPr id="37" name="Shape 35"/>
          <p:cNvSpPr/>
          <p:nvPr/>
        </p:nvSpPr>
        <p:spPr>
          <a:xfrm>
            <a:off x="9098280" y="2286000"/>
            <a:ext cx="2560320" cy="640080"/>
          </a:xfrm>
          <a:prstGeom prst="roundRect">
            <a:avLst>
              <a:gd name="adj" fmla="val 14286"/>
            </a:avLst>
          </a:prstGeom>
          <a:solidFill>
            <a:srgbClr val="1E2761"/>
          </a:solidFill>
          <a:ln/>
        </p:spPr>
        <p:txBody>
          <a:bodyPr/>
          <a:p/>
        </p:txBody>
      </p:sp>
      <p:sp>
        <p:nvSpPr>
          <p:cNvPr id="38" name="Text 36"/>
          <p:cNvSpPr/>
          <p:nvPr/>
        </p:nvSpPr>
        <p:spPr>
          <a:xfrm>
            <a:off x="9098280" y="228600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微软雅黑" pitchFamily="34" charset="0"/>
                <a:ea typeface="Arial Black" pitchFamily="34" charset="-122"/>
                <a:cs typeface="Arial Black" pitchFamily="34" charset="-120"/>
              </a:rPr>
              <a:t>8-12岁</a:t>
            </a:r>
            <a:endParaRPr lang="en-US" sz="2200" dirty="0"/>
          </a:p>
        </p:txBody>
      </p:sp>
      <p:sp>
        <p:nvSpPr>
          <p:cNvPr id="39" name="Text 37"/>
          <p:cNvSpPr/>
          <p:nvPr/>
        </p:nvSpPr>
        <p:spPr>
          <a:xfrm>
            <a:off x="9098280" y="310896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微软雅黑" pitchFamily="34" charset="0"/>
                <a:ea typeface="Arial Black" pitchFamily="34" charset="-122"/>
                <a:cs typeface="Arial Black" pitchFamily="34" charset="-120"/>
              </a:rPr>
              <a:t>运动精英班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9555480" y="3566160"/>
            <a:ext cx="1645920" cy="36576"/>
          </a:xfrm>
          <a:prstGeom prst="roundRect">
            <a:avLst>
              <a:gd name="adj" fmla="val 250000"/>
            </a:avLst>
          </a:prstGeom>
          <a:solidFill>
            <a:srgbClr val="1E2761"/>
          </a:solidFill>
          <a:ln/>
        </p:spPr>
        <p:txBody>
          <a:bodyPr/>
          <a:p/>
        </p:txBody>
      </p:sp>
      <p:sp>
        <p:nvSpPr>
          <p:cNvPr id="41" name="Text 39"/>
          <p:cNvSpPr/>
          <p:nvPr/>
        </p:nvSpPr>
        <p:spPr>
          <a:xfrm>
            <a:off x="9281160" y="3749040"/>
            <a:ext cx="21945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6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竞技能力培养</a:t>
            </a:r>
            <a:endParaRPr lang="en-US" sz="1200" dirty="0"/>
          </a:p>
          <a:p>
            <a:pPr algn="ctr" indent="0" marL="0">
              <a:lnSpc>
                <a:spcPct val="16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体能综合提升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9098280" y="502920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1400" dirty="0"/>
          </a:p>
        </p:txBody>
      </p:sp>
      <p:sp>
        <p:nvSpPr>
          <p:cNvPr id="43" name="Text 41"/>
          <p:cNvSpPr/>
          <p:nvPr/>
        </p:nvSpPr>
        <p:spPr>
          <a:xfrm>
            <a:off x="731520" y="594360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启蒙 → 基础 → 提升 → 精进  ·  完整成长路径</a:t>
            </a:r>
            <a:endParaRPr lang="en-US" sz="1300" dirty="0"/>
          </a:p>
        </p:txBody>
      </p:sp>
      <p:sp>
        <p:nvSpPr>
          <p:cNvPr id="44" name="Shape 42"/>
          <p:cNvSpPr/>
          <p:nvPr/>
        </p:nvSpPr>
        <p:spPr>
          <a:xfrm>
            <a:off x="0" y="6400800"/>
            <a:ext cx="12188952" cy="457200"/>
          </a:xfrm>
          <a:prstGeom prst="roundRect">
            <a:avLst>
              <a:gd name="adj" fmla="val 20000"/>
            </a:avLst>
          </a:prstGeom>
          <a:solidFill>
            <a:srgbClr val="1E2761"/>
          </a:solidFill>
          <a:ln/>
        </p:spPr>
        <p:txBody>
          <a:bodyPr/>
          <a:p/>
        </p:txBody>
      </p:sp>
      <p:sp>
        <p:nvSpPr>
          <p:cNvPr id="45" name="Text 43"/>
          <p:cNvSpPr/>
          <p:nvPr/>
        </p:nvSpPr>
        <p:spPr>
          <a:xfrm>
            <a:off x="457200" y="640080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追光小牛 · 销售培训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10360152" y="640080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5 / 13</a:t>
            </a:r>
            <a:endParaRPr lang="en-US" sz="900" dirty="0"/>
          </a:p>
        </p:txBody>
      </p:sp>
      <p:sp>
        <p:nvSpPr>
          <p:cNvPr id="47" name="Rectangle 46"/>
          <p:cNvSpPr/>
          <p:nvPr/>
        </p:nvSpPr>
        <p:spPr>
          <a:xfrm>
            <a:off x="0" y="0"/>
            <a:ext cx="12192000" cy="54864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Isosceles Triangle 47"/>
          <p:cNvSpPr/>
          <p:nvPr/>
        </p:nvSpPr>
        <p:spPr>
          <a:xfrm>
            <a:off x="10728960" y="0"/>
            <a:ext cx="1463040" cy="548640"/>
          </a:xfrm>
          <a:prstGeom prst="triangle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0" y="5829300"/>
            <a:ext cx="12192000" cy="1028700"/>
          </a:xfrm>
          <a:prstGeom prst="rect">
            <a:avLst/>
          </a:prstGeom>
          <a:solidFill>
            <a:srgbClr val="14244D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oundRect">
            <a:avLst>
              <a:gd name="adj" fmla="val 125000"/>
            </a:avLst>
          </a:prstGeom>
          <a:solidFill>
            <a:srgbClr val="FF6B35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731520" y="457200"/>
            <a:ext cx="73152" cy="502920"/>
          </a:xfrm>
          <a:prstGeom prst="roundRect">
            <a:avLst>
              <a:gd name="adj" fmla="val 50000"/>
            </a:avLst>
          </a:prstGeom>
          <a:solidFill>
            <a:srgbClr val="FF6B35"/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96012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微软雅黑" pitchFamily="34" charset="0"/>
                <a:ea typeface="Arial Black" pitchFamily="34" charset="-122"/>
                <a:cs typeface="Arial Black" pitchFamily="34" charset="-120"/>
              </a:rPr>
              <a:t>课程核心优势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960120" y="822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FAB分析：为什么家长会买单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731520" y="1280160"/>
            <a:ext cx="5486400" cy="4572000"/>
          </a:xfrm>
          <a:prstGeom prst="roundRect">
            <a:avLst>
              <a:gd name="adj" fmla="val 3000"/>
            </a:avLst>
          </a:prstGeom>
          <a:solidFill>
            <a:srgbClr val="1A2A50">
              <a:alpha val="70000"/>
            </a:srgbClr>
          </a:solidFill>
          <a:ln/>
          <a:effectLst>
            <a:outerShdw sx="100000" sy="100000" kx="0" ky="0" algn="bl" rotWithShape="0" blurRad="76200" dist="25400" dir="16200000">
              <a:srgbClr val="000000">
                <a:alpha val="15000"/>
              </a:srgbClr>
            </a:outerShdw>
          </a:effectLst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1005840" y="1463040"/>
            <a:ext cx="1645920" cy="320040"/>
          </a:xfrm>
          <a:prstGeom prst="roundRect">
            <a:avLst>
              <a:gd name="adj" fmla="val 14286"/>
            </a:avLst>
          </a:prstGeom>
          <a:solidFill>
            <a:srgbClr val="FF6B3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146304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Feature 特性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834640" y="146304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固定班级制 + 科学分龄体系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188720" y="192024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每个孩子按年龄和体能水平分班，固定班级、固定教练、固定时间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1005840" y="2560320"/>
            <a:ext cx="1645920" cy="320040"/>
          </a:xfrm>
          <a:prstGeom prst="roundRect">
            <a:avLst>
              <a:gd name="adj" fmla="val 14286"/>
            </a:avLst>
          </a:prstGeom>
          <a:solidFill>
            <a:srgbClr val="1E2761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1005840" y="256032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Advantage 优势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834640" y="256032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孩子进步可量化、成长轨迹清晰可见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188720" y="301752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每季度体能测评报告，家长看得见孩子的每一步成长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1005840" y="3657600"/>
            <a:ext cx="1645920" cy="320040"/>
          </a:xfrm>
          <a:prstGeom prst="roundRect">
            <a:avLst>
              <a:gd name="adj" fmla="val 14286"/>
            </a:avLst>
          </a:prstGeom>
          <a:solidFill>
            <a:srgbClr val="4CAF50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1005840" y="365760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Benefit 利益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2834640" y="365760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家长续费率提升，口碑转介绍自然增长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188720" y="411480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效果可视化让家长主动续费，老带新转化率行业领先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1188720" y="4754880"/>
            <a:ext cx="1371600" cy="457200"/>
          </a:xfrm>
          <a:prstGeom prst="roundRect">
            <a:avLst>
              <a:gd name="adj" fmla="val 16000"/>
            </a:avLst>
          </a:prstGeom>
          <a:solidFill>
            <a:srgbClr val="FF6B35"/>
          </a:solidFill>
          <a:ln/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1188720" y="475488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固定班级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2651760" y="475488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FF6B35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3017520" y="4754880"/>
            <a:ext cx="1371600" cy="457200"/>
          </a:xfrm>
          <a:prstGeom prst="roundRect">
            <a:avLst>
              <a:gd name="adj" fmla="val 16000"/>
            </a:avLst>
          </a:prstGeom>
          <a:solidFill>
            <a:srgbClr val="1E2761"/>
          </a:solidFill>
          <a:ln/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3017520" y="475488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可量化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480560" y="475488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4846320" y="4754880"/>
            <a:ext cx="1188720" cy="457200"/>
          </a:xfrm>
          <a:prstGeom prst="roundRect">
            <a:avLst>
              <a:gd name="adj" fmla="val 16000"/>
            </a:avLst>
          </a:prstGeom>
          <a:solidFill>
            <a:srgbClr val="4CAF50"/>
          </a:solidFill>
          <a:ln/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4846320" y="4754880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续费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583680" y="1280160"/>
            <a:ext cx="4846320" cy="4572000"/>
          </a:xfrm>
          <a:prstGeom prst="roundRect">
            <a:avLst>
              <a:gd name="adj" fmla="val 3000"/>
            </a:avLst>
          </a:prstGeom>
          <a:solidFill>
            <a:srgbClr val="1E2761"/>
          </a:solidFill>
          <a:ln/>
        </p:spPr>
        <p:txBody>
          <a:bodyPr/>
          <a:p/>
        </p:txBody>
      </p:sp>
      <p:sp>
        <p:nvSpPr>
          <p:cNvPr id="28" name="Text 26"/>
          <p:cNvSpPr/>
          <p:nvPr/>
        </p:nvSpPr>
        <p:spPr>
          <a:xfrm>
            <a:off x="6858000" y="1463040"/>
            <a:ext cx="4297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微软雅黑" pitchFamily="34" charset="0"/>
                <a:ea typeface="Arial Black" pitchFamily="34" charset="-122"/>
                <a:cs typeface="Arial Black" pitchFamily="34" charset="-120"/>
              </a:rPr>
              <a:t>核心数据</a:t>
            </a:r>
            <a:endParaRPr lang="en-US" sz="1800" dirty="0"/>
          </a:p>
        </p:txBody>
      </p:sp>
      <p:sp>
        <p:nvSpPr>
          <p:cNvPr id="29" name="Shape 27"/>
          <p:cNvSpPr/>
          <p:nvPr/>
        </p:nvSpPr>
        <p:spPr>
          <a:xfrm>
            <a:off x="6858000" y="2103120"/>
            <a:ext cx="4297680" cy="731520"/>
          </a:xfrm>
          <a:prstGeom prst="roundRect">
            <a:avLst>
              <a:gd name="adj" fmla="val 10000"/>
            </a:avLst>
          </a:prstGeom>
          <a:solidFill>
            <a:srgbClr val="1A2A50">
              <a:alpha val="70000"/>
            </a:srgbClr>
          </a:solidFill>
          <a:ln/>
        </p:spPr>
        <p:txBody>
          <a:bodyPr/>
          <a:p/>
        </p:txBody>
      </p:sp>
      <p:sp>
        <p:nvSpPr>
          <p:cNvPr id="30" name="Text 28"/>
          <p:cNvSpPr/>
          <p:nvPr/>
        </p:nvSpPr>
        <p:spPr>
          <a:xfrm>
            <a:off x="7040880" y="2103120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FF6B35"/>
                </a:solidFill>
                <a:latin typeface="微软雅黑" pitchFamily="34" charset="0"/>
                <a:ea typeface="Arial Black" pitchFamily="34" charset="-122"/>
                <a:cs typeface="Arial Black" pitchFamily="34" charset="-120"/>
              </a:rPr>
              <a:t>续费率目标</a:t>
            </a:r>
            <a:endParaRPr lang="en-US" sz="2800" dirty="0"/>
          </a:p>
        </p:txBody>
      </p:sp>
      <p:sp>
        <p:nvSpPr>
          <p:cNvPr id="31" name="Text 29"/>
          <p:cNvSpPr/>
          <p:nvPr/>
        </p:nvSpPr>
        <p:spPr>
          <a:xfrm>
            <a:off x="8961120" y="210312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≥50%（优秀）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6858000" y="3017520"/>
            <a:ext cx="4297680" cy="731520"/>
          </a:xfrm>
          <a:prstGeom prst="roundRect">
            <a:avLst>
              <a:gd name="adj" fmla="val 10000"/>
            </a:avLst>
          </a:prstGeom>
          <a:solidFill>
            <a:srgbClr val="1A2A50">
              <a:alpha val="70000"/>
            </a:srgbClr>
          </a:solidFill>
          <a:ln/>
        </p:spPr>
        <p:txBody>
          <a:bodyPr/>
          <a:p/>
        </p:txBody>
      </p:sp>
      <p:sp>
        <p:nvSpPr>
          <p:cNvPr id="33" name="Text 31"/>
          <p:cNvSpPr/>
          <p:nvPr/>
        </p:nvSpPr>
        <p:spPr>
          <a:xfrm>
            <a:off x="7040880" y="3017520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FF6B35"/>
                </a:solidFill>
                <a:latin typeface="微软雅黑" pitchFamily="34" charset="0"/>
                <a:ea typeface="Arial Black" pitchFamily="34" charset="-122"/>
                <a:cs typeface="Arial Black" pitchFamily="34" charset="-120"/>
              </a:rPr>
              <a:t>85%</a:t>
            </a:r>
            <a:endParaRPr lang="en-US" sz="2800" dirty="0"/>
          </a:p>
        </p:txBody>
      </p:sp>
      <p:sp>
        <p:nvSpPr>
          <p:cNvPr id="34" name="Text 32"/>
          <p:cNvSpPr/>
          <p:nvPr/>
        </p:nvSpPr>
        <p:spPr>
          <a:xfrm>
            <a:off x="8961120" y="301752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家长满意度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6858000" y="3931920"/>
            <a:ext cx="4297680" cy="731520"/>
          </a:xfrm>
          <a:prstGeom prst="roundRect">
            <a:avLst>
              <a:gd name="adj" fmla="val 10000"/>
            </a:avLst>
          </a:prstGeom>
          <a:solidFill>
            <a:srgbClr val="1A2A50">
              <a:alpha val="70000"/>
            </a:srgbClr>
          </a:solidFill>
          <a:ln/>
        </p:spPr>
        <p:txBody>
          <a:bodyPr/>
          <a:p/>
        </p:txBody>
      </p:sp>
      <p:sp>
        <p:nvSpPr>
          <p:cNvPr id="36" name="Text 34"/>
          <p:cNvSpPr/>
          <p:nvPr/>
        </p:nvSpPr>
        <p:spPr>
          <a:xfrm>
            <a:off x="7040880" y="3931920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FF6B35"/>
                </a:solidFill>
                <a:latin typeface="微软雅黑" pitchFamily="34" charset="0"/>
                <a:ea typeface="Arial Black" pitchFamily="34" charset="-122"/>
                <a:cs typeface="Arial Black" pitchFamily="34" charset="-120"/>
              </a:rPr>
              <a:t>转介绍成交占比</a:t>
            </a:r>
            <a:endParaRPr lang="en-US" sz="2800" dirty="0"/>
          </a:p>
        </p:txBody>
      </p:sp>
      <p:sp>
        <p:nvSpPr>
          <p:cNvPr id="37" name="Text 35"/>
          <p:cNvSpPr/>
          <p:nvPr/>
        </p:nvSpPr>
        <p:spPr>
          <a:xfrm>
            <a:off x="8961120" y="393192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≥15%</a:t>
            </a:r>
            <a:endParaRPr lang="en-US" sz="1400" dirty="0"/>
          </a:p>
        </p:txBody>
      </p:sp>
      <p:sp>
        <p:nvSpPr>
          <p:cNvPr id="38" name="Shape 36"/>
          <p:cNvSpPr/>
          <p:nvPr/>
        </p:nvSpPr>
        <p:spPr>
          <a:xfrm>
            <a:off x="6858000" y="4846320"/>
            <a:ext cx="4297680" cy="731520"/>
          </a:xfrm>
          <a:prstGeom prst="roundRect">
            <a:avLst>
              <a:gd name="adj" fmla="val 10000"/>
            </a:avLst>
          </a:prstGeom>
          <a:solidFill>
            <a:srgbClr val="1A2A50">
              <a:alpha val="70000"/>
            </a:srgbClr>
          </a:solidFill>
          <a:ln/>
        </p:spPr>
        <p:txBody>
          <a:bodyPr/>
          <a:p/>
        </p:txBody>
      </p:sp>
      <p:sp>
        <p:nvSpPr>
          <p:cNvPr id="39" name="Text 37"/>
          <p:cNvSpPr/>
          <p:nvPr/>
        </p:nvSpPr>
        <p:spPr>
          <a:xfrm>
            <a:off x="7040880" y="4846320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FF6B35"/>
                </a:solidFill>
                <a:latin typeface="微软雅黑" pitchFamily="34" charset="0"/>
                <a:ea typeface="Arial Black" pitchFamily="34" charset="-122"/>
                <a:cs typeface="Arial Black" pitchFamily="34" charset="-120"/>
              </a:rPr>
              <a:t>3.2次</a:t>
            </a:r>
            <a:endParaRPr lang="en-US" sz="2800" dirty="0"/>
          </a:p>
        </p:txBody>
      </p:sp>
      <p:sp>
        <p:nvSpPr>
          <p:cNvPr id="40" name="Text 38"/>
          <p:cNvSpPr/>
          <p:nvPr/>
        </p:nvSpPr>
        <p:spPr>
          <a:xfrm>
            <a:off x="8961120" y="484632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平均每周到课</a:t>
            </a:r>
            <a:endParaRPr lang="en-US" sz="1400" dirty="0"/>
          </a:p>
        </p:txBody>
      </p:sp>
      <p:sp>
        <p:nvSpPr>
          <p:cNvPr id="41" name="Shape 39"/>
          <p:cNvSpPr/>
          <p:nvPr/>
        </p:nvSpPr>
        <p:spPr>
          <a:xfrm>
            <a:off x="0" y="6400800"/>
            <a:ext cx="12188952" cy="457200"/>
          </a:xfrm>
          <a:prstGeom prst="roundRect">
            <a:avLst>
              <a:gd name="adj" fmla="val 20000"/>
            </a:avLst>
          </a:prstGeom>
          <a:solidFill>
            <a:srgbClr val="1E2761"/>
          </a:solidFill>
          <a:ln/>
        </p:spPr>
        <p:txBody>
          <a:bodyPr/>
          <a:p/>
        </p:txBody>
      </p:sp>
      <p:sp>
        <p:nvSpPr>
          <p:cNvPr id="42" name="Text 40"/>
          <p:cNvSpPr/>
          <p:nvPr/>
        </p:nvSpPr>
        <p:spPr>
          <a:xfrm>
            <a:off x="457200" y="640080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追光小牛 · 销售培训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10360152" y="640080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6 / 13</a:t>
            </a:r>
            <a:endParaRPr lang="en-US" sz="900" dirty="0"/>
          </a:p>
        </p:txBody>
      </p:sp>
      <p:sp>
        <p:nvSpPr>
          <p:cNvPr id="44" name="Rectangle 43"/>
          <p:cNvSpPr/>
          <p:nvPr/>
        </p:nvSpPr>
        <p:spPr>
          <a:xfrm>
            <a:off x="0" y="0"/>
            <a:ext cx="12192000" cy="54864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 rot="20700000">
            <a:off x="243840" y="1028700"/>
            <a:ext cx="975360" cy="19050"/>
          </a:xfrm>
          <a:prstGeom prst="rect">
            <a:avLst/>
          </a:prstGeom>
          <a:solidFill>
            <a:srgbClr val="00E676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 rot="20700000">
            <a:off x="609600" y="1577339"/>
            <a:ext cx="1219200" cy="25400"/>
          </a:xfrm>
          <a:prstGeom prst="rect">
            <a:avLst/>
          </a:prstGeom>
          <a:solidFill>
            <a:srgbClr val="00E676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0" y="5829300"/>
            <a:ext cx="12192000" cy="1028700"/>
          </a:xfrm>
          <a:prstGeom prst="rect">
            <a:avLst/>
          </a:prstGeom>
          <a:solidFill>
            <a:srgbClr val="14244D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oundRect">
            <a:avLst>
              <a:gd name="adj" fmla="val 125000"/>
            </a:avLst>
          </a:prstGeom>
          <a:solidFill>
            <a:srgbClr val="FF6B35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731520" y="457200"/>
            <a:ext cx="73152" cy="502920"/>
          </a:xfrm>
          <a:prstGeom prst="roundRect">
            <a:avLst>
              <a:gd name="adj" fmla="val 50000"/>
            </a:avLst>
          </a:prstGeom>
          <a:solidFill>
            <a:srgbClr val="FF6B35"/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96012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微软雅黑" pitchFamily="34" charset="0"/>
                <a:ea typeface="Arial Black" pitchFamily="34" charset="-122"/>
                <a:cs typeface="Arial Black" pitchFamily="34" charset="-120"/>
              </a:rPr>
              <a:t>与传统体培的区别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960120" y="822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看得见的差异化优势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731520" y="1280160"/>
            <a:ext cx="2560320" cy="548640"/>
          </a:xfrm>
          <a:prstGeom prst="roundRect">
            <a:avLst>
              <a:gd name="adj" fmla="val 16667"/>
            </a:avLst>
          </a:prstGeom>
          <a:solidFill>
            <a:srgbClr val="666666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128016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微软雅黑" pitchFamily="34" charset="0"/>
                <a:ea typeface="Arial Black" pitchFamily="34" charset="-122"/>
                <a:cs typeface="Arial Black" pitchFamily="34" charset="-120"/>
              </a:rPr>
              <a:t>对比维度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474720" y="1280160"/>
            <a:ext cx="3840480" cy="548640"/>
          </a:xfrm>
          <a:prstGeom prst="roundRect">
            <a:avLst>
              <a:gd name="adj" fmla="val 16667"/>
            </a:avLst>
          </a:prstGeom>
          <a:solidFill>
            <a:srgbClr val="1E2761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3474720" y="1280160"/>
            <a:ext cx="3840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微软雅黑" pitchFamily="34" charset="0"/>
                <a:ea typeface="Arial Black" pitchFamily="34" charset="-122"/>
                <a:cs typeface="Arial Black" pitchFamily="34" charset="-120"/>
              </a:rPr>
              <a:t>追光小牛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7498080" y="1280160"/>
            <a:ext cx="4114800" cy="548640"/>
          </a:xfrm>
          <a:prstGeom prst="roundRect">
            <a:avLst>
              <a:gd name="adj" fmla="val 16667"/>
            </a:avLst>
          </a:prstGeom>
          <a:solidFill>
            <a:srgbClr val="666666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7498080" y="1280160"/>
            <a:ext cx="4114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微软雅黑" pitchFamily="34" charset="0"/>
                <a:ea typeface="Arial Black" pitchFamily="34" charset="-122"/>
                <a:cs typeface="Arial Black" pitchFamily="34" charset="-120"/>
              </a:rPr>
              <a:t>传统体培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731520" y="1920240"/>
            <a:ext cx="2560320" cy="822960"/>
          </a:xfrm>
          <a:prstGeom prst="roundRect">
            <a:avLst>
              <a:gd name="adj" fmla="val 11111"/>
            </a:avLst>
          </a:prstGeom>
          <a:solidFill>
            <a:srgbClr val="FF6B3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731520" y="1920240"/>
            <a:ext cx="2560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微软雅黑" pitchFamily="34" charset="0"/>
                <a:ea typeface="Arial Black" pitchFamily="34" charset="-122"/>
                <a:cs typeface="Arial Black" pitchFamily="34" charset="-120"/>
              </a:rPr>
              <a:t>教学理念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3474720" y="1920240"/>
            <a:ext cx="3840480" cy="822960"/>
          </a:xfrm>
          <a:prstGeom prst="roundRect">
            <a:avLst>
              <a:gd name="adj" fmla="val 11111"/>
            </a:avLst>
          </a:prstGeom>
          <a:solidFill>
            <a:srgbClr val="1A2A50">
              <a:alpha val="70000"/>
            </a:srgbClr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3657600" y="1920240"/>
            <a:ext cx="3474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HLGP全面发展</a:t>
            </a:r>
            <a:endParaRPr lang="en-US" sz="12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游戏化+科学训练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498080" y="1920240"/>
            <a:ext cx="4114800" cy="822960"/>
          </a:xfrm>
          <a:prstGeom prst="roundRect">
            <a:avLst>
              <a:gd name="adj" fmla="val 11111"/>
            </a:avLst>
          </a:prstGeom>
          <a:solidFill>
            <a:srgbClr val="1A2A50">
              <a:alpha val="70000"/>
            </a:srgbClr>
          </a:solidFill>
          <a:ln/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7680960" y="1920240"/>
            <a:ext cx="3749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单一体能训练</a:t>
            </a:r>
            <a:endParaRPr lang="en-US" sz="12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枯燥重复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731520" y="2834640"/>
            <a:ext cx="2560320" cy="822960"/>
          </a:xfrm>
          <a:prstGeom prst="roundRect">
            <a:avLst>
              <a:gd name="adj" fmla="val 11111"/>
            </a:avLst>
          </a:prstGeom>
          <a:solidFill>
            <a:srgbClr val="FF6B35"/>
          </a:solidFill>
          <a:ln/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731520" y="2834640"/>
            <a:ext cx="2560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微软雅黑" pitchFamily="34" charset="0"/>
                <a:ea typeface="Arial Black" pitchFamily="34" charset="-122"/>
                <a:cs typeface="Arial Black" pitchFamily="34" charset="-120"/>
              </a:rPr>
              <a:t>师资团队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3474720" y="2834640"/>
            <a:ext cx="3840480" cy="822960"/>
          </a:xfrm>
          <a:prstGeom prst="roundRect">
            <a:avLst>
              <a:gd name="adj" fmla="val 11111"/>
            </a:avLst>
          </a:prstGeom>
          <a:solidFill>
            <a:srgbClr val="0D1B3E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3657600" y="2834640"/>
            <a:ext cx="3474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持证专业教练</a:t>
            </a:r>
            <a:endParaRPr lang="en-US" sz="12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定期培训考核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7498080" y="2834640"/>
            <a:ext cx="4114800" cy="822960"/>
          </a:xfrm>
          <a:prstGeom prst="roundRect">
            <a:avLst>
              <a:gd name="adj" fmla="val 11111"/>
            </a:avLst>
          </a:prstGeom>
          <a:solidFill>
            <a:srgbClr val="0D1B3E"/>
          </a:solidFill>
          <a:ln/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7680960" y="2834640"/>
            <a:ext cx="3749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兼职为主</a:t>
            </a:r>
            <a:endParaRPr lang="en-US" sz="12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水平参差不齐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731520" y="3749040"/>
            <a:ext cx="2560320" cy="822960"/>
          </a:xfrm>
          <a:prstGeom prst="roundRect">
            <a:avLst>
              <a:gd name="adj" fmla="val 11111"/>
            </a:avLst>
          </a:prstGeom>
          <a:solidFill>
            <a:srgbClr val="FF6B35"/>
          </a:solidFill>
          <a:ln/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731520" y="3749040"/>
            <a:ext cx="2560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微软雅黑" pitchFamily="34" charset="0"/>
                <a:ea typeface="Arial Black" pitchFamily="34" charset="-122"/>
                <a:cs typeface="Arial Black" pitchFamily="34" charset="-120"/>
              </a:rPr>
              <a:t>班级制度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3474720" y="3749040"/>
            <a:ext cx="3840480" cy="822960"/>
          </a:xfrm>
          <a:prstGeom prst="roundRect">
            <a:avLst>
              <a:gd name="adj" fmla="val 11111"/>
            </a:avLst>
          </a:prstGeom>
          <a:solidFill>
            <a:srgbClr val="1A2A50">
              <a:alpha val="70000"/>
            </a:srgbClr>
          </a:solidFill>
          <a:ln/>
        </p:spPr>
        <p:txBody>
          <a:bodyPr/>
          <a:p/>
        </p:txBody>
      </p:sp>
      <p:sp>
        <p:nvSpPr>
          <p:cNvPr id="27" name="Text 25"/>
          <p:cNvSpPr/>
          <p:nvPr/>
        </p:nvSpPr>
        <p:spPr>
          <a:xfrm>
            <a:off x="3657600" y="3749040"/>
            <a:ext cx="3474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固定班级制</a:t>
            </a:r>
            <a:endParaRPr lang="en-US" sz="12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1:6精细配比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7498080" y="3749040"/>
            <a:ext cx="4114800" cy="822960"/>
          </a:xfrm>
          <a:prstGeom prst="roundRect">
            <a:avLst>
              <a:gd name="adj" fmla="val 11111"/>
            </a:avLst>
          </a:prstGeom>
          <a:solidFill>
            <a:srgbClr val="1A2A50">
              <a:alpha val="70000"/>
            </a:srgbClr>
          </a:solidFill>
          <a:ln/>
        </p:spPr>
        <p:txBody>
          <a:bodyPr/>
          <a:p/>
        </p:txBody>
      </p:sp>
      <p:sp>
        <p:nvSpPr>
          <p:cNvPr id="29" name="Text 27"/>
          <p:cNvSpPr/>
          <p:nvPr/>
        </p:nvSpPr>
        <p:spPr>
          <a:xfrm>
            <a:off x="7680960" y="3749040"/>
            <a:ext cx="3749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随到随练</a:t>
            </a:r>
            <a:endParaRPr lang="en-US" sz="12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大班混龄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731520" y="4663440"/>
            <a:ext cx="2560320" cy="822960"/>
          </a:xfrm>
          <a:prstGeom prst="roundRect">
            <a:avLst>
              <a:gd name="adj" fmla="val 11111"/>
            </a:avLst>
          </a:prstGeom>
          <a:solidFill>
            <a:srgbClr val="FF6B35"/>
          </a:solidFill>
          <a:ln/>
        </p:spPr>
        <p:txBody>
          <a:bodyPr/>
          <a:p/>
        </p:txBody>
      </p:sp>
      <p:sp>
        <p:nvSpPr>
          <p:cNvPr id="31" name="Text 29"/>
          <p:cNvSpPr/>
          <p:nvPr/>
        </p:nvSpPr>
        <p:spPr>
          <a:xfrm>
            <a:off x="731520" y="4663440"/>
            <a:ext cx="2560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微软雅黑" pitchFamily="34" charset="0"/>
                <a:ea typeface="Arial Black" pitchFamily="34" charset="-122"/>
                <a:cs typeface="Arial Black" pitchFamily="34" charset="-120"/>
              </a:rPr>
              <a:t>成果展示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3474720" y="4663440"/>
            <a:ext cx="3840480" cy="822960"/>
          </a:xfrm>
          <a:prstGeom prst="roundRect">
            <a:avLst>
              <a:gd name="adj" fmla="val 11111"/>
            </a:avLst>
          </a:prstGeom>
          <a:solidFill>
            <a:srgbClr val="0D1B3E"/>
          </a:solidFill>
          <a:ln/>
        </p:spPr>
        <p:txBody>
          <a:bodyPr/>
          <a:p/>
        </p:txBody>
      </p:sp>
      <p:sp>
        <p:nvSpPr>
          <p:cNvPr id="33" name="Text 31"/>
          <p:cNvSpPr/>
          <p:nvPr/>
        </p:nvSpPr>
        <p:spPr>
          <a:xfrm>
            <a:off x="3657600" y="4663440"/>
            <a:ext cx="3474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季度测评报告</a:t>
            </a:r>
            <a:endParaRPr lang="en-US" sz="12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成长档案可视化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7498080" y="4663440"/>
            <a:ext cx="4114800" cy="822960"/>
          </a:xfrm>
          <a:prstGeom prst="roundRect">
            <a:avLst>
              <a:gd name="adj" fmla="val 11111"/>
            </a:avLst>
          </a:prstGeom>
          <a:solidFill>
            <a:srgbClr val="0D1B3E"/>
          </a:solidFill>
          <a:ln/>
        </p:spPr>
        <p:txBody>
          <a:bodyPr/>
          <a:p/>
        </p:txBody>
      </p:sp>
      <p:sp>
        <p:nvSpPr>
          <p:cNvPr id="35" name="Text 33"/>
          <p:cNvSpPr/>
          <p:nvPr/>
        </p:nvSpPr>
        <p:spPr>
          <a:xfrm>
            <a:off x="7680960" y="4663440"/>
            <a:ext cx="3749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无系统反馈</a:t>
            </a:r>
            <a:endParaRPr lang="en-US" sz="12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家长感知弱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731520" y="5577840"/>
            <a:ext cx="2560320" cy="822960"/>
          </a:xfrm>
          <a:prstGeom prst="roundRect">
            <a:avLst>
              <a:gd name="adj" fmla="val 11111"/>
            </a:avLst>
          </a:prstGeom>
          <a:solidFill>
            <a:srgbClr val="FF6B35"/>
          </a:solidFill>
          <a:ln/>
        </p:spPr>
        <p:txBody>
          <a:bodyPr/>
          <a:p/>
        </p:txBody>
      </p:sp>
      <p:sp>
        <p:nvSpPr>
          <p:cNvPr id="37" name="Text 35"/>
          <p:cNvSpPr/>
          <p:nvPr/>
        </p:nvSpPr>
        <p:spPr>
          <a:xfrm>
            <a:off x="731520" y="5577840"/>
            <a:ext cx="2560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微软雅黑" pitchFamily="34" charset="0"/>
                <a:ea typeface="Arial Black" pitchFamily="34" charset="-122"/>
                <a:cs typeface="Arial Black" pitchFamily="34" charset="-120"/>
              </a:rPr>
              <a:t>课程设计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3474720" y="5577840"/>
            <a:ext cx="3840480" cy="822960"/>
          </a:xfrm>
          <a:prstGeom prst="roundRect">
            <a:avLst>
              <a:gd name="adj" fmla="val 11111"/>
            </a:avLst>
          </a:prstGeom>
          <a:solidFill>
            <a:srgbClr val="1A2A50">
              <a:alpha val="70000"/>
            </a:srgbClr>
          </a:solidFill>
          <a:ln/>
        </p:spPr>
        <p:txBody>
          <a:bodyPr/>
          <a:p/>
        </p:txBody>
      </p:sp>
      <p:sp>
        <p:nvSpPr>
          <p:cNvPr id="39" name="Text 37"/>
          <p:cNvSpPr/>
          <p:nvPr/>
        </p:nvSpPr>
        <p:spPr>
          <a:xfrm>
            <a:off x="3657600" y="5577840"/>
            <a:ext cx="3474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科学分龄体系</a:t>
            </a:r>
            <a:endParaRPr lang="en-US" sz="12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60分钟标准课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7498080" y="5577840"/>
            <a:ext cx="4114800" cy="822960"/>
          </a:xfrm>
          <a:prstGeom prst="roundRect">
            <a:avLst>
              <a:gd name="adj" fmla="val 11111"/>
            </a:avLst>
          </a:prstGeom>
          <a:solidFill>
            <a:srgbClr val="1A2A50">
              <a:alpha val="70000"/>
            </a:srgbClr>
          </a:solidFill>
          <a:ln/>
        </p:spPr>
        <p:txBody>
          <a:bodyPr/>
          <a:p/>
        </p:txBody>
      </p:sp>
      <p:sp>
        <p:nvSpPr>
          <p:cNvPr id="41" name="Text 39"/>
          <p:cNvSpPr/>
          <p:nvPr/>
        </p:nvSpPr>
        <p:spPr>
          <a:xfrm>
            <a:off x="7680960" y="5577840"/>
            <a:ext cx="3749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无标准化</a:t>
            </a:r>
            <a:endParaRPr lang="en-US" sz="12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内容随意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0" y="6400800"/>
            <a:ext cx="12188952" cy="457200"/>
          </a:xfrm>
          <a:prstGeom prst="roundRect">
            <a:avLst>
              <a:gd name="adj" fmla="val 20000"/>
            </a:avLst>
          </a:prstGeom>
          <a:solidFill>
            <a:srgbClr val="1E2761"/>
          </a:solidFill>
          <a:ln/>
        </p:spPr>
        <p:txBody>
          <a:bodyPr/>
          <a:p/>
        </p:txBody>
      </p:sp>
      <p:sp>
        <p:nvSpPr>
          <p:cNvPr id="43" name="Text 41"/>
          <p:cNvSpPr/>
          <p:nvPr/>
        </p:nvSpPr>
        <p:spPr>
          <a:xfrm>
            <a:off x="457200" y="640080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追光小牛 · 销售培训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10360152" y="640080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7 / 13</a:t>
            </a:r>
            <a:endParaRPr lang="en-US" sz="900" dirty="0"/>
          </a:p>
        </p:txBody>
      </p:sp>
      <p:sp>
        <p:nvSpPr>
          <p:cNvPr id="45" name="Rectangle 44"/>
          <p:cNvSpPr/>
          <p:nvPr/>
        </p:nvSpPr>
        <p:spPr>
          <a:xfrm rot="20700000">
            <a:off x="243840" y="1028700"/>
            <a:ext cx="975360" cy="19050"/>
          </a:xfrm>
          <a:prstGeom prst="rect">
            <a:avLst/>
          </a:prstGeom>
          <a:solidFill>
            <a:srgbClr val="00E676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 rot="20700000">
            <a:off x="609600" y="1577339"/>
            <a:ext cx="1219200" cy="25400"/>
          </a:xfrm>
          <a:prstGeom prst="rect">
            <a:avLst/>
          </a:prstGeom>
          <a:solidFill>
            <a:srgbClr val="00E676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 rot="20700000">
            <a:off x="975360" y="2125980"/>
            <a:ext cx="1463040" cy="31750"/>
          </a:xfrm>
          <a:prstGeom prst="rect">
            <a:avLst/>
          </a:prstGeom>
          <a:solidFill>
            <a:srgbClr val="00E676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 rot="20700000">
            <a:off x="1341120" y="2674620"/>
            <a:ext cx="1706880" cy="38100"/>
          </a:xfrm>
          <a:prstGeom prst="rect">
            <a:avLst/>
          </a:prstGeom>
          <a:solidFill>
            <a:srgbClr val="00E676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Isosceles Triangle 48"/>
          <p:cNvSpPr/>
          <p:nvPr/>
        </p:nvSpPr>
        <p:spPr>
          <a:xfrm>
            <a:off x="10728960" y="0"/>
            <a:ext cx="1463040" cy="548640"/>
          </a:xfrm>
          <a:prstGeom prst="triangle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Isosceles Triangle 49"/>
          <p:cNvSpPr/>
          <p:nvPr/>
        </p:nvSpPr>
        <p:spPr>
          <a:xfrm rot="10800000">
            <a:off x="0" y="6309360"/>
            <a:ext cx="975360" cy="548640"/>
          </a:xfrm>
          <a:prstGeom prst="triangle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Arc 50"/>
          <p:cNvSpPr/>
          <p:nvPr/>
        </p:nvSpPr>
        <p:spPr>
          <a:xfrm>
            <a:off x="9997440" y="685800"/>
            <a:ext cx="2438400" cy="2057400"/>
          </a:xfrm>
          <a:prstGeom prst="arc">
            <a:avLst/>
          </a:prstGeom>
          <a:noFill/>
          <a:ln w="25400">
            <a:solidFill>
              <a:srgbClr val="FF6B35">
                <a:alpha val="25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0" y="6652260"/>
            <a:ext cx="12192000" cy="20574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oundRect">
            <a:avLst>
              <a:gd name="adj" fmla="val 125000"/>
            </a:avLst>
          </a:prstGeom>
          <a:solidFill>
            <a:srgbClr val="FF6B35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731520" y="457200"/>
            <a:ext cx="73152" cy="502920"/>
          </a:xfrm>
          <a:prstGeom prst="roundRect">
            <a:avLst>
              <a:gd name="adj" fmla="val 50000"/>
            </a:avLst>
          </a:prstGeom>
          <a:solidFill>
            <a:srgbClr val="FF6B35"/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96012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微软雅黑" pitchFamily="34" charset="0"/>
                <a:ea typeface="Arial Black" pitchFamily="34" charset="-122"/>
                <a:cs typeface="Arial Black" pitchFamily="34" charset="-120"/>
              </a:rPr>
              <a:t>家长为什么选择我们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960120" y="822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5大选择理由 · FAB深度解析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731520" y="1280160"/>
            <a:ext cx="10515600" cy="868680"/>
          </a:xfrm>
          <a:prstGeom prst="roundRect">
            <a:avLst>
              <a:gd name="adj" fmla="val 10526"/>
            </a:avLst>
          </a:prstGeom>
          <a:solidFill>
            <a:srgbClr val="1A2A50">
              <a:alpha val="70000"/>
            </a:srgbClr>
          </a:solidFill>
          <a:ln/>
          <a:effectLst>
            <a:outerShdw sx="100000" sy="100000" kx="0" ky="0" algn="bl" rotWithShape="0" blurRad="76200" dist="25400" dir="16200000">
              <a:srgbClr val="000000">
                <a:alpha val="15000"/>
              </a:srgbClr>
            </a:outerShdw>
          </a:effectLst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914400" y="1389888"/>
            <a:ext cx="640080" cy="640080"/>
          </a:xfrm>
          <a:prstGeom prst="ellipse">
            <a:avLst/>
          </a:prstGeom>
          <a:solidFill>
            <a:srgbClr val="FF6B35"/>
          </a:solidFill>
          <a:ln/>
          <a:effectLst>
            <a:outerShdw sx="100000" sy="100000" kx="0" ky="0" algn="bl" rotWithShape="0" blurRad="50800" dist="12700" dir="162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914400" y="1389888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828800" y="132588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FF6B35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F: 科学分龄课程体系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754880" y="132588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A: 精准匹配孩子发育阶段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863840" y="132588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4CAF50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B: 家长觉得'专业靠谱'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828800" y="173736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特性 → 优势 → 利益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731520" y="2286000"/>
            <a:ext cx="10515600" cy="868680"/>
          </a:xfrm>
          <a:prstGeom prst="roundRect">
            <a:avLst>
              <a:gd name="adj" fmla="val 10526"/>
            </a:avLst>
          </a:prstGeom>
          <a:solidFill>
            <a:srgbClr val="1A2A50">
              <a:alpha val="70000"/>
            </a:srgbClr>
          </a:solidFill>
          <a:ln/>
          <a:effectLst>
            <a:outerShdw sx="100000" sy="100000" kx="0" ky="0" algn="bl" rotWithShape="0" blurRad="76200" dist="25400" dir="16200000">
              <a:srgbClr val="000000">
                <a:alpha val="15000"/>
              </a:srgbClr>
            </a:outerShdw>
          </a:effectLst>
        </p:spPr>
        <p:txBody>
          <a:bodyPr/>
          <a:p/>
        </p:txBody>
      </p:sp>
      <p:sp>
        <p:nvSpPr>
          <p:cNvPr id="14" name="Shape 12"/>
          <p:cNvSpPr/>
          <p:nvPr/>
        </p:nvSpPr>
        <p:spPr>
          <a:xfrm>
            <a:off x="914400" y="2395728"/>
            <a:ext cx="640080" cy="640080"/>
          </a:xfrm>
          <a:prstGeom prst="ellipse">
            <a:avLst/>
          </a:prstGeom>
          <a:solidFill>
            <a:srgbClr val="E55A25"/>
          </a:solidFill>
          <a:ln/>
          <a:effectLst>
            <a:outerShdw sx="100000" sy="100000" kx="0" ky="0" algn="bl" rotWithShape="0" blurRad="50800" dist="12700" dir="162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914400" y="2395728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1828800" y="233172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FF6B35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F: 固定班级+固定教练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754880" y="233172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A: 师生关系稳定，关注度高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863840" y="233172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4CAF50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B: 孩子喜欢来，家长放心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828800" y="274320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特性 → 优势 → 利益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731520" y="3291840"/>
            <a:ext cx="10515600" cy="868680"/>
          </a:xfrm>
          <a:prstGeom prst="roundRect">
            <a:avLst>
              <a:gd name="adj" fmla="val 10526"/>
            </a:avLst>
          </a:prstGeom>
          <a:solidFill>
            <a:srgbClr val="1A2A50">
              <a:alpha val="70000"/>
            </a:srgbClr>
          </a:solidFill>
          <a:ln/>
          <a:effectLst>
            <a:outerShdw sx="100000" sy="100000" kx="0" ky="0" algn="bl" rotWithShape="0" blurRad="76200" dist="25400" dir="16200000">
              <a:srgbClr val="000000">
                <a:alpha val="15000"/>
              </a:srgbClr>
            </a:outerShdw>
          </a:effectLst>
        </p:spPr>
        <p:txBody>
          <a:bodyPr/>
          <a:p/>
        </p:txBody>
      </p:sp>
      <p:sp>
        <p:nvSpPr>
          <p:cNvPr id="21" name="Shape 19"/>
          <p:cNvSpPr/>
          <p:nvPr/>
        </p:nvSpPr>
        <p:spPr>
          <a:xfrm>
            <a:off x="914400" y="3401568"/>
            <a:ext cx="640080" cy="640080"/>
          </a:xfrm>
          <a:prstGeom prst="ellipse">
            <a:avLst/>
          </a:prstGeom>
          <a:solidFill>
            <a:srgbClr val="1E2761"/>
          </a:solidFill>
          <a:ln/>
          <a:effectLst>
            <a:outerShdw sx="100000" sy="100000" kx="0" ky="0" algn="bl" rotWithShape="0" blurRad="50800" dist="12700" dir="162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914400" y="3401568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1828800" y="333756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FF6B35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F: 季度体能测评报告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754880" y="333756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A: 成长数据可视化呈现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7863840" y="333756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4CAF50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B: 钱花得值，效果看得见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1828800" y="37490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特性 → 优势 → 利益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731520" y="4297680"/>
            <a:ext cx="10515600" cy="868680"/>
          </a:xfrm>
          <a:prstGeom prst="roundRect">
            <a:avLst>
              <a:gd name="adj" fmla="val 10526"/>
            </a:avLst>
          </a:prstGeom>
          <a:solidFill>
            <a:srgbClr val="1A2A50">
              <a:alpha val="70000"/>
            </a:srgbClr>
          </a:solidFill>
          <a:ln/>
          <a:effectLst>
            <a:outerShdw sx="100000" sy="100000" kx="0" ky="0" algn="bl" rotWithShape="0" blurRad="76200" dist="25400" dir="16200000">
              <a:srgbClr val="000000">
                <a:alpha val="15000"/>
              </a:srgbClr>
            </a:outerShdw>
          </a:effectLst>
        </p:spPr>
        <p:txBody>
          <a:bodyPr/>
          <a:p/>
        </p:txBody>
      </p:sp>
      <p:sp>
        <p:nvSpPr>
          <p:cNvPr id="28" name="Shape 26"/>
          <p:cNvSpPr/>
          <p:nvPr/>
        </p:nvSpPr>
        <p:spPr>
          <a:xfrm>
            <a:off x="914400" y="4407408"/>
            <a:ext cx="640080" cy="640080"/>
          </a:xfrm>
          <a:prstGeom prst="ellipse">
            <a:avLst/>
          </a:prstGeom>
          <a:solidFill>
            <a:srgbClr val="4CAF50"/>
          </a:solidFill>
          <a:ln/>
          <a:effectLst>
            <a:outerShdw sx="100000" sy="100000" kx="0" ky="0" algn="bl" rotWithShape="0" blurRad="50800" dist="12700" dir="162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29" name="Text 27"/>
          <p:cNvSpPr/>
          <p:nvPr/>
        </p:nvSpPr>
        <p:spPr>
          <a:xfrm>
            <a:off x="914400" y="4407408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200" dirty="0"/>
          </a:p>
        </p:txBody>
      </p:sp>
      <p:sp>
        <p:nvSpPr>
          <p:cNvPr id="30" name="Text 28"/>
          <p:cNvSpPr/>
          <p:nvPr/>
        </p:nvSpPr>
        <p:spPr>
          <a:xfrm>
            <a:off x="1828800" y="434340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FF6B35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F: HLGP全面发展理念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4754880" y="434340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A: 不只是运动，更是教育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7863840" y="434340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4CAF50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B: 满足家长对孩子综合素质期待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1828800" y="475488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特性 → 优势 → 利益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731520" y="5303520"/>
            <a:ext cx="10515600" cy="868680"/>
          </a:xfrm>
          <a:prstGeom prst="roundRect">
            <a:avLst>
              <a:gd name="adj" fmla="val 10526"/>
            </a:avLst>
          </a:prstGeom>
          <a:solidFill>
            <a:srgbClr val="1A2A50">
              <a:alpha val="70000"/>
            </a:srgbClr>
          </a:solidFill>
          <a:ln/>
          <a:effectLst>
            <a:outerShdw sx="100000" sy="100000" kx="0" ky="0" algn="bl" rotWithShape="0" blurRad="76200" dist="25400" dir="16200000">
              <a:srgbClr val="000000">
                <a:alpha val="15000"/>
              </a:srgbClr>
            </a:outerShdw>
          </a:effectLst>
        </p:spPr>
        <p:txBody>
          <a:bodyPr/>
          <a:p/>
        </p:txBody>
      </p:sp>
      <p:sp>
        <p:nvSpPr>
          <p:cNvPr id="35" name="Shape 33"/>
          <p:cNvSpPr/>
          <p:nvPr/>
        </p:nvSpPr>
        <p:spPr>
          <a:xfrm>
            <a:off x="914400" y="5413248"/>
            <a:ext cx="640080" cy="640080"/>
          </a:xfrm>
          <a:prstGeom prst="ellipse">
            <a:avLst/>
          </a:prstGeom>
          <a:solidFill>
            <a:srgbClr val="FFB347"/>
          </a:solidFill>
          <a:ln/>
          <a:effectLst>
            <a:outerShdw sx="100000" sy="100000" kx="0" ky="0" algn="bl" rotWithShape="0" blurRad="50800" dist="12700" dir="162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36" name="Text 34"/>
          <p:cNvSpPr/>
          <p:nvPr/>
        </p:nvSpPr>
        <p:spPr>
          <a:xfrm>
            <a:off x="914400" y="5413248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200" dirty="0"/>
          </a:p>
        </p:txBody>
      </p:sp>
      <p:sp>
        <p:nvSpPr>
          <p:cNvPr id="37" name="Text 35"/>
          <p:cNvSpPr/>
          <p:nvPr/>
        </p:nvSpPr>
        <p:spPr>
          <a:xfrm>
            <a:off x="1828800" y="534924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FF6B35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F: 5家连锁品牌保障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4754880" y="534924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A: 标准化运营，口碑验证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7863840" y="534924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4CAF50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B: 家长选择有安全感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1828800" y="576072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特性 → 优势 → 利益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731520" y="6309360"/>
            <a:ext cx="10515600" cy="365760"/>
          </a:xfrm>
          <a:prstGeom prst="roundRect">
            <a:avLst>
              <a:gd name="adj" fmla="val 20000"/>
            </a:avLst>
          </a:prstGeom>
          <a:solidFill>
            <a:srgbClr val="FF6B35"/>
          </a:solidFill>
          <a:ln/>
        </p:spPr>
        <p:txBody>
          <a:bodyPr/>
          <a:p/>
        </p:txBody>
      </p:sp>
      <p:sp>
        <p:nvSpPr>
          <p:cNvPr id="42" name="Text 40"/>
          <p:cNvSpPr/>
          <p:nvPr/>
        </p:nvSpPr>
        <p:spPr>
          <a:xfrm>
            <a:off x="731520" y="630936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记住：家长买单的不是课程，而是孩子看得见的成长和自己的安心</a:t>
            </a:r>
            <a:endParaRPr lang="en-US" sz="1300" dirty="0"/>
          </a:p>
        </p:txBody>
      </p:sp>
      <p:sp>
        <p:nvSpPr>
          <p:cNvPr id="43" name="Shape 41"/>
          <p:cNvSpPr/>
          <p:nvPr/>
        </p:nvSpPr>
        <p:spPr>
          <a:xfrm>
            <a:off x="0" y="6400800"/>
            <a:ext cx="12188952" cy="457200"/>
          </a:xfrm>
          <a:prstGeom prst="roundRect">
            <a:avLst>
              <a:gd name="adj" fmla="val 20000"/>
            </a:avLst>
          </a:prstGeom>
          <a:solidFill>
            <a:srgbClr val="1E2761"/>
          </a:solidFill>
          <a:ln/>
        </p:spPr>
        <p:txBody>
          <a:bodyPr/>
          <a:p/>
        </p:txBody>
      </p:sp>
      <p:sp>
        <p:nvSpPr>
          <p:cNvPr id="44" name="Text 42"/>
          <p:cNvSpPr/>
          <p:nvPr/>
        </p:nvSpPr>
        <p:spPr>
          <a:xfrm>
            <a:off x="457200" y="640080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追光小牛 · 销售培训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10360152" y="640080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8 / 13</a:t>
            </a:r>
            <a:endParaRPr lang="en-US" sz="900" dirty="0"/>
          </a:p>
        </p:txBody>
      </p:sp>
      <p:sp>
        <p:nvSpPr>
          <p:cNvPr id="46" name="Rectangle 45"/>
          <p:cNvSpPr/>
          <p:nvPr/>
        </p:nvSpPr>
        <p:spPr>
          <a:xfrm>
            <a:off x="0" y="0"/>
            <a:ext cx="12192000" cy="54864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0" y="5829300"/>
            <a:ext cx="12192000" cy="1028700"/>
          </a:xfrm>
          <a:prstGeom prst="rect">
            <a:avLst/>
          </a:prstGeom>
          <a:solidFill>
            <a:srgbClr val="14244D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oundRect">
            <a:avLst>
              <a:gd name="adj" fmla="val 125000"/>
            </a:avLst>
          </a:prstGeom>
          <a:solidFill>
            <a:srgbClr val="FF6B35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731520" y="457200"/>
            <a:ext cx="73152" cy="502920"/>
          </a:xfrm>
          <a:prstGeom prst="roundRect">
            <a:avLst>
              <a:gd name="adj" fmla="val 50000"/>
            </a:avLst>
          </a:prstGeom>
          <a:solidFill>
            <a:srgbClr val="FF6B35"/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96012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微软雅黑" pitchFamily="34" charset="0"/>
                <a:ea typeface="Arial Black" pitchFamily="34" charset="-122"/>
                <a:cs typeface="Arial Black" pitchFamily="34" charset="-120"/>
              </a:rPr>
              <a:t>我们的客户是谁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960120" y="822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3-12岁儿童家长画像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731520" y="1280160"/>
            <a:ext cx="5029200" cy="4754880"/>
          </a:xfrm>
          <a:prstGeom prst="roundRect">
            <a:avLst>
              <a:gd name="adj" fmla="val 2885"/>
            </a:avLst>
          </a:prstGeom>
          <a:solidFill>
            <a:srgbClr val="1A2A50">
              <a:alpha val="70000"/>
            </a:srgbClr>
          </a:solidFill>
          <a:ln/>
          <a:effectLst>
            <a:outerShdw sx="100000" sy="100000" kx="0" ky="0" algn="bl" rotWithShape="0" blurRad="76200" dist="25400" dir="16200000">
              <a:srgbClr val="000000">
                <a:alpha val="15000"/>
              </a:srgbClr>
            </a:outerShdw>
          </a:effectLst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1005840" y="146304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微软雅黑" pitchFamily="34" charset="0"/>
                <a:ea typeface="Arial Black" pitchFamily="34" charset="-122"/>
                <a:cs typeface="Arial Black" pitchFamily="34" charset="-120"/>
              </a:rPr>
              <a:t>核心客户画像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1188720" y="2148840"/>
            <a:ext cx="320040" cy="320040"/>
          </a:xfrm>
          <a:prstGeom prst="ellipse">
            <a:avLst/>
          </a:prstGeom>
          <a:solidFill>
            <a:srgbClr val="FF6B3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1188720" y="214884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737360" y="2103120"/>
            <a:ext cx="1097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年龄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834640" y="210312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28-40岁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1188720" y="2880360"/>
            <a:ext cx="320040" cy="320040"/>
          </a:xfrm>
          <a:prstGeom prst="ellipse">
            <a:avLst/>
          </a:prstGeom>
          <a:solidFill>
            <a:srgbClr val="FF6B3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1188720" y="288036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737360" y="2834640"/>
            <a:ext cx="1097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特征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2834640" y="283464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中产家庭，重视教育投入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188720" y="3611880"/>
            <a:ext cx="320040" cy="320040"/>
          </a:xfrm>
          <a:prstGeom prst="ellipse">
            <a:avLst/>
          </a:prstGeom>
          <a:solidFill>
            <a:srgbClr val="FF6B35"/>
          </a:solidFill>
          <a:ln/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1188720" y="361188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737360" y="3566160"/>
            <a:ext cx="1097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决策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2834640" y="356616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妈妈主导，爸爸辅助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1188720" y="4343400"/>
            <a:ext cx="320040" cy="320040"/>
          </a:xfrm>
          <a:prstGeom prst="ellipse">
            <a:avLst/>
          </a:prstGeom>
          <a:solidFill>
            <a:srgbClr val="FF6B3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188720" y="434340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737360" y="4297680"/>
            <a:ext cx="1097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渠道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2834640" y="429768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朋友推荐/小区活动/线上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1188720" y="5074920"/>
            <a:ext cx="320040" cy="320040"/>
          </a:xfrm>
          <a:prstGeom prst="ellipse">
            <a:avLst/>
          </a:prstGeom>
          <a:solidFill>
            <a:srgbClr val="FF6B35"/>
          </a:solidFill>
          <a:ln/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1188720" y="507492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1737360" y="5029200"/>
            <a:ext cx="1097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痛点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2834640" y="502920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孩子体质差/沉迷电子屏幕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6126480" y="1280160"/>
            <a:ext cx="5303520" cy="4754880"/>
          </a:xfrm>
          <a:prstGeom prst="roundRect">
            <a:avLst>
              <a:gd name="adj" fmla="val 2885"/>
            </a:avLst>
          </a:prstGeom>
          <a:solidFill>
            <a:srgbClr val="1E2761"/>
          </a:solidFill>
          <a:ln/>
        </p:spPr>
        <p:txBody>
          <a:bodyPr/>
          <a:p/>
        </p:txBody>
      </p:sp>
      <p:sp>
        <p:nvSpPr>
          <p:cNvPr id="29" name="Text 27"/>
          <p:cNvSpPr/>
          <p:nvPr/>
        </p:nvSpPr>
        <p:spPr>
          <a:xfrm>
            <a:off x="6400800" y="146304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微软雅黑" pitchFamily="34" charset="0"/>
                <a:ea typeface="Arial Black" pitchFamily="34" charset="-122"/>
                <a:cs typeface="Arial Black" pitchFamily="34" charset="-120"/>
              </a:rPr>
              <a:t>家长四大核心需求</a:t>
            </a:r>
            <a:endParaRPr lang="en-US" sz="1800" dirty="0"/>
          </a:p>
        </p:txBody>
      </p:sp>
      <p:sp>
        <p:nvSpPr>
          <p:cNvPr id="30" name="Shape 28"/>
          <p:cNvSpPr/>
          <p:nvPr/>
        </p:nvSpPr>
        <p:spPr>
          <a:xfrm>
            <a:off x="6400800" y="2103120"/>
            <a:ext cx="2194560" cy="1737360"/>
          </a:xfrm>
          <a:prstGeom prst="roundRect">
            <a:avLst>
              <a:gd name="adj" fmla="val 5263"/>
            </a:avLst>
          </a:prstGeom>
          <a:solidFill>
            <a:srgbClr val="1A2A50">
              <a:alpha val="70000"/>
            </a:srgbClr>
          </a:solidFill>
          <a:ln/>
        </p:spPr>
        <p:txBody>
          <a:bodyPr/>
          <a:p/>
        </p:txBody>
      </p:sp>
      <p:sp>
        <p:nvSpPr>
          <p:cNvPr id="31" name="Shape 29"/>
          <p:cNvSpPr/>
          <p:nvPr/>
        </p:nvSpPr>
        <p:spPr>
          <a:xfrm>
            <a:off x="6583680" y="2286000"/>
            <a:ext cx="457200" cy="457200"/>
          </a:xfrm>
          <a:prstGeom prst="ellipse">
            <a:avLst/>
          </a:prstGeom>
          <a:solidFill>
            <a:srgbClr val="FF6B35"/>
          </a:solidFill>
          <a:ln/>
        </p:spPr>
        <p:txBody>
          <a:bodyPr/>
          <a:p/>
        </p:txBody>
      </p:sp>
      <p:sp>
        <p:nvSpPr>
          <p:cNvPr id="32" name="Text 30"/>
          <p:cNvSpPr/>
          <p:nvPr/>
        </p:nvSpPr>
        <p:spPr>
          <a:xfrm>
            <a:off x="6583680" y="22860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♥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7178040" y="228600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微软雅黑" pitchFamily="34" charset="0"/>
                <a:ea typeface="Arial Black" pitchFamily="34" charset="-122"/>
                <a:cs typeface="Arial Black" pitchFamily="34" charset="-120"/>
              </a:rPr>
              <a:t>健康体质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6583680" y="2880360"/>
            <a:ext cx="1828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FFFFFF">
                    <a:alpha val="75000"/>
                  </a:srgbClr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增强免疫力</a:t>
            </a:r>
            <a:endParaRPr lang="en-US" sz="1100" dirty="0"/>
          </a:p>
          <a:p>
            <a:pPr algn="l"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FFFFFF">
                    <a:alpha val="75000"/>
                  </a:srgbClr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减少生病频率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8869680" y="2103120"/>
            <a:ext cx="2194560" cy="1737360"/>
          </a:xfrm>
          <a:prstGeom prst="roundRect">
            <a:avLst>
              <a:gd name="adj" fmla="val 5263"/>
            </a:avLst>
          </a:prstGeom>
          <a:solidFill>
            <a:srgbClr val="1A2A50">
              <a:alpha val="70000"/>
            </a:srgbClr>
          </a:solidFill>
          <a:ln/>
        </p:spPr>
        <p:txBody>
          <a:bodyPr/>
          <a:p/>
        </p:txBody>
      </p:sp>
      <p:sp>
        <p:nvSpPr>
          <p:cNvPr id="36" name="Shape 34"/>
          <p:cNvSpPr/>
          <p:nvPr/>
        </p:nvSpPr>
        <p:spPr>
          <a:xfrm>
            <a:off x="9052560" y="2286000"/>
            <a:ext cx="457200" cy="457200"/>
          </a:xfrm>
          <a:prstGeom prst="ellipse">
            <a:avLst/>
          </a:prstGeom>
          <a:solidFill>
            <a:srgbClr val="FFB347"/>
          </a:solidFill>
          <a:ln/>
        </p:spPr>
        <p:txBody>
          <a:bodyPr/>
          <a:p/>
        </p:txBody>
      </p:sp>
      <p:sp>
        <p:nvSpPr>
          <p:cNvPr id="37" name="Text 35"/>
          <p:cNvSpPr/>
          <p:nvPr/>
        </p:nvSpPr>
        <p:spPr>
          <a:xfrm>
            <a:off x="9052560" y="22860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♥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9646920" y="228600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微软雅黑" pitchFamily="34" charset="0"/>
                <a:ea typeface="Arial Black" pitchFamily="34" charset="-122"/>
                <a:cs typeface="Arial Black" pitchFamily="34" charset="-120"/>
              </a:rPr>
              <a:t>社交能力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9052560" y="2880360"/>
            <a:ext cx="1828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FFFFFF">
                    <a:alpha val="75000"/>
                  </a:srgbClr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学会团队合作</a:t>
            </a:r>
            <a:endParaRPr lang="en-US" sz="1100" dirty="0"/>
          </a:p>
          <a:p>
            <a:pPr algn="l"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FFFFFF">
                    <a:alpha val="75000"/>
                  </a:srgbClr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交到好朋友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6400800" y="4114800"/>
            <a:ext cx="2194560" cy="1737360"/>
          </a:xfrm>
          <a:prstGeom prst="roundRect">
            <a:avLst>
              <a:gd name="adj" fmla="val 5263"/>
            </a:avLst>
          </a:prstGeom>
          <a:solidFill>
            <a:srgbClr val="1A2A50">
              <a:alpha val="70000"/>
            </a:srgbClr>
          </a:solidFill>
          <a:ln/>
        </p:spPr>
        <p:txBody>
          <a:bodyPr/>
          <a:p/>
        </p:txBody>
      </p:sp>
      <p:sp>
        <p:nvSpPr>
          <p:cNvPr id="41" name="Shape 39"/>
          <p:cNvSpPr/>
          <p:nvPr/>
        </p:nvSpPr>
        <p:spPr>
          <a:xfrm>
            <a:off x="6583680" y="4297680"/>
            <a:ext cx="457200" cy="457200"/>
          </a:xfrm>
          <a:prstGeom prst="ellipse">
            <a:avLst/>
          </a:prstGeom>
          <a:solidFill>
            <a:srgbClr val="4CAF50"/>
          </a:solidFill>
          <a:ln/>
        </p:spPr>
        <p:txBody>
          <a:bodyPr/>
          <a:p/>
        </p:txBody>
      </p:sp>
      <p:sp>
        <p:nvSpPr>
          <p:cNvPr id="42" name="Text 40"/>
          <p:cNvSpPr/>
          <p:nvPr/>
        </p:nvSpPr>
        <p:spPr>
          <a:xfrm>
            <a:off x="6583680" y="42976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♥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7178040" y="429768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微软雅黑" pitchFamily="34" charset="0"/>
                <a:ea typeface="Arial Black" pitchFamily="34" charset="-122"/>
                <a:cs typeface="Arial Black" pitchFamily="34" charset="-120"/>
              </a:rPr>
              <a:t>体能发展</a:t>
            </a:r>
            <a:endParaRPr lang="en-US" sz="1400" dirty="0"/>
          </a:p>
        </p:txBody>
      </p:sp>
      <p:sp>
        <p:nvSpPr>
          <p:cNvPr id="44" name="Text 42"/>
          <p:cNvSpPr/>
          <p:nvPr/>
        </p:nvSpPr>
        <p:spPr>
          <a:xfrm>
            <a:off x="6583680" y="4892040"/>
            <a:ext cx="1828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FFFFFF">
                    <a:alpha val="75000"/>
                  </a:srgbClr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跑跳投攀爬</a:t>
            </a:r>
            <a:endParaRPr lang="en-US" sz="1100" dirty="0"/>
          </a:p>
          <a:p>
            <a:pPr algn="l"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FFFFFF">
                    <a:alpha val="75000"/>
                  </a:srgbClr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运动技能达标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8869680" y="4114800"/>
            <a:ext cx="2194560" cy="1737360"/>
          </a:xfrm>
          <a:prstGeom prst="roundRect">
            <a:avLst>
              <a:gd name="adj" fmla="val 5263"/>
            </a:avLst>
          </a:prstGeom>
          <a:solidFill>
            <a:srgbClr val="1A2A50">
              <a:alpha val="70000"/>
            </a:srgbClr>
          </a:solidFill>
          <a:ln/>
        </p:spPr>
        <p:txBody>
          <a:bodyPr/>
          <a:p/>
        </p:txBody>
      </p:sp>
      <p:sp>
        <p:nvSpPr>
          <p:cNvPr id="46" name="Shape 44"/>
          <p:cNvSpPr/>
          <p:nvPr/>
        </p:nvSpPr>
        <p:spPr>
          <a:xfrm>
            <a:off x="9052560" y="4297680"/>
            <a:ext cx="457200" cy="457200"/>
          </a:xfrm>
          <a:prstGeom prst="ellipse">
            <a:avLst/>
          </a:prstGeom>
          <a:solidFill>
            <a:srgbClr val="7B68EE"/>
          </a:solidFill>
          <a:ln/>
        </p:spPr>
        <p:txBody>
          <a:bodyPr/>
          <a:p/>
        </p:txBody>
      </p:sp>
      <p:sp>
        <p:nvSpPr>
          <p:cNvPr id="47" name="Text 45"/>
          <p:cNvSpPr/>
          <p:nvPr/>
        </p:nvSpPr>
        <p:spPr>
          <a:xfrm>
            <a:off x="9052560" y="42976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♥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9646920" y="429768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微软雅黑" pitchFamily="34" charset="0"/>
                <a:ea typeface="Arial Black" pitchFamily="34" charset="-122"/>
                <a:cs typeface="Arial Black" pitchFamily="34" charset="-120"/>
              </a:rPr>
              <a:t>专注力</a:t>
            </a:r>
            <a:endParaRPr lang="en-US" sz="1400" dirty="0"/>
          </a:p>
        </p:txBody>
      </p:sp>
      <p:sp>
        <p:nvSpPr>
          <p:cNvPr id="49" name="Text 47"/>
          <p:cNvSpPr/>
          <p:nvPr/>
        </p:nvSpPr>
        <p:spPr>
          <a:xfrm>
            <a:off x="9052560" y="4892040"/>
            <a:ext cx="1828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FFFFFF">
                    <a:alpha val="75000"/>
                  </a:srgbClr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提升课堂专注</a:t>
            </a:r>
            <a:endParaRPr lang="en-US" sz="1100" dirty="0"/>
          </a:p>
          <a:p>
            <a:pPr algn="l"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FFFFFF">
                    <a:alpha val="75000"/>
                  </a:srgbClr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改善学习状态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0" y="6400800"/>
            <a:ext cx="12188952" cy="457200"/>
          </a:xfrm>
          <a:prstGeom prst="roundRect">
            <a:avLst>
              <a:gd name="adj" fmla="val 20000"/>
            </a:avLst>
          </a:prstGeom>
          <a:solidFill>
            <a:srgbClr val="1E2761"/>
          </a:solidFill>
          <a:ln/>
        </p:spPr>
        <p:txBody>
          <a:bodyPr/>
          <a:p/>
        </p:txBody>
      </p:sp>
      <p:sp>
        <p:nvSpPr>
          <p:cNvPr id="51" name="Text 49"/>
          <p:cNvSpPr/>
          <p:nvPr/>
        </p:nvSpPr>
        <p:spPr>
          <a:xfrm>
            <a:off x="457200" y="640080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追光小牛 · 销售培训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10360152" y="640080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9 / 13</a:t>
            </a:r>
            <a:endParaRPr lang="en-US" sz="900" dirty="0"/>
          </a:p>
        </p:txBody>
      </p:sp>
      <p:sp>
        <p:nvSpPr>
          <p:cNvPr id="53" name="Rectangle 52"/>
          <p:cNvSpPr/>
          <p:nvPr/>
        </p:nvSpPr>
        <p:spPr>
          <a:xfrm>
            <a:off x="0" y="0"/>
            <a:ext cx="12192000" cy="54864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 rot="20700000">
            <a:off x="243840" y="1028700"/>
            <a:ext cx="975360" cy="19050"/>
          </a:xfrm>
          <a:prstGeom prst="rect">
            <a:avLst/>
          </a:prstGeom>
          <a:solidFill>
            <a:srgbClr val="00E676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 rot="20700000">
            <a:off x="609600" y="1577339"/>
            <a:ext cx="1219200" cy="25400"/>
          </a:xfrm>
          <a:prstGeom prst="rect">
            <a:avLst/>
          </a:prstGeom>
          <a:solidFill>
            <a:srgbClr val="00E676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0" y="5829300"/>
            <a:ext cx="12192000" cy="1028700"/>
          </a:xfrm>
          <a:prstGeom prst="rect">
            <a:avLst/>
          </a:prstGeom>
          <a:solidFill>
            <a:srgbClr val="14244D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oundRect">
            <a:avLst>
              <a:gd name="adj" fmla="val 125000"/>
            </a:avLst>
          </a:prstGeom>
          <a:solidFill>
            <a:srgbClr val="FF6B35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731520" y="457200"/>
            <a:ext cx="73152" cy="502920"/>
          </a:xfrm>
          <a:prstGeom prst="roundRect">
            <a:avLst>
              <a:gd name="adj" fmla="val 50000"/>
            </a:avLst>
          </a:prstGeom>
          <a:solidFill>
            <a:srgbClr val="FF6B35"/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96012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微软雅黑" pitchFamily="34" charset="0"/>
                <a:ea typeface="Arial Black" pitchFamily="34" charset="-122"/>
                <a:cs typeface="Arial Black" pitchFamily="34" charset="-120"/>
              </a:rPr>
              <a:t>竞品差异化表达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960120" y="822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当家长提到其他机构时怎么说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731520" y="1188720"/>
            <a:ext cx="10515600" cy="1143000"/>
          </a:xfrm>
          <a:prstGeom prst="roundRect">
            <a:avLst>
              <a:gd name="adj" fmla="val 8000"/>
            </a:avLst>
          </a:prstGeom>
          <a:solidFill>
            <a:srgbClr val="1A2A50">
              <a:alpha val="70000"/>
            </a:srgbClr>
          </a:solidFill>
          <a:ln/>
          <a:effectLst>
            <a:outerShdw sx="100000" sy="100000" kx="0" ky="0" algn="bl" rotWithShape="0" blurRad="76200" dist="25400" dir="16200000">
              <a:srgbClr val="000000">
                <a:alpha val="15000"/>
              </a:srgbClr>
            </a:outerShdw>
          </a:effectLst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731520" y="1188720"/>
            <a:ext cx="109728" cy="1143000"/>
          </a:xfrm>
          <a:prstGeom prst="roundRect">
            <a:avLst>
              <a:gd name="adj" fmla="val 83333"/>
            </a:avLst>
          </a:prstGeom>
          <a:solidFill>
            <a:srgbClr val="FF6B35"/>
          </a:solidFill>
          <a:ln/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1097280" y="1280160"/>
            <a:ext cx="4114800" cy="365760"/>
          </a:xfrm>
          <a:prstGeom prst="roundRect">
            <a:avLst>
              <a:gd name="adj" fmla="val 12500"/>
            </a:avLst>
          </a:prstGeom>
          <a:solidFill>
            <a:srgbClr val="FFE8DD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1188720" y="128016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C44400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"XX体育也很便宜啊"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097280" y="1737360"/>
            <a:ext cx="9875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我们理解价格是考虑因素。但追光小牛的固定班级制和季度测评，让您清楚看到孩子的每一分钱花在了哪里。便宜不是目的，有效果才是。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731520" y="2468880"/>
            <a:ext cx="10515600" cy="1143000"/>
          </a:xfrm>
          <a:prstGeom prst="roundRect">
            <a:avLst>
              <a:gd name="adj" fmla="val 8000"/>
            </a:avLst>
          </a:prstGeom>
          <a:solidFill>
            <a:srgbClr val="1A2A50">
              <a:alpha val="70000"/>
            </a:srgbClr>
          </a:solidFill>
          <a:ln/>
          <a:effectLst>
            <a:outerShdw sx="100000" sy="100000" kx="0" ky="0" algn="bl" rotWithShape="0" blurRad="76200" dist="25400" dir="16200000">
              <a:srgbClr val="000000">
                <a:alpha val="15000"/>
              </a:srgbClr>
            </a:outerShdw>
          </a:effectLst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731520" y="2468880"/>
            <a:ext cx="109728" cy="1143000"/>
          </a:xfrm>
          <a:prstGeom prst="roundRect">
            <a:avLst>
              <a:gd name="adj" fmla="val 83333"/>
            </a:avLst>
          </a:prstGeom>
          <a:solidFill>
            <a:srgbClr val="1E2761"/>
          </a:solidFill>
          <a:ln/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1097280" y="2560320"/>
            <a:ext cx="4114800" cy="365760"/>
          </a:xfrm>
          <a:prstGeom prst="roundRect">
            <a:avLst>
              <a:gd name="adj" fmla="val 12500"/>
            </a:avLst>
          </a:prstGeom>
          <a:solidFill>
            <a:srgbClr val="FFE8DD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1188720" y="256032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C44400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"小区楼下就有体适能"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097280" y="3017520"/>
            <a:ext cx="9875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近确实方便。不过我们的教练都是持证专业团队，5家连锁的标准化体系，确保教学质量。孩子的成长只有一次，值得选择更专业的。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31520" y="3749040"/>
            <a:ext cx="10515600" cy="1143000"/>
          </a:xfrm>
          <a:prstGeom prst="roundRect">
            <a:avLst>
              <a:gd name="adj" fmla="val 8000"/>
            </a:avLst>
          </a:prstGeom>
          <a:solidFill>
            <a:srgbClr val="1A2A50">
              <a:alpha val="70000"/>
            </a:srgbClr>
          </a:solidFill>
          <a:ln/>
          <a:effectLst>
            <a:outerShdw sx="100000" sy="100000" kx="0" ky="0" algn="bl" rotWithShape="0" blurRad="76200" dist="25400" dir="16200000">
              <a:srgbClr val="000000">
                <a:alpha val="15000"/>
              </a:srgbClr>
            </a:outerShdw>
          </a:effectLst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731520" y="3749040"/>
            <a:ext cx="109728" cy="1143000"/>
          </a:xfrm>
          <a:prstGeom prst="roundRect">
            <a:avLst>
              <a:gd name="adj" fmla="val 83333"/>
            </a:avLst>
          </a:prstGeom>
          <a:solidFill>
            <a:srgbClr val="4CAF50"/>
          </a:solidFill>
          <a:ln/>
        </p:spPr>
        <p:txBody>
          <a:bodyPr/>
          <a:p/>
        </p:txBody>
      </p:sp>
      <p:sp>
        <p:nvSpPr>
          <p:cNvPr id="18" name="Shape 16"/>
          <p:cNvSpPr/>
          <p:nvPr/>
        </p:nvSpPr>
        <p:spPr>
          <a:xfrm>
            <a:off x="1097280" y="3840480"/>
            <a:ext cx="4114800" cy="365760"/>
          </a:xfrm>
          <a:prstGeom prst="roundRect">
            <a:avLst>
              <a:gd name="adj" fmla="val 12500"/>
            </a:avLst>
          </a:prstGeom>
          <a:solidFill>
            <a:srgbClr val="FFE8DD"/>
          </a:solidFill>
          <a:ln/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1188720" y="384048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C44400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"我们报了游泳/跆拳道"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097280" y="4297680"/>
            <a:ext cx="9875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单项运动很好！体适能是所有运动的基础，能全面提升孩子的协调性、平衡力和体能素质，反而能帮助他在专项运动中表现更好。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731520" y="5029200"/>
            <a:ext cx="10515600" cy="1143000"/>
          </a:xfrm>
          <a:prstGeom prst="roundRect">
            <a:avLst>
              <a:gd name="adj" fmla="val 8000"/>
            </a:avLst>
          </a:prstGeom>
          <a:solidFill>
            <a:srgbClr val="1A2A50">
              <a:alpha val="70000"/>
            </a:srgbClr>
          </a:solidFill>
          <a:ln/>
          <a:effectLst>
            <a:outerShdw sx="100000" sy="100000" kx="0" ky="0" algn="bl" rotWithShape="0" blurRad="76200" dist="25400" dir="16200000">
              <a:srgbClr val="000000">
                <a:alpha val="15000"/>
              </a:srgbClr>
            </a:outerShdw>
          </a:effectLst>
        </p:spPr>
        <p:txBody>
          <a:bodyPr/>
          <a:p/>
        </p:txBody>
      </p:sp>
      <p:sp>
        <p:nvSpPr>
          <p:cNvPr id="22" name="Shape 20"/>
          <p:cNvSpPr/>
          <p:nvPr/>
        </p:nvSpPr>
        <p:spPr>
          <a:xfrm>
            <a:off x="731520" y="5029200"/>
            <a:ext cx="109728" cy="1143000"/>
          </a:xfrm>
          <a:prstGeom prst="roundRect">
            <a:avLst>
              <a:gd name="adj" fmla="val 83333"/>
            </a:avLst>
          </a:prstGeom>
          <a:solidFill>
            <a:srgbClr val="FFB347"/>
          </a:solidFill>
          <a:ln/>
        </p:spPr>
        <p:txBody>
          <a:bodyPr/>
          <a:p/>
        </p:txBody>
      </p:sp>
      <p:sp>
        <p:nvSpPr>
          <p:cNvPr id="23" name="Shape 21"/>
          <p:cNvSpPr/>
          <p:nvPr/>
        </p:nvSpPr>
        <p:spPr>
          <a:xfrm>
            <a:off x="1097280" y="5120640"/>
            <a:ext cx="4114800" cy="365760"/>
          </a:xfrm>
          <a:prstGeom prst="roundRect">
            <a:avLst>
              <a:gd name="adj" fmla="val 12500"/>
            </a:avLst>
          </a:prstGeom>
          <a:solidFill>
            <a:srgbClr val="FFE8DD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1188720" y="512064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C44400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"孩子说不想去运动"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1097280" y="5577840"/>
            <a:ext cx="9875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这正是我们的优势！追光小牛用游戏化教学让孩子觉得是在玩，不是在训练。您可以带孩子来体验一节课，看看他会不会改变主意。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731520" y="6309360"/>
            <a:ext cx="10515600" cy="365760"/>
          </a:xfrm>
          <a:prstGeom prst="roundRect">
            <a:avLst>
              <a:gd name="adj" fmla="val 20000"/>
            </a:avLst>
          </a:prstGeom>
          <a:solidFill>
            <a:srgbClr val="1E2761"/>
          </a:solidFill>
          <a:ln/>
        </p:spPr>
        <p:txBody>
          <a:bodyPr/>
          <a:p/>
        </p:txBody>
      </p:sp>
      <p:sp>
        <p:nvSpPr>
          <p:cNvPr id="27" name="Text 25"/>
          <p:cNvSpPr/>
          <p:nvPr/>
        </p:nvSpPr>
        <p:spPr>
          <a:xfrm>
            <a:off x="731520" y="630936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技巧：先认同家长 → 再展示差异 → 最后邀请体验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0" y="6400800"/>
            <a:ext cx="12188952" cy="457200"/>
          </a:xfrm>
          <a:prstGeom prst="roundRect">
            <a:avLst>
              <a:gd name="adj" fmla="val 20000"/>
            </a:avLst>
          </a:prstGeom>
          <a:solidFill>
            <a:srgbClr val="1E2761"/>
          </a:solidFill>
          <a:ln/>
        </p:spPr>
        <p:txBody>
          <a:bodyPr/>
          <a:p/>
        </p:txBody>
      </p:sp>
      <p:sp>
        <p:nvSpPr>
          <p:cNvPr id="29" name="Text 27"/>
          <p:cNvSpPr/>
          <p:nvPr/>
        </p:nvSpPr>
        <p:spPr>
          <a:xfrm>
            <a:off x="457200" y="640080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追光小牛 · 销售培训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0360152" y="640080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10 / 13</a:t>
            </a:r>
            <a:endParaRPr lang="en-US" sz="900" dirty="0"/>
          </a:p>
        </p:txBody>
      </p:sp>
      <p:sp>
        <p:nvSpPr>
          <p:cNvPr id="31" name="Rectangle 30"/>
          <p:cNvSpPr/>
          <p:nvPr/>
        </p:nvSpPr>
        <p:spPr>
          <a:xfrm rot="20700000">
            <a:off x="243840" y="1028700"/>
            <a:ext cx="975360" cy="19050"/>
          </a:xfrm>
          <a:prstGeom prst="rect">
            <a:avLst/>
          </a:prstGeom>
          <a:solidFill>
            <a:srgbClr val="00E676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 rot="20700000">
            <a:off x="609600" y="1577339"/>
            <a:ext cx="1219200" cy="25400"/>
          </a:xfrm>
          <a:prstGeom prst="rect">
            <a:avLst/>
          </a:prstGeom>
          <a:solidFill>
            <a:srgbClr val="00E676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 rot="20700000">
            <a:off x="975360" y="2125980"/>
            <a:ext cx="1463040" cy="31750"/>
          </a:xfrm>
          <a:prstGeom prst="rect">
            <a:avLst/>
          </a:prstGeom>
          <a:solidFill>
            <a:srgbClr val="00E676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 rot="20700000">
            <a:off x="1341120" y="2674620"/>
            <a:ext cx="1706880" cy="38100"/>
          </a:xfrm>
          <a:prstGeom prst="rect">
            <a:avLst/>
          </a:prstGeom>
          <a:solidFill>
            <a:srgbClr val="00E676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Isosceles Triangle 34"/>
          <p:cNvSpPr/>
          <p:nvPr/>
        </p:nvSpPr>
        <p:spPr>
          <a:xfrm>
            <a:off x="10728960" y="0"/>
            <a:ext cx="1463040" cy="548640"/>
          </a:xfrm>
          <a:prstGeom prst="triangle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Isosceles Triangle 35"/>
          <p:cNvSpPr/>
          <p:nvPr/>
        </p:nvSpPr>
        <p:spPr>
          <a:xfrm rot="10800000">
            <a:off x="0" y="6309360"/>
            <a:ext cx="975360" cy="548640"/>
          </a:xfrm>
          <a:prstGeom prst="triangle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Arc 36"/>
          <p:cNvSpPr/>
          <p:nvPr/>
        </p:nvSpPr>
        <p:spPr>
          <a:xfrm>
            <a:off x="9997440" y="685800"/>
            <a:ext cx="2438400" cy="2057400"/>
          </a:xfrm>
          <a:prstGeom prst="arc">
            <a:avLst/>
          </a:prstGeom>
          <a:noFill/>
          <a:ln w="25400">
            <a:solidFill>
              <a:srgbClr val="FF6B35">
                <a:alpha val="25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0" y="6652260"/>
            <a:ext cx="12192000" cy="20574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oundRect">
            <a:avLst>
              <a:gd name="adj" fmla="val 125000"/>
            </a:avLst>
          </a:prstGeom>
          <a:solidFill>
            <a:srgbClr val="FF6B35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731520" y="457200"/>
            <a:ext cx="73152" cy="502920"/>
          </a:xfrm>
          <a:prstGeom prst="roundRect">
            <a:avLst>
              <a:gd name="adj" fmla="val 50000"/>
            </a:avLst>
          </a:prstGeom>
          <a:solidFill>
            <a:srgbClr val="FF6B35"/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96012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微软雅黑" pitchFamily="34" charset="0"/>
                <a:ea typeface="Arial Black" pitchFamily="34" charset="-122"/>
                <a:cs typeface="Arial Black" pitchFamily="34" charset="-120"/>
              </a:rPr>
              <a:t>一句话电梯话术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960120" y="822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30秒内说清楚追光小牛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731520" y="1280160"/>
            <a:ext cx="10515600" cy="1828800"/>
          </a:xfrm>
          <a:prstGeom prst="roundRect">
            <a:avLst>
              <a:gd name="adj" fmla="val 7500"/>
            </a:avLst>
          </a:prstGeom>
          <a:solidFill>
            <a:srgbClr val="FF6B35"/>
          </a:solidFill>
          <a:ln/>
          <a:effectLst>
            <a:outerShdw sx="100000" sy="100000" kx="0" ky="0" algn="bl" rotWithShape="0" blurRad="76200" dist="25400" dir="16200000">
              <a:srgbClr val="000000">
                <a:alpha val="15000"/>
              </a:srgbClr>
            </a:outerShdw>
          </a:effectLst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1097280" y="109728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6000" dirty="0">
                <a:solidFill>
                  <a:srgbClr val="FFFFFF">
                    <a:alpha val="33000"/>
                  </a:srgbClr>
                </a:solidFill>
                <a:latin typeface="微软雅黑" pitchFamily="34" charset="0"/>
                <a:ea typeface="Arial Black" pitchFamily="34" charset="-122"/>
                <a:cs typeface="Arial Black" pitchFamily="34" charset="-120"/>
              </a:rPr>
              <a:t>"</a:t>
            </a:r>
            <a:endParaRPr lang="en-US" sz="6000" dirty="0"/>
          </a:p>
        </p:txBody>
      </p:sp>
      <p:sp>
        <p:nvSpPr>
          <p:cNvPr id="8" name="Text 6"/>
          <p:cNvSpPr/>
          <p:nvPr/>
        </p:nvSpPr>
        <p:spPr>
          <a:xfrm>
            <a:off x="1371600" y="1463040"/>
            <a:ext cx="9601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追光小牛是专注3-12岁儿童体适能的教育品牌，</a:t>
            </a:r>
            <a:endParaRPr lang="en-US" sz="1800" dirty="0"/>
          </a:p>
          <a:p>
            <a:pPr algn="l" indent="0" marL="0">
              <a:lnSpc>
                <a:spcPct val="16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用科学的HLGP教学理念，通过游戏化课程让孩子爱上运动，</a:t>
            </a:r>
            <a:endParaRPr lang="en-US" sz="1800" dirty="0"/>
          </a:p>
          <a:p>
            <a:pPr algn="l" indent="0" marL="0">
              <a:lnSpc>
                <a:spcPct val="16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每季度提供专业体能测评报告，让孩子的成长看得见。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31520" y="338328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微软雅黑" pitchFamily="34" charset="0"/>
                <a:ea typeface="Arial Black" pitchFamily="34" charset="-122"/>
                <a:cs typeface="Arial Black" pitchFamily="34" charset="-120"/>
              </a:rPr>
              <a:t>话术拆解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731520" y="3931920"/>
            <a:ext cx="2560320" cy="1828800"/>
          </a:xfrm>
          <a:prstGeom prst="roundRect">
            <a:avLst>
              <a:gd name="adj" fmla="val 6000"/>
            </a:avLst>
          </a:prstGeom>
          <a:solidFill>
            <a:srgbClr val="1A2A50">
              <a:alpha val="70000"/>
            </a:srgbClr>
          </a:solidFill>
          <a:ln/>
          <a:effectLst>
            <a:outerShdw sx="100000" sy="100000" kx="0" ky="0" algn="bl" rotWithShape="0" blurRad="76200" dist="25400" dir="16200000">
              <a:srgbClr val="000000">
                <a:alpha val="15000"/>
              </a:srgbClr>
            </a:outerShdw>
          </a:effectLst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868680" y="4069080"/>
            <a:ext cx="548640" cy="548640"/>
          </a:xfrm>
          <a:prstGeom prst="ellipse">
            <a:avLst/>
          </a:prstGeom>
          <a:solidFill>
            <a:srgbClr val="FF6B35"/>
          </a:solidFill>
          <a:ln/>
          <a:effectLst>
            <a:outerShdw sx="100000" sy="100000" kx="0" ky="0" algn="bl" rotWithShape="0" blurRad="50800" dist="12700" dir="162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68680" y="40690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554480" y="4069080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FF6B35"/>
                </a:solidFill>
                <a:latin typeface="微软雅黑" pitchFamily="34" charset="0"/>
                <a:ea typeface="Arial Black" pitchFamily="34" charset="-122"/>
                <a:cs typeface="Arial Black" pitchFamily="34" charset="-120"/>
              </a:rPr>
              <a:t>我是谁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专注3-12岁儿童体适能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1463040" y="5303520"/>
            <a:ext cx="1097280" cy="320040"/>
          </a:xfrm>
          <a:prstGeom prst="roundRect">
            <a:avLst>
              <a:gd name="adj" fmla="val 14286"/>
            </a:avLst>
          </a:prstGeom>
          <a:solidFill>
            <a:srgbClr val="FF6B3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1463040" y="530352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5秒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520440" y="3931920"/>
            <a:ext cx="2560320" cy="1828800"/>
          </a:xfrm>
          <a:prstGeom prst="roundRect">
            <a:avLst>
              <a:gd name="adj" fmla="val 6000"/>
            </a:avLst>
          </a:prstGeom>
          <a:solidFill>
            <a:srgbClr val="1A2A50">
              <a:alpha val="70000"/>
            </a:srgbClr>
          </a:solidFill>
          <a:ln/>
          <a:effectLst>
            <a:outerShdw sx="100000" sy="100000" kx="0" ky="0" algn="bl" rotWithShape="0" blurRad="76200" dist="25400" dir="16200000">
              <a:srgbClr val="000000">
                <a:alpha val="15000"/>
              </a:srgbClr>
            </a:outerShdw>
          </a:effectLst>
        </p:spPr>
        <p:txBody>
          <a:bodyPr/>
          <a:p/>
        </p:txBody>
      </p:sp>
      <p:sp>
        <p:nvSpPr>
          <p:cNvPr id="18" name="Shape 16"/>
          <p:cNvSpPr/>
          <p:nvPr/>
        </p:nvSpPr>
        <p:spPr>
          <a:xfrm>
            <a:off x="3657600" y="4069080"/>
            <a:ext cx="548640" cy="548640"/>
          </a:xfrm>
          <a:prstGeom prst="ellipse">
            <a:avLst/>
          </a:prstGeom>
          <a:solidFill>
            <a:srgbClr val="1E2761"/>
          </a:solidFill>
          <a:ln/>
          <a:effectLst>
            <a:outerShdw sx="100000" sy="100000" kx="0" ky="0" algn="bl" rotWithShape="0" blurRad="50800" dist="12700" dir="162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3657600" y="40690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4343400" y="4069080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微软雅黑" pitchFamily="34" charset="0"/>
                <a:ea typeface="Arial Black" pitchFamily="34" charset="-122"/>
                <a:cs typeface="Arial Black" pitchFamily="34" charset="-120"/>
              </a:rPr>
              <a:t>有什么不同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3703320" y="475488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HLGP理念+游戏化课程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251960" y="5303520"/>
            <a:ext cx="1097280" cy="320040"/>
          </a:xfrm>
          <a:prstGeom prst="roundRect">
            <a:avLst>
              <a:gd name="adj" fmla="val 14286"/>
            </a:avLst>
          </a:prstGeom>
          <a:solidFill>
            <a:srgbClr val="1E2761"/>
          </a:solidFill>
          <a:ln/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4251960" y="530352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10秒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309360" y="3931920"/>
            <a:ext cx="2560320" cy="1828800"/>
          </a:xfrm>
          <a:prstGeom prst="roundRect">
            <a:avLst>
              <a:gd name="adj" fmla="val 6000"/>
            </a:avLst>
          </a:prstGeom>
          <a:solidFill>
            <a:srgbClr val="1A2A50">
              <a:alpha val="70000"/>
            </a:srgbClr>
          </a:solidFill>
          <a:ln/>
          <a:effectLst>
            <a:outerShdw sx="100000" sy="100000" kx="0" ky="0" algn="bl" rotWithShape="0" blurRad="76200" dist="25400" dir="16200000">
              <a:srgbClr val="000000">
                <a:alpha val="15000"/>
              </a:srgbClr>
            </a:outerShdw>
          </a:effectLst>
        </p:spPr>
        <p:txBody>
          <a:bodyPr/>
          <a:p/>
        </p:txBody>
      </p:sp>
      <p:sp>
        <p:nvSpPr>
          <p:cNvPr id="25" name="Shape 23"/>
          <p:cNvSpPr/>
          <p:nvPr/>
        </p:nvSpPr>
        <p:spPr>
          <a:xfrm>
            <a:off x="6446520" y="4069080"/>
            <a:ext cx="548640" cy="548640"/>
          </a:xfrm>
          <a:prstGeom prst="ellipse">
            <a:avLst/>
          </a:prstGeom>
          <a:solidFill>
            <a:srgbClr val="4CAF50"/>
          </a:solidFill>
          <a:ln/>
          <a:effectLst>
            <a:outerShdw sx="100000" sy="100000" kx="0" ky="0" algn="bl" rotWithShape="0" blurRad="50800" dist="12700" dir="162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6446520" y="40690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7132320" y="4069080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4CAF50"/>
                </a:solidFill>
                <a:latin typeface="微软雅黑" pitchFamily="34" charset="0"/>
                <a:ea typeface="Arial Black" pitchFamily="34" charset="-122"/>
                <a:cs typeface="Arial Black" pitchFamily="34" charset="-120"/>
              </a:rPr>
              <a:t>对你有什么好处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492240" y="475488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季度测评，成长看得见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7040880" y="5303520"/>
            <a:ext cx="1097280" cy="320040"/>
          </a:xfrm>
          <a:prstGeom prst="roundRect">
            <a:avLst>
              <a:gd name="adj" fmla="val 14286"/>
            </a:avLst>
          </a:prstGeom>
          <a:solidFill>
            <a:srgbClr val="4CAF50"/>
          </a:solidFill>
          <a:ln/>
        </p:spPr>
        <p:txBody>
          <a:bodyPr/>
          <a:p/>
        </p:txBody>
      </p:sp>
      <p:sp>
        <p:nvSpPr>
          <p:cNvPr id="30" name="Text 28"/>
          <p:cNvSpPr/>
          <p:nvPr/>
        </p:nvSpPr>
        <p:spPr>
          <a:xfrm>
            <a:off x="7040880" y="530352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10秒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9098280" y="3931920"/>
            <a:ext cx="2560320" cy="1828800"/>
          </a:xfrm>
          <a:prstGeom prst="roundRect">
            <a:avLst>
              <a:gd name="adj" fmla="val 6000"/>
            </a:avLst>
          </a:prstGeom>
          <a:solidFill>
            <a:srgbClr val="1A2A50">
              <a:alpha val="70000"/>
            </a:srgbClr>
          </a:solidFill>
          <a:ln/>
          <a:effectLst>
            <a:outerShdw sx="100000" sy="100000" kx="0" ky="0" algn="bl" rotWithShape="0" blurRad="76200" dist="25400" dir="16200000">
              <a:srgbClr val="000000">
                <a:alpha val="15000"/>
              </a:srgbClr>
            </a:outerShdw>
          </a:effectLst>
        </p:spPr>
        <p:txBody>
          <a:bodyPr/>
          <a:p/>
        </p:txBody>
      </p:sp>
      <p:sp>
        <p:nvSpPr>
          <p:cNvPr id="32" name="Shape 30"/>
          <p:cNvSpPr/>
          <p:nvPr/>
        </p:nvSpPr>
        <p:spPr>
          <a:xfrm>
            <a:off x="9235440" y="4069080"/>
            <a:ext cx="548640" cy="548640"/>
          </a:xfrm>
          <a:prstGeom prst="ellipse">
            <a:avLst/>
          </a:prstGeom>
          <a:solidFill>
            <a:srgbClr val="FFB347"/>
          </a:solidFill>
          <a:ln/>
          <a:effectLst>
            <a:outerShdw sx="100000" sy="100000" kx="0" ky="0" algn="bl" rotWithShape="0" blurRad="50800" dist="12700" dir="162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33" name="Text 31"/>
          <p:cNvSpPr/>
          <p:nvPr/>
        </p:nvSpPr>
        <p:spPr>
          <a:xfrm>
            <a:off x="9235440" y="40690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34" name="Text 32"/>
          <p:cNvSpPr/>
          <p:nvPr/>
        </p:nvSpPr>
        <p:spPr>
          <a:xfrm>
            <a:off x="9921240" y="4069080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FFB347"/>
                </a:solidFill>
                <a:latin typeface="微软雅黑" pitchFamily="34" charset="0"/>
                <a:ea typeface="Arial Black" pitchFamily="34" charset="-122"/>
                <a:cs typeface="Arial Black" pitchFamily="34" charset="-120"/>
              </a:rPr>
              <a:t>行动号召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9281160" y="475488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邀请体验一节课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9829800" y="5303520"/>
            <a:ext cx="1097280" cy="320040"/>
          </a:xfrm>
          <a:prstGeom prst="roundRect">
            <a:avLst>
              <a:gd name="adj" fmla="val 14286"/>
            </a:avLst>
          </a:prstGeom>
          <a:solidFill>
            <a:srgbClr val="FFB347"/>
          </a:solidFill>
          <a:ln/>
        </p:spPr>
        <p:txBody>
          <a:bodyPr/>
          <a:p/>
        </p:txBody>
      </p:sp>
      <p:sp>
        <p:nvSpPr>
          <p:cNvPr id="37" name="Text 35"/>
          <p:cNvSpPr/>
          <p:nvPr/>
        </p:nvSpPr>
        <p:spPr>
          <a:xfrm>
            <a:off x="9829800" y="530352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5秒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0" y="6400800"/>
            <a:ext cx="12188952" cy="457200"/>
          </a:xfrm>
          <a:prstGeom prst="roundRect">
            <a:avLst>
              <a:gd name="adj" fmla="val 20000"/>
            </a:avLst>
          </a:prstGeom>
          <a:solidFill>
            <a:srgbClr val="1E2761"/>
          </a:solidFill>
          <a:ln/>
        </p:spPr>
        <p:txBody>
          <a:bodyPr/>
          <a:p/>
        </p:txBody>
      </p:sp>
      <p:sp>
        <p:nvSpPr>
          <p:cNvPr id="39" name="Text 37"/>
          <p:cNvSpPr/>
          <p:nvPr/>
        </p:nvSpPr>
        <p:spPr>
          <a:xfrm>
            <a:off x="457200" y="640080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追光小牛 · 销售培训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10360152" y="640080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11 / 13</a:t>
            </a:r>
            <a:endParaRPr lang="en-US" sz="900" dirty="0"/>
          </a:p>
        </p:txBody>
      </p:sp>
      <p:sp>
        <p:nvSpPr>
          <p:cNvPr id="41" name="Rectangle 40"/>
          <p:cNvSpPr/>
          <p:nvPr/>
        </p:nvSpPr>
        <p:spPr>
          <a:xfrm rot="20700000">
            <a:off x="243840" y="1028700"/>
            <a:ext cx="975360" cy="19050"/>
          </a:xfrm>
          <a:prstGeom prst="rect">
            <a:avLst/>
          </a:prstGeom>
          <a:solidFill>
            <a:srgbClr val="00E676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 rot="20700000">
            <a:off x="609600" y="1577339"/>
            <a:ext cx="1219200" cy="25400"/>
          </a:xfrm>
          <a:prstGeom prst="rect">
            <a:avLst/>
          </a:prstGeom>
          <a:solidFill>
            <a:srgbClr val="00E676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 rot="20700000">
            <a:off x="975360" y="2125980"/>
            <a:ext cx="1463040" cy="31750"/>
          </a:xfrm>
          <a:prstGeom prst="rect">
            <a:avLst/>
          </a:prstGeom>
          <a:solidFill>
            <a:srgbClr val="00E676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 rot="20700000">
            <a:off x="1341120" y="2674620"/>
            <a:ext cx="1706880" cy="38100"/>
          </a:xfrm>
          <a:prstGeom prst="rect">
            <a:avLst/>
          </a:prstGeom>
          <a:solidFill>
            <a:srgbClr val="00E676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Isosceles Triangle 44"/>
          <p:cNvSpPr/>
          <p:nvPr/>
        </p:nvSpPr>
        <p:spPr>
          <a:xfrm>
            <a:off x="10728960" y="0"/>
            <a:ext cx="1463040" cy="548640"/>
          </a:xfrm>
          <a:prstGeom prst="triangle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Isosceles Triangle 45"/>
          <p:cNvSpPr/>
          <p:nvPr/>
        </p:nvSpPr>
        <p:spPr>
          <a:xfrm rot="10800000">
            <a:off x="0" y="6309360"/>
            <a:ext cx="975360" cy="548640"/>
          </a:xfrm>
          <a:prstGeom prst="triangle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Arc 46"/>
          <p:cNvSpPr/>
          <p:nvPr/>
        </p:nvSpPr>
        <p:spPr>
          <a:xfrm>
            <a:off x="9997440" y="685800"/>
            <a:ext cx="2438400" cy="2057400"/>
          </a:xfrm>
          <a:prstGeom prst="arc">
            <a:avLst/>
          </a:prstGeom>
          <a:noFill/>
          <a:ln w="25400">
            <a:solidFill>
              <a:srgbClr val="FF6B35">
                <a:alpha val="25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0" y="6652260"/>
            <a:ext cx="12192000" cy="20574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oundRect">
            <a:avLst>
              <a:gd name="adj" fmla="val 125000"/>
            </a:avLst>
          </a:prstGeom>
          <a:solidFill>
            <a:srgbClr val="FF6B35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731520" y="457200"/>
            <a:ext cx="73152" cy="502920"/>
          </a:xfrm>
          <a:prstGeom prst="roundRect">
            <a:avLst>
              <a:gd name="adj" fmla="val 50000"/>
            </a:avLst>
          </a:prstGeom>
          <a:solidFill>
            <a:srgbClr val="FF6B35"/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96012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微软雅黑" pitchFamily="34" charset="0"/>
                <a:ea typeface="Arial Black" pitchFamily="34" charset="-122"/>
                <a:cs typeface="Arial Black" pitchFamily="34" charset="-120"/>
              </a:rPr>
              <a:t>本课要点回顾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960120" y="822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3个核心记忆点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731520" y="1371600"/>
            <a:ext cx="10515600" cy="1463040"/>
          </a:xfrm>
          <a:prstGeom prst="roundRect">
            <a:avLst>
              <a:gd name="adj" fmla="val 9375"/>
            </a:avLst>
          </a:prstGeom>
          <a:solidFill>
            <a:srgbClr val="1A2A50">
              <a:alpha val="70000"/>
            </a:srgbClr>
          </a:solidFill>
          <a:ln/>
          <a:effectLst>
            <a:outerShdw sx="100000" sy="100000" kx="0" ky="0" algn="bl" rotWithShape="0" blurRad="76200" dist="25400" dir="16200000">
              <a:srgbClr val="000000">
                <a:alpha val="15000"/>
              </a:srgbClr>
            </a:outerShdw>
          </a:effectLst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731520" y="1371600"/>
            <a:ext cx="109728" cy="1463040"/>
          </a:xfrm>
          <a:prstGeom prst="roundRect">
            <a:avLst>
              <a:gd name="adj" fmla="val 83333"/>
            </a:avLst>
          </a:prstGeom>
          <a:solidFill>
            <a:srgbClr val="FF6B35"/>
          </a:solidFill>
          <a:ln/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1097280" y="1600200"/>
            <a:ext cx="822960" cy="822960"/>
          </a:xfrm>
          <a:prstGeom prst="ellipse">
            <a:avLst/>
          </a:prstGeom>
          <a:solidFill>
            <a:srgbClr val="FF6B35"/>
          </a:solidFill>
          <a:ln/>
          <a:effectLst>
            <a:outerShdw sx="100000" sy="100000" kx="0" ky="0" algn="bl" rotWithShape="0" blurRad="50800" dist="12700" dir="162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1097280" y="160020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3600" dirty="0"/>
          </a:p>
        </p:txBody>
      </p:sp>
      <p:sp>
        <p:nvSpPr>
          <p:cNvPr id="10" name="Shape 8"/>
          <p:cNvSpPr/>
          <p:nvPr/>
        </p:nvSpPr>
        <p:spPr>
          <a:xfrm>
            <a:off x="2194560" y="1691640"/>
            <a:ext cx="548640" cy="548640"/>
          </a:xfrm>
          <a:prstGeom prst="ellipse">
            <a:avLst/>
          </a:prstGeom>
          <a:solidFill>
            <a:srgbClr val="FF6B3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2194560" y="16916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★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3017520" y="150876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000" b="1" dirty="0">
                <a:solidFill>
                  <a:srgbClr val="FF6B35"/>
                </a:solidFill>
                <a:latin typeface="微软雅黑" pitchFamily="34" charset="0"/>
                <a:ea typeface="Arial Black" pitchFamily="34" charset="-122"/>
                <a:cs typeface="Arial Black" pitchFamily="34" charset="-120"/>
              </a:rPr>
              <a:t>HLGP是我们的核心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3017520" y="2011680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Health健康 + Joy快乐 + Growth成长 + Professional专业</a:t>
            </a:r>
            <a:endParaRPr lang="en-US" sz="1200" dirty="0"/>
          </a:p>
          <a:p>
            <a:pPr algn="l"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区别于传统体培的单一训练，关注孩子全面发展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31520" y="3017520"/>
            <a:ext cx="10515600" cy="1463040"/>
          </a:xfrm>
          <a:prstGeom prst="roundRect">
            <a:avLst>
              <a:gd name="adj" fmla="val 9375"/>
            </a:avLst>
          </a:prstGeom>
          <a:solidFill>
            <a:srgbClr val="1A2A50">
              <a:alpha val="70000"/>
            </a:srgbClr>
          </a:solidFill>
          <a:ln/>
          <a:effectLst>
            <a:outerShdw sx="100000" sy="100000" kx="0" ky="0" algn="bl" rotWithShape="0" blurRad="76200" dist="25400" dir="16200000">
              <a:srgbClr val="000000">
                <a:alpha val="15000"/>
              </a:srgbClr>
            </a:outerShdw>
          </a:effectLst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731520" y="3017520"/>
            <a:ext cx="109728" cy="1463040"/>
          </a:xfrm>
          <a:prstGeom prst="roundRect">
            <a:avLst>
              <a:gd name="adj" fmla="val 83333"/>
            </a:avLst>
          </a:prstGeom>
          <a:solidFill>
            <a:srgbClr val="1E2761"/>
          </a:solidFill>
          <a:ln/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>
            <a:off x="1097280" y="3246120"/>
            <a:ext cx="822960" cy="822960"/>
          </a:xfrm>
          <a:prstGeom prst="ellipse">
            <a:avLst/>
          </a:prstGeom>
          <a:solidFill>
            <a:srgbClr val="1E2761"/>
          </a:solidFill>
          <a:ln/>
          <a:effectLst>
            <a:outerShdw sx="100000" sy="100000" kx="0" ky="0" algn="bl" rotWithShape="0" blurRad="50800" dist="12700" dir="162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1097280" y="324612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3600" dirty="0"/>
          </a:p>
        </p:txBody>
      </p:sp>
      <p:sp>
        <p:nvSpPr>
          <p:cNvPr id="18" name="Shape 16"/>
          <p:cNvSpPr/>
          <p:nvPr/>
        </p:nvSpPr>
        <p:spPr>
          <a:xfrm>
            <a:off x="2194560" y="333756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2194560" y="33375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◆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3017520" y="315468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微软雅黑" pitchFamily="34" charset="0"/>
                <a:ea typeface="Arial Black" pitchFamily="34" charset="-122"/>
                <a:cs typeface="Arial Black" pitchFamily="34" charset="-120"/>
              </a:rPr>
              <a:t>科学分龄+固定班级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3017520" y="3657600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4个年龄段精准匹配，1:6师资配比</a:t>
            </a:r>
            <a:endParaRPr lang="en-US" sz="1200" dirty="0"/>
          </a:p>
          <a:p>
            <a:pPr algn="l"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季度测评报告让成长可视化，这是续费的关键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731520" y="4663440"/>
            <a:ext cx="10515600" cy="1463040"/>
          </a:xfrm>
          <a:prstGeom prst="roundRect">
            <a:avLst>
              <a:gd name="adj" fmla="val 9375"/>
            </a:avLst>
          </a:prstGeom>
          <a:solidFill>
            <a:srgbClr val="1A2A50">
              <a:alpha val="70000"/>
            </a:srgbClr>
          </a:solidFill>
          <a:ln/>
          <a:effectLst>
            <a:outerShdw sx="100000" sy="100000" kx="0" ky="0" algn="bl" rotWithShape="0" blurRad="76200" dist="25400" dir="16200000">
              <a:srgbClr val="000000">
                <a:alpha val="15000"/>
              </a:srgbClr>
            </a:outerShdw>
          </a:effectLst>
        </p:spPr>
        <p:txBody>
          <a:bodyPr/>
          <a:p/>
        </p:txBody>
      </p:sp>
      <p:sp>
        <p:nvSpPr>
          <p:cNvPr id="23" name="Shape 21"/>
          <p:cNvSpPr/>
          <p:nvPr/>
        </p:nvSpPr>
        <p:spPr>
          <a:xfrm>
            <a:off x="731520" y="4663440"/>
            <a:ext cx="109728" cy="1463040"/>
          </a:xfrm>
          <a:prstGeom prst="roundRect">
            <a:avLst>
              <a:gd name="adj" fmla="val 83333"/>
            </a:avLst>
          </a:prstGeom>
          <a:solidFill>
            <a:srgbClr val="4CAF50"/>
          </a:solidFill>
          <a:ln/>
        </p:spPr>
        <p:txBody>
          <a:bodyPr/>
          <a:p/>
        </p:txBody>
      </p:sp>
      <p:sp>
        <p:nvSpPr>
          <p:cNvPr id="24" name="Shape 22"/>
          <p:cNvSpPr/>
          <p:nvPr/>
        </p:nvSpPr>
        <p:spPr>
          <a:xfrm>
            <a:off x="1097280" y="4892040"/>
            <a:ext cx="822960" cy="822960"/>
          </a:xfrm>
          <a:prstGeom prst="ellipse">
            <a:avLst/>
          </a:prstGeom>
          <a:solidFill>
            <a:srgbClr val="4CAF50"/>
          </a:solidFill>
          <a:ln/>
          <a:effectLst>
            <a:outerShdw sx="100000" sy="100000" kx="0" ky="0" algn="bl" rotWithShape="0" blurRad="50800" dist="12700" dir="162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1097280" y="489204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3600" dirty="0"/>
          </a:p>
        </p:txBody>
      </p:sp>
      <p:sp>
        <p:nvSpPr>
          <p:cNvPr id="26" name="Shape 24"/>
          <p:cNvSpPr/>
          <p:nvPr/>
        </p:nvSpPr>
        <p:spPr>
          <a:xfrm>
            <a:off x="2194560" y="4983480"/>
            <a:ext cx="548640" cy="548640"/>
          </a:xfrm>
          <a:prstGeom prst="ellipse">
            <a:avLst/>
          </a:prstGeom>
          <a:solidFill>
            <a:srgbClr val="4CAF50"/>
          </a:solidFill>
          <a:ln/>
        </p:spPr>
        <p:txBody>
          <a:bodyPr/>
          <a:p/>
        </p:txBody>
      </p:sp>
      <p:sp>
        <p:nvSpPr>
          <p:cNvPr id="27" name="Text 25"/>
          <p:cNvSpPr/>
          <p:nvPr/>
        </p:nvSpPr>
        <p:spPr>
          <a:xfrm>
            <a:off x="2194560" y="49834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3017520" y="480060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000" b="1" dirty="0">
                <a:solidFill>
                  <a:srgbClr val="4CAF50"/>
                </a:solidFill>
                <a:latin typeface="微软雅黑" pitchFamily="34" charset="0"/>
                <a:ea typeface="Arial Black" pitchFamily="34" charset="-122"/>
                <a:cs typeface="Arial Black" pitchFamily="34" charset="-120"/>
              </a:rPr>
              <a:t>FAB思维贯穿销售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3017520" y="5303520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每个卖点都要说清：这是什么→为什么好→对客户有什么好处</a:t>
            </a:r>
            <a:endParaRPr lang="en-US" sz="1200" dirty="0"/>
          </a:p>
          <a:p>
            <a:pPr algn="l"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先认同家长，再展示差异，最后邀请体验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731520" y="6309360"/>
            <a:ext cx="10515600" cy="365760"/>
          </a:xfrm>
          <a:prstGeom prst="roundRect">
            <a:avLst>
              <a:gd name="adj" fmla="val 20000"/>
            </a:avLst>
          </a:prstGeom>
          <a:solidFill>
            <a:srgbClr val="FF6B35"/>
          </a:solidFill>
          <a:ln/>
        </p:spPr>
        <p:txBody>
          <a:bodyPr/>
          <a:p/>
        </p:txBody>
      </p:sp>
      <p:sp>
        <p:nvSpPr>
          <p:cNvPr id="31" name="Text 29"/>
          <p:cNvSpPr/>
          <p:nvPr/>
        </p:nvSpPr>
        <p:spPr>
          <a:xfrm>
            <a:off x="731520" y="630936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记住这三个核心，你就能自信地面对任何家长的提问！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0" y="6400800"/>
            <a:ext cx="12188952" cy="457200"/>
          </a:xfrm>
          <a:prstGeom prst="roundRect">
            <a:avLst>
              <a:gd name="adj" fmla="val 20000"/>
            </a:avLst>
          </a:prstGeom>
          <a:solidFill>
            <a:srgbClr val="1E2761"/>
          </a:solidFill>
          <a:ln/>
        </p:spPr>
        <p:txBody>
          <a:bodyPr/>
          <a:p/>
        </p:txBody>
      </p:sp>
      <p:sp>
        <p:nvSpPr>
          <p:cNvPr id="33" name="Text 31"/>
          <p:cNvSpPr/>
          <p:nvPr/>
        </p:nvSpPr>
        <p:spPr>
          <a:xfrm>
            <a:off x="457200" y="640080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追光小牛 · 销售培训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10360152" y="640080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12 / 13</a:t>
            </a:r>
            <a:endParaRPr lang="en-US" sz="900" dirty="0"/>
          </a:p>
        </p:txBody>
      </p:sp>
      <p:sp>
        <p:nvSpPr>
          <p:cNvPr id="35" name="Rectangle 34"/>
          <p:cNvSpPr/>
          <p:nvPr/>
        </p:nvSpPr>
        <p:spPr>
          <a:xfrm rot="20700000">
            <a:off x="243840" y="1028700"/>
            <a:ext cx="975360" cy="19050"/>
          </a:xfrm>
          <a:prstGeom prst="rect">
            <a:avLst/>
          </a:prstGeom>
          <a:solidFill>
            <a:srgbClr val="00E676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 rot="20700000">
            <a:off x="609600" y="1577339"/>
            <a:ext cx="1219200" cy="25400"/>
          </a:xfrm>
          <a:prstGeom prst="rect">
            <a:avLst/>
          </a:prstGeom>
          <a:solidFill>
            <a:srgbClr val="00E676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0" y="0"/>
            <a:ext cx="12192000" cy="54864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3200400"/>
          </a:xfrm>
          <a:prstGeom prst="roundRect">
            <a:avLst>
              <a:gd name="adj" fmla="val 2857"/>
            </a:avLst>
          </a:prstGeom>
          <a:solidFill>
            <a:srgbClr val="FF6B35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9144000" y="274320"/>
            <a:ext cx="1371600" cy="1371600"/>
          </a:xfrm>
          <a:prstGeom prst="ellipse">
            <a:avLst/>
          </a:prstGeom>
          <a:solidFill>
            <a:srgbClr val="FF8C5A"/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914400" y="2286000"/>
            <a:ext cx="914400" cy="914400"/>
          </a:xfrm>
          <a:prstGeom prst="ellipse">
            <a:avLst/>
          </a:prstGeom>
          <a:solidFill>
            <a:srgbClr val="E55A25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10515600" y="2560320"/>
            <a:ext cx="548640" cy="548640"/>
          </a:xfrm>
          <a:prstGeom prst="ellipse">
            <a:avLst/>
          </a:prstGeom>
          <a:solidFill>
            <a:srgbClr val="FF8C5A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0" y="731520"/>
            <a:ext cx="1218895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微软雅黑" pitchFamily="34" charset="0"/>
                <a:ea typeface="Arial Black" pitchFamily="34" charset="-122"/>
                <a:cs typeface="Arial Black" pitchFamily="34" charset="-120"/>
              </a:rPr>
              <a:t>感谢学习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0" y="1645920"/>
            <a:ext cx="121889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FFD4BC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第一课 · 品牌与产品认知  —  完成！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5029200" y="2377440"/>
            <a:ext cx="2103120" cy="54864"/>
          </a:xfrm>
          <a:prstGeom prst="roundRect">
            <a:avLst>
              <a:gd name="adj" fmla="val 166667"/>
            </a:avLst>
          </a:prstGeom>
          <a:solidFill>
            <a:srgbClr val="1A2A50">
              <a:alpha val="70000"/>
            </a:srgbClr>
          </a:solidFill>
          <a:ln/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1371600" y="3657600"/>
            <a:ext cx="4572000" cy="2286000"/>
          </a:xfrm>
          <a:prstGeom prst="roundRect">
            <a:avLst>
              <a:gd name="adj" fmla="val 6000"/>
            </a:avLst>
          </a:prstGeom>
          <a:solidFill>
            <a:srgbClr val="1A2A50">
              <a:alpha val="70000"/>
            </a:srgbClr>
          </a:solidFill>
          <a:ln/>
          <a:effectLst>
            <a:outerShdw sx="100000" sy="100000" kx="0" ky="0" algn="bl" rotWithShape="0" blurRad="76200" dist="25400" dir="16200000">
              <a:srgbClr val="000000">
                <a:alpha val="15000"/>
              </a:srgbClr>
            </a:outerShdw>
          </a:effectLst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1371600" y="3657600"/>
            <a:ext cx="4572000" cy="548640"/>
          </a:xfrm>
          <a:prstGeom prst="roundRect">
            <a:avLst>
              <a:gd name="adj" fmla="val 16667"/>
            </a:avLst>
          </a:prstGeom>
          <a:solidFill>
            <a:srgbClr val="1E2761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1371600" y="365760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微软雅黑" pitchFamily="34" charset="0"/>
                <a:ea typeface="Arial Black" pitchFamily="34" charset="-122"/>
                <a:cs typeface="Arial Black" pitchFamily="34" charset="-120"/>
              </a:rPr>
              <a:t>下节课预告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645920" y="4389120"/>
            <a:ext cx="40233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第二课：销售流程与沟通技巧</a:t>
            </a:r>
            <a:endParaRPr lang="en-US" sz="1300" dirty="0"/>
          </a:p>
          <a:p>
            <a:pPr algn="l" indent="0" marL="0">
              <a:lnSpc>
                <a:spcPct val="150000"/>
              </a:lnSpc>
              <a:buNone/>
            </a:pPr>
            <a:endParaRPr lang="en-US" sz="1300" dirty="0"/>
          </a:p>
          <a:p>
            <a:pPr algn="l"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· 到店接待标准流程</a:t>
            </a:r>
            <a:endParaRPr lang="en-US" sz="1300" dirty="0"/>
          </a:p>
          <a:p>
            <a:pPr algn="l"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· 需求探寻SPIN话术</a:t>
            </a:r>
            <a:endParaRPr lang="en-US" sz="1300" dirty="0"/>
          </a:p>
          <a:p>
            <a:pPr algn="l"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· 体验课转化技巧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217920" y="3657600"/>
            <a:ext cx="4572000" cy="2286000"/>
          </a:xfrm>
          <a:prstGeom prst="roundRect">
            <a:avLst>
              <a:gd name="adj" fmla="val 6000"/>
            </a:avLst>
          </a:prstGeom>
          <a:solidFill>
            <a:srgbClr val="1A2A50">
              <a:alpha val="70000"/>
            </a:srgbClr>
          </a:solidFill>
          <a:ln/>
          <a:effectLst>
            <a:outerShdw sx="100000" sy="100000" kx="0" ky="0" algn="bl" rotWithShape="0" blurRad="76200" dist="25400" dir="16200000">
              <a:srgbClr val="000000">
                <a:alpha val="15000"/>
              </a:srgbClr>
            </a:outerShdw>
          </a:effectLst>
        </p:spPr>
        <p:txBody>
          <a:bodyPr/>
          <a:p/>
        </p:txBody>
      </p:sp>
      <p:sp>
        <p:nvSpPr>
          <p:cNvPr id="14" name="Shape 12"/>
          <p:cNvSpPr/>
          <p:nvPr/>
        </p:nvSpPr>
        <p:spPr>
          <a:xfrm>
            <a:off x="6217920" y="3657600"/>
            <a:ext cx="4572000" cy="548640"/>
          </a:xfrm>
          <a:prstGeom prst="roundRect">
            <a:avLst>
              <a:gd name="adj" fmla="val 16667"/>
            </a:avLst>
          </a:prstGeom>
          <a:solidFill>
            <a:srgbClr val="FF6B3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6217920" y="365760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微软雅黑" pitchFamily="34" charset="0"/>
                <a:ea typeface="Arial Black" pitchFamily="34" charset="-122"/>
                <a:cs typeface="Arial Black" pitchFamily="34" charset="-120"/>
              </a:rPr>
              <a:t>行动任务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492240" y="4389120"/>
            <a:ext cx="40233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课后请完成：</a:t>
            </a:r>
            <a:endParaRPr lang="en-US" sz="1300" dirty="0"/>
          </a:p>
          <a:p>
            <a:pPr algn="l" indent="0" marL="0">
              <a:lnSpc>
                <a:spcPct val="150000"/>
              </a:lnSpc>
              <a:buNone/>
            </a:pPr>
            <a:endParaRPr lang="en-US" sz="1300" dirty="0"/>
          </a:p>
          <a:p>
            <a:pPr algn="l"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1. 背诵HLGP四大维度</a:t>
            </a:r>
            <a:endParaRPr lang="en-US" sz="1300" dirty="0"/>
          </a:p>
          <a:p>
            <a:pPr algn="l"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2. 练习30秒电梯话术</a:t>
            </a:r>
            <a:endParaRPr lang="en-US" sz="1300" dirty="0"/>
          </a:p>
          <a:p>
            <a:pPr algn="l"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3. 模拟家长问答演练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0" y="6400800"/>
            <a:ext cx="12188952" cy="457200"/>
          </a:xfrm>
          <a:prstGeom prst="roundRect">
            <a:avLst>
              <a:gd name="adj" fmla="val 20000"/>
            </a:avLst>
          </a:prstGeom>
          <a:solidFill>
            <a:srgbClr val="1E2761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457200" y="640080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追光小牛 · 销售培训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0360152" y="640080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13 / 13</a:t>
            </a:r>
            <a:endParaRPr lang="en-US" sz="900" dirty="0"/>
          </a:p>
        </p:txBody>
      </p:sp>
      <p:sp>
        <p:nvSpPr>
          <p:cNvPr id="20" name="Rectangle 19"/>
          <p:cNvSpPr/>
          <p:nvPr/>
        </p:nvSpPr>
        <p:spPr>
          <a:xfrm rot="20700000">
            <a:off x="243840" y="1028700"/>
            <a:ext cx="975360" cy="19050"/>
          </a:xfrm>
          <a:prstGeom prst="rect">
            <a:avLst/>
          </a:prstGeom>
          <a:solidFill>
            <a:srgbClr val="00E676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0700000">
            <a:off x="609600" y="1577339"/>
            <a:ext cx="1219200" cy="25400"/>
          </a:xfrm>
          <a:prstGeom prst="rect">
            <a:avLst/>
          </a:prstGeom>
          <a:solidFill>
            <a:srgbClr val="00E676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0700000">
            <a:off x="975360" y="2125980"/>
            <a:ext cx="1463040" cy="31750"/>
          </a:xfrm>
          <a:prstGeom prst="rect">
            <a:avLst/>
          </a:prstGeom>
          <a:solidFill>
            <a:srgbClr val="00E676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Isosceles Triangle 22"/>
          <p:cNvSpPr/>
          <p:nvPr/>
        </p:nvSpPr>
        <p:spPr>
          <a:xfrm rot="10800000">
            <a:off x="0" y="6309360"/>
            <a:ext cx="975360" cy="548640"/>
          </a:xfrm>
          <a:prstGeom prst="triangle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0" y="0"/>
            <a:ext cx="12192000" cy="54864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追光小牛·销售培训 — 第一课：品牌与产品认知</dc:title>
  <dc:subject>PptxGenJS Presentation</dc:subject>
  <dc:creator>追光小牛</dc:creator>
  <cp:lastModifiedBy>追光小牛</cp:lastModifiedBy>
  <cp:revision>1</cp:revision>
  <dcterms:created xsi:type="dcterms:W3CDTF">2026-04-18T17:06:25Z</dcterms:created>
  <dcterms:modified xsi:type="dcterms:W3CDTF">2026-04-18T17:06:25Z</dcterms:modified>
</cp:coreProperties>
</file>