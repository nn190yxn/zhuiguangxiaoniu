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" cy="2926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销售培训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228600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第八课：销售目标管理与自我提升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890B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Sales Target Management &amp; Self-Improvement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FF6B35">
              <a:alpha val="15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0" y="2926080"/>
            <a:ext cx="1097280" cy="1097280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2" name="Rectangle 1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0700000">
            <a:off x="1005840" y="2005965"/>
            <a:ext cx="128016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7498080" y="514350"/>
            <a:ext cx="1828800" cy="154305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989195"/>
            <a:ext cx="9144000" cy="15430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课程目录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8745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74420" y="14630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44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目标分解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28700" y="27889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年度目标拆解与季度分配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18745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13182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318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销售漏斗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86100" y="27889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517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线索到成交的全链路分析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18745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189220" y="14630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892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营销节点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43500" y="27889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091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5大关键营销节点与周年庆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1188720"/>
            <a:ext cx="1874520" cy="320040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24662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2466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22860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自我管理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00900" y="2788920"/>
            <a:ext cx="73152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665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时间管理、复盘与成长路径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为什么要做目标管理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Why Target Management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126187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261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目标高于历史10%-20%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销售目标设定为去年同期业绩的110%-120%，确保持续增长动力，而非维持现状。目标不是天花板，而是跳板。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560320" cy="34747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5603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83280" y="126187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1261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A 优势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有目标才有方向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938528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明确的目标让每日工作有重点，避免盲目忙碌。知道自己要到哪里，才能规划最优路线，提高每一步的效率。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560320" cy="347472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560320" cy="54864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72200" y="126187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E8913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72200" y="1261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达标拿销冠和年度奖金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1938528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完成目标意味着收入翻倍：月度奖金 + 季度激励 + 年终大奖。销冠不仅有荣誉，更有实实在在的回报。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年度目标分解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Annual Target Breakdown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87452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1-3月 | 蓄力期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051560"/>
            <a:ext cx="187452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0604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06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4-6月 | 爆发期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187452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7-9月 | 巩固期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051560"/>
            <a:ext cx="1874520" cy="146304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629400" y="1051560"/>
            <a:ext cx="187452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20840" y="11612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208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10-12月 | 冲刺期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8229600" cy="36576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2926080"/>
            <a:ext cx="1371600" cy="457200"/>
          </a:xfrm>
          <a:prstGeom prst="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720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门店年度目标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103120" y="2926080"/>
            <a:ext cx="1371600" cy="457200"/>
          </a:xfrm>
          <a:prstGeom prst="rect">
            <a:avLst>
              <a:gd name="adj" fmla="val 12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10312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季度目标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&gt;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49040" y="2926080"/>
            <a:ext cx="1371600" cy="457200"/>
          </a:xfrm>
          <a:prstGeom prst="rect">
            <a:avLst>
              <a:gd name="adj" fmla="val 12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74904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月度目标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&gt;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94960" y="2926080"/>
            <a:ext cx="1371600" cy="457200"/>
          </a:xfrm>
          <a:prstGeom prst="rect">
            <a:avLst>
              <a:gd name="adj" fmla="val 12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3949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周目标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&gt;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40880" y="2926080"/>
            <a:ext cx="1371600" cy="457200"/>
          </a:xfrm>
          <a:prstGeom prst="rect">
            <a:avLst>
              <a:gd name="adj" fmla="val 12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04088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日目标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目标逐级拆解到每日  |  A: 每天有明确任务量  |  B: 日积月累达成月度/年度目标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顾问核心KDI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87452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3000" y="1234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月新增预约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1600200" cy="365760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&gt;=44个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每日新增2个有效预约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持续获客保证漏斗顶部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预约量决定成交上限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1051560"/>
            <a:ext cx="187452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体验到店率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2194560"/>
            <a:ext cx="1600200" cy="365760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517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&gt;=70%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51760" y="269748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预约客户到店体验比例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高到店率减少资源浪费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更多体验机会=更多成交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187452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257800" y="1234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578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1600200" cy="365760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091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&gt;=30%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269748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体验客户签约比例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高转化体现专业能力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同样体验量收入翻倍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29400" y="1051560"/>
            <a:ext cx="187452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0" y="1234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084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月新签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2194560"/>
            <a:ext cx="1600200" cy="365760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7665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&gt;=门店目标60%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6560" y="269748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每月新签合同数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达标保障个人收入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稳定达标=销冠候选人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销售漏斗分析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Sales Funnel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051560"/>
            <a:ext cx="7315200" cy="457200"/>
          </a:xfrm>
          <a:prstGeom prst="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线索获取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6760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1618488"/>
            <a:ext cx="5943600" cy="457200"/>
          </a:xfrm>
          <a:prstGeom prst="rect">
            <a:avLst>
              <a:gd name="adj" fmla="val 8000"/>
            </a:avLst>
          </a:prstGeom>
          <a:solidFill>
            <a:srgbClr val="2A3A7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00200" y="16184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有效沟通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1618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3A7C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185416"/>
            <a:ext cx="4572000" cy="457200"/>
          </a:xfrm>
          <a:prstGeom prst="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86000" y="2185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预约体验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1854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752344"/>
            <a:ext cx="3474720" cy="457200"/>
          </a:xfrm>
          <a:prstGeom prst="rect">
            <a:avLst>
              <a:gd name="adj" fmla="val 8000"/>
            </a:avLst>
          </a:prstGeom>
          <a:solidFill>
            <a:srgbClr val="FF8C5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34640" y="27523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到店体验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523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C5A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319272"/>
            <a:ext cx="2560320" cy="457200"/>
          </a:xfrm>
          <a:prstGeom prst="rect">
            <a:avLst>
              <a:gd name="adj" fmla="val 8000"/>
            </a:avLst>
          </a:prstGeom>
          <a:solidFill>
            <a:srgbClr val="E8913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291840" y="3319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成交签约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319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913A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特性：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5级漏斗层层筛选，数据可视化追踪 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优势：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快速定位流失环节，精准优化 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8913A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利益：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提升整体转化率，用数据驱动业绩增长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如何提升转化率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Conversion Rate Optimization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77640" cy="1783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54864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188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提升线索质量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6459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精准筛选目标客户画像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6B35"/>
                </a:solidFill>
              </a:rPr>
              <a:t>A: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减少无效沟通时间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8913A"/>
                </a:solidFill>
              </a:rPr>
              <a:t>B: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同样时间产出更多有效预约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3977640" cy="1783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00600" y="11887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006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11887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提高到店率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6459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3次以上触达+场景化邀约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6B35"/>
                </a:solidFill>
              </a:rPr>
              <a:t>A: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客户期待感增强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8913A"/>
                </a:solidFill>
              </a:rPr>
              <a:t>B: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到店率从50%提升至70%+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977640" cy="1783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017520"/>
            <a:ext cx="54864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优化体验质量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611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标准化体验流程+个性化服务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6B35"/>
                </a:solidFill>
              </a:rPr>
              <a:t>A: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客户信任度大幅提升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8913A"/>
                </a:solidFill>
              </a:rPr>
              <a:t>B: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体验后签约意愿翻倍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3977640" cy="1783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17720" y="301752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00600" y="31546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006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强化促单技巧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6118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限时优惠+痛点激发+从众心理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6B35"/>
                </a:solidFill>
              </a:rPr>
              <a:t>A: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把握最佳成交时机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FFFFFF"/>
                </a:solidFill>
              </a:rPr>
              <a:t>
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E8913A"/>
                </a:solidFill>
              </a:rPr>
              <a:t>B: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转化率稳定在30%以上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5大营销节点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Key Marketing Milestones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50876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1508760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开学季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新生家长精准获客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" y="3154680"/>
            <a:ext cx="1005840" cy="292608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866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常规节点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1051560"/>
            <a:ext cx="1508760" cy="256032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103120" y="1051560"/>
            <a:ext cx="15087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周年庆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94560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E0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全年最大获客节点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54580" y="3154680"/>
            <a:ext cx="1005840" cy="292608"/>
          </a:xfrm>
          <a:prstGeom prst="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35458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全年重点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051560"/>
            <a:ext cx="150876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749040" y="1051560"/>
            <a:ext cx="1508760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4904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9月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开学季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秋季新生转化冲刺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00500" y="3154680"/>
            <a:ext cx="1005840" cy="292608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0050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常规节点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1051560"/>
            <a:ext cx="150876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394960" y="1051560"/>
            <a:ext cx="1508760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9496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11月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双十一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0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线上引流+线下转化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46420" y="3154680"/>
            <a:ext cx="1005840" cy="292608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4642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重要节点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1051560"/>
            <a:ext cx="1508760" cy="256032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040880" y="1051560"/>
            <a:ext cx="1508760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40880" y="1051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12月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232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收官季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32320" y="21031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年度目标冲刺+续费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92340" y="3154680"/>
            <a:ext cx="1005840" cy="292608"/>
          </a:xfrm>
          <a:prstGeom prst="rect">
            <a:avLst>
              <a:gd name="adj" fmla="val 12500"/>
            </a:avLst>
          </a:prstGeom>
          <a:solidFill>
            <a:srgbClr val="FFF0E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292340" y="3154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关键节点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4360" y="38862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 特性：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全年5大节点覆盖获客高峰  |  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 优势：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提前布局抢占市场先机  |  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913A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 利益：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节点业绩占全年60%以上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周年庆专项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Anniversary Campaign - 5.25~6.15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029200" cy="3566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50292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280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全年最大获客节点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5月25日 - 6月15日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提前4周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策划方案确认、物料准备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770632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7280" y="2724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预热推广、老客户邀约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09544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1638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提前2周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163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线上投放、社群裂变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648456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7280" y="36027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提前1周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到店预约锁定、体验排期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087368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97280" y="4041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活动期间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全力接待、快速促单转化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1051560"/>
            <a:ext cx="2880360" cy="169164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715000" y="1051560"/>
            <a:ext cx="288036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852160" y="121615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52160" y="12161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F 特性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全年最大获客窗口期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189280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周年庆是品牌曝光度最高的时期，客户关注度集中，获客成本最低，转化效率最高。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15000" y="2926080"/>
            <a:ext cx="2880360" cy="1691640"/>
          </a:xfrm>
          <a:prstGeom prst="rect">
            <a:avLst/>
          </a:prstGeom>
          <a:solidFill>
            <a:srgbClr val="1A2A50">
              <a:alpha val="70000"/>
            </a:srgbClr>
          </a:solidFill>
          <a:ln w="6350">
            <a:solidFill>
              <a:srgbClr val="E8E0D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715000" y="2926080"/>
            <a:ext cx="288036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852160" y="309067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85216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B 利益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单月业绩可达平时3倍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376732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提前4周充分准备，活动期间全力冲刺，单月业绩有机会达到平时的2-3倍，直接冲击销冠。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每日时间管理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Daily Time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2606040" cy="640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051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上午  9:00-12:00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线索回访 + 电话邀约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回访昨日新增线索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拨打意向客户电话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发送体验邀约信息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2331720" cy="27432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客户活跃度最高时段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邀约成功率提升40%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每日锁定2-3个预约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0604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60604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1051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下午  14:00-18:00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到店接待 + 体验课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接待预约到店客户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引导体验课程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一对一方案沟通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331720" cy="27432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328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黄金成交时间段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面对面建立深度信任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体验转化率最高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051560"/>
            <a:ext cx="260604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035040" y="1051560"/>
            <a:ext cx="2606040" cy="6400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72200" y="1051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晚上  19:00-21:00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跟进 + 系统录入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跟进当日体验客户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录入CRM系统数据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制定次日工作计划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017520"/>
            <a:ext cx="2331720" cy="27432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7220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趁热打铁黄金窗口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数据驱动次日决策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不遗漏任何一个线索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每周复盘模板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Weekly Review Template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874520" cy="2926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18745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6586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658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本周数据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20140" y="2148840"/>
            <a:ext cx="548640" cy="274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新增预约数 / 到店体验数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成交签约数 / 总业绩金额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各KDI指标完成率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051560"/>
            <a:ext cx="1874520" cy="2926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14600" y="1051560"/>
            <a:ext cx="18745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23260" y="1234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232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达标分析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77540" y="2148840"/>
            <a:ext cx="548640" cy="274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5176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达标项：哪些做对了？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未达标项：差距在哪里？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同比/环比变化趋势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1874520" cy="2926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18745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28066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806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问题诊断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34940" y="2148840"/>
            <a:ext cx="548640" cy="274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0916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流失客户原因分析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转化瓶颈环节定位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外部因素影响评估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1051560"/>
            <a:ext cx="1874520" cy="2926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629400" y="1051560"/>
            <a:ext cx="18745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38060" y="1234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380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下周计划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92340" y="2148840"/>
            <a:ext cx="548640" cy="2743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66560" y="2286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明确下周核心目标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制定改进措施与行动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预约排期与重点客户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结构化复盘模板  |  A: 问题可视化、改进有方向  |  B: 每周进步一点点，月度业绩稳步提升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从新人到销冠的成长路径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Growth Path: Newcomer to Top Sales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50876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051560"/>
            <a:ext cx="15087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第1月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跟岗学习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熟悉产品与流程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跟随资深顾问学习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完成基础培训考核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1234440" cy="18288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92608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系统化培训体系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快速上手减少试错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第1个月就有信心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03120" y="1051560"/>
            <a:ext cx="150876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103120" y="1051560"/>
            <a:ext cx="15087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0312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第2月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独立作业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1965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独立接待客户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开始积累客户资源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达成基础KDI指标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40280" y="2834640"/>
            <a:ext cx="1234440" cy="18288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94560" y="292608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导师1对1辅导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遇到问题有人帮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快速建立客户信任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1051560"/>
            <a:ext cx="150876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749040" y="1051560"/>
            <a:ext cx="15087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74904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第3月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达标冲刺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1965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月度目标达成率100%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转化率稳定30%+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形成个人销售风格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86200" y="2834640"/>
            <a:ext cx="1234440" cy="18288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40480" y="292608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数据反馈优化策略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精准定位提升效率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收入达到行业平均水平以上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94960" y="1051560"/>
            <a:ext cx="150876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394960" y="1051560"/>
            <a:ext cx="15087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496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第4月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冲击销冠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1965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月度目标超越120%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客户转介绍率提升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带教新同事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32120" y="2834640"/>
            <a:ext cx="1234440" cy="18288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86400" y="292608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丰富经验+客户积累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成交效率行业领先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月收入突破新高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03720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&gt;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040880" y="1051560"/>
            <a:ext cx="1508760" cy="356616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040880" y="1051560"/>
            <a:ext cx="1508760" cy="45720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04088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持续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3232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保持优秀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19659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持续学习与精进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客户满意度行业标杆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成为团队标杆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78040" y="2834640"/>
            <a:ext cx="1234440" cy="18288"/>
          </a:xfrm>
          <a:prstGeom prst="rect">
            <a:avLst/>
          </a:prstGeom>
          <a:solidFill>
            <a:srgbClr val="F5F0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132320" y="292608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F: 终身成长机制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A: 行业竞争力持续增强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B: 职业发展空间无限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8课总结回顾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Complete Course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188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品牌与产品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了解追光小牛品牌故事与产品体系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0515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651760" y="1188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517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188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客户画像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精准识别目标客户群体与需求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091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1188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沟通技巧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掌握高效沟通与需求挖掘方法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0515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766560" y="1188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188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体验课流程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6459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标准化体验课接待与服务流程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异议处理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化解客户顾虑，建立信任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28803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651760" y="3017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517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促单成交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5176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把握时机，高效促成签约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2880360"/>
            <a:ext cx="1874520" cy="1600200"/>
          </a:xfrm>
          <a:prstGeom prst="rect">
            <a:avLst/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709160" y="3017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7091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客户维护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0916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老客户经营与转介绍裂变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2880360"/>
            <a:ext cx="1874520" cy="160020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766560" y="3017520"/>
            <a:ext cx="365760" cy="365760"/>
          </a:xfrm>
          <a:prstGeom prst="ellipse">
            <a:avLst/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7665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2376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目标管理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3474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E0D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目标分解、漏斗分析与自我提升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8" name="Rectangle 47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0" y="3474720"/>
            <a:ext cx="1828800" cy="1618780"/>
          </a:xfrm>
          <a:prstGeom prst="ellipse">
            <a:avLst/>
          </a:prstGeom>
          <a:solidFill>
            <a:srgbClr val="FF6B35">
              <a:alpha val="8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D6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毕业寄语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追光而行，不负热爱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8CEE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每一个销冠，都曾是咬牙坚持的新人。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8CEE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从今天起，把目标刻在心里，把行动落在脚下。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8CEE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你的成长，就是追光小牛最好的名片。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3566160"/>
            <a:ext cx="5486400" cy="822960"/>
          </a:xfrm>
          <a:prstGeom prst="rect">
            <a:avLst>
              <a:gd name="adj" fmla="val 8889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28800" y="3566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我的行动承诺：从明天开始，用数据管理每一天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 |  销售培训第八课  |  恭喜毕业</a:t>
            </a:r>
            <a:endParaRPr lang="en-US" sz="1100" dirty="0"/>
          </a:p>
        </p:txBody>
      </p:sp>
      <p:sp>
        <p:nvSpPr>
          <p:cNvPr id="13" name="Rectangle 1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0700000">
            <a:off x="1005840" y="2005965"/>
            <a:ext cx="128016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7498080" y="514350"/>
            <a:ext cx="1828800" cy="154305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989195"/>
            <a:ext cx="9144000" cy="15430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追光小牛·销售培训 第八课：销售目标管理与自我提升</dc:title>
  <dc:subject>PptxGenJS Presentation</dc:subject>
  <dc:creator>追光小牛</dc:creator>
  <cp:lastModifiedBy>追光小牛</cp:lastModifiedBy>
  <cp:revision>1</cp:revision>
  <dcterms:created xsi:type="dcterms:W3CDTF">2026-04-18T17:15:22Z</dcterms:created>
  <dcterms:modified xsi:type="dcterms:W3CDTF">2026-04-18T17:15:22Z</dcterms:modified>
</cp:coreProperties>
</file>