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1097280"/>
            <a:ext cx="73152" cy="25603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B0B8D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第七课：续费与转介绍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让老客户帮你卖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销售培训系列课程 | 续费与转介绍专项</a:t>
            </a:r>
            <a:endParaRPr lang="en-US" sz="1200" dirty="0"/>
          </a:p>
        </p:txBody>
      </p:sp>
      <p:sp>
        <p:nvSpPr>
          <p:cNvPr id="9" name="Rectangle 8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0700000">
            <a:off x="731520" y="1594485"/>
            <a:ext cx="1097280" cy="317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700000">
            <a:off x="1005840" y="2005965"/>
            <a:ext cx="1280160" cy="381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8046720" y="0"/>
            <a:ext cx="1097280" cy="41148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 rot="10800000">
            <a:off x="0" y="4732020"/>
            <a:ext cx="731520" cy="411480"/>
          </a:xfrm>
          <a:prstGeom prst="triangl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rc 14"/>
          <p:cNvSpPr/>
          <p:nvPr/>
        </p:nvSpPr>
        <p:spPr>
          <a:xfrm>
            <a:off x="7498080" y="514350"/>
            <a:ext cx="1828800" cy="1543050"/>
          </a:xfrm>
          <a:prstGeom prst="arc">
            <a:avLst/>
          </a:prstGeom>
          <a:noFill/>
          <a:ln w="25400">
            <a:solidFill>
              <a:srgbClr val="FF6B35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989195"/>
            <a:ext cx="9144000" cy="154305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课程目录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0B8D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463040" y="1371600"/>
            <a:ext cx="6858000" cy="82296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45920" y="144475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首月服务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1828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12项清单，打造客户信任基础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6060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463040" y="2514600"/>
            <a:ext cx="6858000" cy="82296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645920" y="258775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续费7节点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2971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从预警到挽回的完整续费流程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640080" cy="64008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463040" y="3657600"/>
            <a:ext cx="6858000" cy="82296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645920" y="373075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转介绍技巧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5920" y="4114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让老客户成为你的最佳销售</a:t>
            </a:r>
            <a:endParaRPr lang="en-US" sz="1200" dirty="0"/>
          </a:p>
        </p:txBody>
      </p:sp>
      <p:sp>
        <p:nvSpPr>
          <p:cNvPr id="22" name="Rectangle 21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8046720" y="0"/>
            <a:ext cx="1097280" cy="41148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续费为什么重要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0B8D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WHY RENEWAL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560320" cy="1645920"/>
          </a:xfrm>
          <a:prstGeom prst="rect">
            <a:avLst/>
          </a:prstGeom>
          <a:solidFill>
            <a:srgbClr val="FF6B35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1371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&gt;=35%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E0CC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续费收入占年度目标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0" y="1280160"/>
            <a:ext cx="2834640" cy="256032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926080" y="1280160"/>
            <a:ext cx="2834640" cy="29260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063240" y="1280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F 特性 Feature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63240" y="16093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续费收入占比：Q2≥25%，年度≥35%，是门店业绩的核心支柱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2157984"/>
            <a:ext cx="283464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063240" y="21579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A 优势 Advantage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63240" y="24871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续费成本仅为新签的1/5，无需额外营销投入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0" y="3035808"/>
            <a:ext cx="2834640" cy="292608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063240" y="30358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B 利益 Benefit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63240" y="33649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续费做好了，业绩稳增长，团队收入有保障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1280160"/>
            <a:ext cx="2468880" cy="16459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035040" y="1371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1/5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03504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8D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续费成本 vs 新签成本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FF0E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核心观点：留住一个老客户 = 获得5个新客户的营销价值</a:t>
            </a:r>
            <a:endParaRPr lang="en-US" sz="1400" dirty="0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首月服务12项清单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0B8D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FIRST MONTH SERVICE CHECKLIST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005840" cy="7772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12344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签约当天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12344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合同签署+三方群建立+系统录入+成交交接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14904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服务承诺书签署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17465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首次沟通记录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20025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课程安排确认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100584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21488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3天内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54480" y="21488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完成排课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54480" y="24048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教练对接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1005840" cy="7772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" y="30632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首课前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54480" y="30632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上课提醒发送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1005840" cy="7772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39776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首课后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54480" y="3977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课后反馈收集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234440"/>
            <a:ext cx="100584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663440" y="12344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7天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12344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适应回访（教练负责）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148840"/>
            <a:ext cx="1005840" cy="7772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663440" y="21488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14-21天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60720" y="21488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体能测评报告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063240"/>
            <a:ext cx="1005840" cy="7772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663440" y="30632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21-28天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60720" y="30632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续费预埋沟通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3977640"/>
            <a:ext cx="100584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663440" y="39776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21-30天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60720" y="3977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转介绍请求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FF0E8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12项标准化动作 | A: 系统化服务降低流失率 | B: 首月体验决定续费意愿</a:t>
            </a:r>
            <a:endParaRPr lang="en-US" sz="1200" dirty="0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续费7个核心节点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0B8D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7 KEY RENEWAL TOUCHPOINTS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7680960" cy="54864"/>
          </a:xfrm>
          <a:prstGeom prst="rect">
            <a:avLst/>
          </a:prstGeom>
          <a:solidFill>
            <a:srgbClr val="FFF0E8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68680" y="1371600"/>
            <a:ext cx="594360" cy="5943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启动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剩余&lt;=20节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预警启动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0" y="1371600"/>
            <a:ext cx="594360" cy="59436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01168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74520" y="20116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67E22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触达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26517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30天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正式触达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54680" y="13716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15468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017520" y="20116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跟进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26517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14天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决策跟进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97680" y="1371600"/>
            <a:ext cx="594360" cy="5943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29768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160520" y="20116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冲刺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60520" y="26517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7天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冲刺面谈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40680" y="1371600"/>
            <a:ext cx="594360" cy="59436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44068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03520" y="20116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67E22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确认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6517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3天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最终确认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583680" y="13716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58368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446520" y="20116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升级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46520" y="26517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到期日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店长升级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726680" y="1371600"/>
            <a:ext cx="594360" cy="5943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72668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589520" y="20116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挽回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589520" y="26517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流失后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30天挽回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657600"/>
            <a:ext cx="2743200" cy="109728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48640" y="3703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F 特性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7个节点覆盖续费全周期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37560" y="3657600"/>
            <a:ext cx="2743200" cy="109728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429000" y="3703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A 优势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42900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每个节点有明确动作和时间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3657600"/>
            <a:ext cx="2468880" cy="109728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309360" y="3703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67E22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B 利益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0936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续费率提升15-20个百分点</a:t>
            </a:r>
            <a:endParaRPr lang="en-US" sz="1000" dirty="0"/>
          </a:p>
        </p:txBody>
      </p:sp>
      <p:sp>
        <p:nvSpPr>
          <p:cNvPr id="45" name="Rectangle 44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046720" y="0"/>
            <a:ext cx="1097280" cy="41148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节点1-3详解：启动期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0B8D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NODE 1-3: LAUNCH PHASE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560320" cy="329184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234440"/>
            <a:ext cx="2560320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234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节点1: 剩余&lt;=20节预警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系统自动预警，顾问收到名单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提前布局，不打无准备之仗
</a:t>
            </a:r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争取30天黄金窗口期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560320" cy="329184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560320" cy="4572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337560" y="1234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节点2: 30天正式触达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78308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面对面/电话正式沟通续费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展示孩子进步数据+体测报告
</a:t>
            </a:r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建立续费意愿，锁定意向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560320" cy="329184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35040" y="1234440"/>
            <a:ext cx="256032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126480" y="1234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节点3: 14天决策跟进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178308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针对犹豫客户深度沟通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解决具体顾虑，提供方案
</a:t>
            </a:r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推动决策，消除犹豫</a:t>
            </a:r>
            <a:endParaRPr lang="en-US" sz="1100" dirty="0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节点4-6详解：冲刺期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0B8D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NODE 4-6: SPRINT PHASE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560320" cy="329184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234440"/>
            <a:ext cx="2560320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234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节点4: 7天冲刺面谈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邀约到店深度面谈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教练+顾问双人对阵
</a:t>
            </a:r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专业团队背书提升信任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560320" cy="329184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560320" cy="4572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337560" y="1234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节点5: 3天最终确认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78308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确认续费方案+支付方式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限时优惠促单
</a:t>
            </a:r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紧迫感推动立即成交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560320" cy="329184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35040" y="1234440"/>
            <a:ext cx="256032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126480" y="1234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节点6: 到期日店长升级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178308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店长亲自致电沟通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管理层重视体现客户价值
</a:t>
            </a:r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最后防线挽回客户</a:t>
            </a:r>
            <a:endParaRPr lang="en-US" sz="1100" dirty="0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节点7: 流失挽回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0B8D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NODE 7: CHURN RECOVERY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651760" cy="320040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234440"/>
            <a:ext cx="2651760" cy="5029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234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流失挽回触达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2468880" cy="320040"/>
          </a:xfrm>
          <a:prstGeom prst="rect">
            <a:avLst/>
          </a:prstGeom>
          <a:solidFill>
            <a:srgbClr val="FFF0E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流失后30天内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由店长主导挽回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606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店长主导，情感关怀+方案调整+诚意沟通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234440"/>
            <a:ext cx="2651760" cy="320040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91840" y="1234440"/>
            <a:ext cx="2651760" cy="5029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383280" y="1234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/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83280" y="1828800"/>
            <a:ext cx="2468880" cy="320040"/>
          </a:xfrm>
          <a:prstGeom prst="rect">
            <a:avLst/>
          </a:prstGeom>
          <a:solidFill>
            <a:srgbClr val="FFF0E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38328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/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29000" y="2606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234440"/>
            <a:ext cx="2651760" cy="320040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126480" y="1234440"/>
            <a:ext cx="265176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217920" y="1234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/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1828800"/>
            <a:ext cx="2468880" cy="320040"/>
          </a:xfrm>
          <a:prstGeom prst="rect">
            <a:avLst/>
          </a:prstGeom>
          <a:solidFill>
            <a:srgbClr val="FFF0E8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21792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/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2606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FF0E8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30天内由店长主导挽回触达 | A: 统一由店长负责体现重视 | B: 挽回率可达20-30%</a:t>
            </a:r>
            <a:endParaRPr lang="en-US" sz="1200" dirty="0"/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续费话术模板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0B8D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RENEWAL SCRIPT TEMPLATES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286000" cy="109728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12344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场景一：孩子进步明显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34640" y="1234440"/>
            <a:ext cx="5852160" cy="109728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971800" y="132588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"XX妈妈，这3个月XX的体能测评提升了15%，协调性进步特别大！教练说按照现在的节奏，下个阶段可以参加级别考核了。建议现在续费锁定教练和时间，还能享受老客户专属优惠。"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2286000" cy="109728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4688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场景二：进步不明显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34640" y="2468880"/>
            <a:ext cx="5852160" cy="109728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971800" y="256032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"XX爸爸，我理解您的顾虑。其实每个孩子的成长节奏不同，XX的基础正在打牢，教练专门为他调整了训练方案。续费后我们会每月给您详细的进度报告，让您清楚看到每一步变化。"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2286000" cy="10972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4360" y="37033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场景三：家长犹豫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834640" y="3703320"/>
            <a:ext cx="5852160" cy="109728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971800" y="379476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"XX妈妈，我特别理解您想再考虑一下。这样吧，我给您保留3天的优惠名额，同时安排一次免费的1对1测评，让教练当面给您分析XX的情况，您看完再决定，好吗？"</a:t>
            </a:r>
            <a:endParaRPr lang="en-US" sz="1000" dirty="0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续费率目标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0B8D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RENEWAL RATE TARGETS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51760" cy="1371600"/>
          </a:xfrm>
          <a:prstGeom prst="rect">
            <a:avLst/>
          </a:prstGeom>
          <a:solidFill>
            <a:srgbClr val="FF6B35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Q2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&gt;=35%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651760" cy="137160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29184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Q3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1783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&gt;=40%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651760" cy="1371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2648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Q4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26480" y="1783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&gt;=50%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2651760" cy="164592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" y="2880360"/>
            <a:ext cx="2651760" cy="41148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2880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优秀 &gt;=50%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383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续费率达标，团队奖金翻倍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880360"/>
            <a:ext cx="2651760" cy="164592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291840" y="2880360"/>
            <a:ext cx="2651760" cy="41148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383280" y="2880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合格 35%-49%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29000" y="3383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需加强节点执行力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880360"/>
            <a:ext cx="2651760" cy="164592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126480" y="2880360"/>
            <a:ext cx="2651760" cy="4114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217920" y="2880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危险 &lt;35%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3383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需店长介入，专项整改</a:t>
            </a:r>
            <a:endParaRPr lang="en-US" sz="1100" dirty="0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>
            <a:off x="8046720" y="0"/>
            <a:ext cx="1097280" cy="41148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转介绍的力量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0B8D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THE POWER OF REFERRALS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560320" cy="16459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1371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&gt;=15%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8D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转介绍成交占比目标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0" y="1280160"/>
            <a:ext cx="2834640" cy="256032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926080" y="1280160"/>
            <a:ext cx="2834640" cy="29260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063240" y="1280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F 特性 Feature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63240" y="16093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转介绍客户成交占比目标&gt;=15%，是最优质的获客渠道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2157984"/>
            <a:ext cx="283464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063240" y="21579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A 优势 Advantage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63240" y="24871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转介绍客户转化率是新客的3倍，信任成本几乎为零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0" y="3035808"/>
            <a:ext cx="2834640" cy="292608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063240" y="30358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B 利益 Benefit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63240" y="33649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降低获客成本，客户质量更高，续费率更高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1280160"/>
            <a:ext cx="2468880" cy="1645920"/>
          </a:xfrm>
          <a:prstGeom prst="rect">
            <a:avLst/>
          </a:prstGeom>
          <a:solidFill>
            <a:srgbClr val="FF6B35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035040" y="1371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3倍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03504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E0CC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转介绍 vs 新客转化率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E8EDF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核心观点：一个满意的老客户 = 你最好的销售员</a:t>
            </a:r>
            <a:endParaRPr lang="en-US" sz="1400" dirty="0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转介绍的4个最佳时机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0B8D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4 BEST REFERRAL TIMING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965960" cy="338328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234440"/>
            <a:ext cx="1965960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首课后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家长看到孩子第一次上课的积极反馈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孩子刚体验完兴奋期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家长分享欲最强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自然引出转介绍话题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1234440"/>
            <a:ext cx="1965960" cy="338328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560320" y="1234440"/>
            <a:ext cx="1965960" cy="4572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65176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体测后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51760" y="1783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体测报告展示进步数据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1760" y="228600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数据化成果展示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家长信任度最高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用成果说话，家长主动分享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1965960" cy="338328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663440" y="1234440"/>
            <a:ext cx="196596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75488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升班时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54880" y="1783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孩子完成阶段目标，准备升级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28600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里程碑时刻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家长有成就感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邀请朋友一起升班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1234440"/>
            <a:ext cx="1965960" cy="338328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766560" y="1234440"/>
            <a:ext cx="1965960" cy="4572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5800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家长夸奖时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8000" y="1783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家长主动表达满意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228600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情感高点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零阻力请求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趁热打铁效果最佳</a:t>
            </a:r>
            <a:endParaRPr lang="en-US" sz="1000" dirty="0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转介绍话术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0B8D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REFERRAL SCRIPTS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931920" cy="182880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234440"/>
            <a:ext cx="3931920" cy="4114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直接请求法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直接表达请求，不绕弯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真诚直接，家长不反感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开口率100%，成功率最高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"XX妈妈，您觉得我们不错的话，身边有朋友家孩子也可以来体验一下，我给留个免费名额。"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234440"/>
            <a:ext cx="3977640" cy="182880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17720" y="1234440"/>
            <a:ext cx="397764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09160" y="12344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间接引导法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73736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通过活动/福利自然引导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降低请求感，家长更舒适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长期积累转介绍池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"我们下周有个亲子体验日，可以带朋友家孩子一起来玩，名额有限我先帮您留两个。"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8229600" cy="146304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2461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7%公式：持续请求的力量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74904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研究表明，销售在放弃前平均只请求1-2次，而客户在第5-7次请求后才同意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80%的转介绍发生在第5次之后的请求中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坚持开口，每次服务触点都是转介绍机会</a:t>
            </a:r>
            <a:endParaRPr lang="en-US" sz="1100" dirty="0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退费处理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0B8D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REFUND HANDLING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651760" cy="137160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234440"/>
            <a:ext cx="2651760" cy="4114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234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第1轮挽留 | 顾问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了解退费原因，针对性解决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234440"/>
            <a:ext cx="2651760" cy="137160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291840" y="1234440"/>
            <a:ext cx="2651760" cy="4114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383280" y="1234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第2轮挽留 | 教练+顾问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737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提供替代方案（暂停/转班/减课）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234440"/>
            <a:ext cx="2651760" cy="137160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126480" y="1234440"/>
            <a:ext cx="265176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17920" y="1234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第3轮挽留 | 店长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1737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最终挽留，确认退费则友好处理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8229600" cy="192024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28346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退费标准与FAB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333756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特性：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按剩余课时×单节单价退款，无额外扣除，剩余课时全额退还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优势：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透明标准让家长安心，三轮挽留体现诚意，即使退费也留下好印象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利益：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退费客户未来可能回流，口碑不受损，维护品牌形象</a:t>
            </a:r>
            <a:endParaRPr lang="en-US" sz="1100" dirty="0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本课要点回顾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0B8D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651760" cy="329184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234440"/>
            <a:ext cx="2651760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首月12项服务清单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1874520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4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签约当天4项启动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514600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3天排课+首课服务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154680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7天/14天/21天回访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3794760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9436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续费预埋+转介绍请求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91840" y="1234440"/>
            <a:ext cx="2651760" cy="329184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291840" y="1234440"/>
            <a:ext cx="265176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383280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续费7个核心节点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29000" y="187452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4290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9476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&lt;=20节预警启动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29000" y="251460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42900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9476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30天触达+14天跟进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29000" y="315468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42900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9476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7天冲刺+3天确认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429000" y="379476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42900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79476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到期升级+30天挽回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26480" y="1234440"/>
            <a:ext cx="2651760" cy="329184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126480" y="1234440"/>
            <a:ext cx="2651760" cy="4572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217920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转介绍4个最佳时机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63640" y="1874520"/>
            <a:ext cx="274320" cy="27432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2636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62940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首课后兴奋期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263640" y="2514600"/>
            <a:ext cx="274320" cy="27432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26364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62940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体测后数据期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263640" y="3154680"/>
            <a:ext cx="274320" cy="27432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26364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62940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升班时成就感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263640" y="3794760"/>
            <a:ext cx="274320" cy="27432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26364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62940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家长夸奖时高点</a:t>
            </a:r>
            <a:endParaRPr lang="en-US" sz="1200" dirty="0"/>
          </a:p>
        </p:txBody>
      </p:sp>
      <p:sp>
        <p:nvSpPr>
          <p:cNvPr id="52" name="Rectangle 51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行动任务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8D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ACTION ITEMS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solidFill>
            <a:srgbClr val="253050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16459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5544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本周完成所有在管客户的剩余课时盘点，标记&lt;=20节客户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331720"/>
            <a:ext cx="7680960" cy="640080"/>
          </a:xfrm>
          <a:prstGeom prst="rect">
            <a:avLst/>
          </a:prstGeom>
          <a:solidFill>
            <a:srgbClr val="253050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14400" y="24231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23317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为每位&lt;=20节客户制定续费沟通计划，明确7节点时间表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7680960" cy="640080"/>
          </a:xfrm>
          <a:prstGeom prst="rect">
            <a:avLst/>
          </a:prstGeom>
          <a:solidFill>
            <a:srgbClr val="253050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" y="32004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31089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本周至少向3位满意客户发起转介绍请求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886200"/>
            <a:ext cx="7680960" cy="640080"/>
          </a:xfrm>
          <a:prstGeom prst="rect">
            <a:avLst/>
          </a:prstGeom>
          <a:solidFill>
            <a:srgbClr val="253050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14400" y="39776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44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38862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背诵3种续费话术，角色扮演练习至熟练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让每个孩子追光前行</a:t>
            </a:r>
            <a:endParaRPr lang="en-US" sz="1100" dirty="0"/>
          </a:p>
        </p:txBody>
      </p:sp>
      <p:sp>
        <p:nvSpPr>
          <p:cNvPr id="23" name="Rectangle 22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0700000">
            <a:off x="731520" y="1594485"/>
            <a:ext cx="1097280" cy="317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 rot="10800000">
            <a:off x="0" y="4732020"/>
            <a:ext cx="731520" cy="411480"/>
          </a:xfrm>
          <a:prstGeom prst="triangl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追光小牛·销售培训 第七课：续费与转介绍</dc:title>
  <dc:subject>PptxGenJS Presentation</dc:subject>
  <dc:creator>追光小牛</dc:creator>
  <cp:lastModifiedBy>追光小牛</cp:lastModifiedBy>
  <cp:revision>1</cp:revision>
  <dcterms:created xsi:type="dcterms:W3CDTF">2026-04-18T17:15:32Z</dcterms:created>
  <dcterms:modified xsi:type="dcterms:W3CDTF">2026-04-18T17:15:32Z</dcterms:modified>
</cp:coreProperties>
</file>