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销售培训系列课程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你的角色与工作标准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第二课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专业 · 标准 · 高效</a:t>
            </a:r>
            <a:endParaRPr lang="en-US" sz="1600" dirty="0"/>
          </a:p>
        </p:txBody>
      </p:sp>
      <p:sp>
        <p:nvSpPr>
          <p:cNvPr id="8" name="Rectangle 7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700000">
            <a:off x="1005840" y="2005965"/>
            <a:ext cx="1280160" cy="381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rc 13"/>
          <p:cNvSpPr/>
          <p:nvPr/>
        </p:nvSpPr>
        <p:spPr>
          <a:xfrm>
            <a:off x="7498080" y="514350"/>
            <a:ext cx="1828800" cy="1543050"/>
          </a:xfrm>
          <a:prstGeom prst="arc">
            <a:avLst/>
          </a:prstGeom>
          <a:noFill/>
          <a:ln w="25400">
            <a:solidFill>
              <a:srgbClr val="FF6B35">
                <a:alpha val="2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989195"/>
            <a:ext cx="9144000" cy="154305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本课内容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28016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FE8D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28016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280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教销分离原则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280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顾问与教练的分工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E8EDF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14884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你的职责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2148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日常工作流程与KDI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FFE8D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01752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3017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工作量标准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每日/每月量化目标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388620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E8EDF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388620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薪酬激励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0" y="38862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底薪、提成与荣誉体系</a:t>
            </a:r>
            <a:endParaRPr lang="en-US" sz="1800" dirty="0"/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教销分离原则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188720"/>
            <a:ext cx="6400800" cy="914400"/>
          </a:xfrm>
          <a:prstGeom prst="roundRect">
            <a:avLst>
              <a:gd name="adj" fmla="val 150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顾问管新签，教练管续费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🎯 专注力提升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3108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各自聚焦核心业务</a:t>
            </a:r>
            <a:endParaRPr lang="en-US" sz="18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效率大幅提高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474720" y="237744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4904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⚡ 专业度增强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3108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深耕单一领域</a:t>
            </a:r>
            <a:endParaRPr lang="en-US" sz="18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服务更加专业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468880" cy="2011680"/>
          </a:xfrm>
          <a:prstGeom prst="roundRect">
            <a:avLst>
              <a:gd name="adj" fmla="val 6818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9224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💰 收入更透明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10896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业绩归属清晰</a:t>
            </a:r>
            <a:endParaRPr lang="en-US" sz="18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激励更加精准</a:t>
            </a:r>
            <a:endParaRPr lang="en-US" sz="18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课程顾问的一天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97280" y="1298448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216152" y="1572768"/>
            <a:ext cx="36576" cy="438912"/>
          </a:xfrm>
          <a:prstGeom prst="rect">
            <a:avLst/>
          </a:prstGeom>
          <a:solidFill>
            <a:srgbClr val="FFD0B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554480" y="11887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09:00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60320" y="1188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晨会与目标确认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188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回顾昨日数据，明确今日目标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97280" y="2011680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216152" y="2286000"/>
            <a:ext cx="36576" cy="438912"/>
          </a:xfrm>
          <a:prstGeom prst="rect">
            <a:avLst/>
          </a:prstGeom>
          <a:solidFill>
            <a:srgbClr val="FFD0B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54480" y="1901952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10:00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0320" y="19019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客户邀约与跟进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190195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电话/微信邀约，推进意向客户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97280" y="2724912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216152" y="2999232"/>
            <a:ext cx="36576" cy="438912"/>
          </a:xfrm>
          <a:prstGeom prst="rect">
            <a:avLst/>
          </a:prstGeom>
          <a:solidFill>
            <a:srgbClr val="FFD0B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554480" y="2615184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14:00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560320" y="261518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接待体验客户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261518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到店接待，专业体验服务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438144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216152" y="3712464"/>
            <a:ext cx="36576" cy="438912"/>
          </a:xfrm>
          <a:prstGeom prst="rect">
            <a:avLst/>
          </a:prstGeom>
          <a:solidFill>
            <a:srgbClr val="FFD0B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554480" y="3328416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16:00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560320" y="332841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成交与签约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0" y="33284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方案讲解，促成签约成交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97280" y="4151376"/>
            <a:ext cx="274320" cy="2743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554480" y="404164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18:00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560320" y="40416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复盘与私域运营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029200" y="404164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数据录入，朋友圈/抖音运营</a:t>
            </a:r>
            <a:endParaRPr lang="en-US" sz="18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你的核心KDI（上）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月度关键指标 — 获客阶段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44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个/月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月新增预约数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每天至少2个新增预约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最低标准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体验到店率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约10个预约到店7个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你的核心KDI（下）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月度关键指标 — 转化阶段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最低标准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体验转化率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到店10人至少签3单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门店目标占比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月新签业绩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个人达标线 = 门店目标的60%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每日4个工作量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每天必须完成的4项核心工作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920240" cy="274320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📞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邀约到访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每天邀约客户到店体验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554480"/>
            <a:ext cx="1920240" cy="274320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6032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✍️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成交签约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697480" y="3017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完成新签或续费签约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920240" cy="274320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6344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🤝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0600" y="3017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获取老客户转介绍资源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1554480"/>
            <a:ext cx="1920240" cy="274320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66560" y="173736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📱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676656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私域营销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903720" y="301752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朋友圈、抖音内容运营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44948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666666"/>
                </a:solidFill>
              </a:defRPr>
            </a:pPr>
            <a:r>
              <a:rPr>
                <a:solidFill/>
              </a:rPr>
              <a:t>共9类工作量项目任选：教学/邀约/成交/转介绍/私域/获客/线上运营/家校沟通/体测，每天任选完成4个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工作量详解（上）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邀约、成交与转介绍的具体标准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📞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邀约到访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1个/天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每天至少完成1个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客户到店体验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✍️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成交（4000元以下）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1个/天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小额课程每天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至少签1单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✍️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成交（4000元以上）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2个/天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大额课程每天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至少签2单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🤝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转介绍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1个/天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每天获取至少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1个转介绍资源</a:t>
            </a:r>
            <a:endParaRPr lang="en-US" sz="16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工作量详解（下）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私域营销与内容运营标准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4864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朋友圈营销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3条 = 1个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每天3条朋友圈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折算为1个工作量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🔍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2651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获客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60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无上限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主动获客不设上限</a:t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越多越好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663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⭐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75488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客户好评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1个/天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75488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好评（需15字+2图）= 1个工作量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🎬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685800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抖音视频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6656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1条/天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58000" y="3200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抖音视频为店长额外工作量，非顾问考核项</a:t>
            </a:r>
            <a:endParaRPr lang="en-US" sz="1600" dirty="0"/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未达标怎么办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280160"/>
            <a:ext cx="6400800" cy="1097280"/>
          </a:xfrm>
          <a:prstGeom prst="roundRect">
            <a:avLst>
              <a:gd name="adj" fmla="val 12500"/>
            </a:avLst>
          </a:prstGeom>
          <a:solidFill>
            <a:srgbClr val="FFF0E0"/>
          </a:solidFill>
          <a:ln w="254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128016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⚠️  工作量未达标的处理规则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97280" y="2651760"/>
            <a:ext cx="6949440" cy="1645920"/>
          </a:xfrm>
          <a:prstGeom prst="roundRect">
            <a:avLst>
              <a:gd name="adj" fmla="val 8333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37160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连续2天未达成，乐捐20元/个差额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（1天未达成无乐捐，次日补齐即可）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乐捐款项进入成长基金，用于奖励优秀员工</a:t>
            </a:r>
            <a:endParaRPr lang="en-US" sz="1800" dirty="0"/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薪酬结构总览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你的收入 = 底薪 + 提成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底薪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3,500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9144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元（不购社保）/ 3,000元（购社保）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固定保障收入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0" y="1463040"/>
            <a:ext cx="3200400" cy="2743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D0B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提成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2920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3%~9%</a:t>
            </a:r>
            <a:endParaRPr lang="en-US" sz="56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阶梯提成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0B5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业绩越高，比例越高</a:t>
            </a:r>
            <a:endParaRPr lang="en-US" sz="16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提成阶梯详解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月业绩越高，提成比例越高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146304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D0B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88720" y="1463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 ~ 3万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914400" y="224028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8872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 ~ 5万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914400" y="301752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E85D20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88720" y="30175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 ~ 10万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029200" y="30175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7%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4400" y="3794760"/>
            <a:ext cx="7315200" cy="640080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188720" y="3794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10万以上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9%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💡 提示：提成按阶梯累计计算，不同区间适用不同比例</a:t>
            </a:r>
            <a:endParaRPr lang="en-US" sz="16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销冠能赚多少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月入可达 14,500 元的计算过程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43200" y="1371600"/>
            <a:ext cx="3657600" cy="1097280"/>
          </a:xfrm>
          <a:prstGeom prst="roundRect">
            <a:avLst>
              <a:gd name="adj" fmla="val 12500"/>
            </a:avLst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0" y="1371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月入 14,500 元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1371600" y="265176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FFE8D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54480" y="2651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底薪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0" y="26517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3,500元（不购社保）/ 3,000元（购社保）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71600" y="306324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5448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0~3万提成（3%）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0" y="30632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900 元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371600" y="347472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FFE8D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5448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3~5万提成（5%）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0" y="34747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1,000 元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71600" y="388620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1A2A50">
              <a:alpha val="7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554480" y="3886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5~10万提成（7%）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0" y="3886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3,500 元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371600" y="4297680"/>
            <a:ext cx="6400800" cy="365760"/>
          </a:xfrm>
          <a:prstGeom prst="roundRect">
            <a:avLst>
              <a:gd name="adj" fmla="val 12500"/>
            </a:avLst>
          </a:prstGeom>
          <a:solidFill>
            <a:srgbClr val="FFE8D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54480" y="4297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10万以上提成（9%）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5,600 元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* 假设月业绩为12万元（含满勤奖200元）</a:t>
            </a:r>
            <a:endParaRPr lang="en-US" sz="14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月度荣誉体系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让优秀被看见，让努力有回报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🏆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销售之星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月新签业绩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56032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🔄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5603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续费之星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9748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月续费业绩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第一名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E85D2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6344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👥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5D2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冠军团队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80060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团队总业绩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第一名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奖励 500 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66560" y="1463040"/>
            <a:ext cx="1920240" cy="2926080"/>
          </a:xfrm>
          <a:prstGeom prst="roundRect">
            <a:avLst>
              <a:gd name="adj" fmla="val 7143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C8A000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766560" y="1645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</a:rPr>
              <a:t>🌟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A000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追光元勋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03720" y="2834640"/>
            <a:ext cx="1645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累计业绩达到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里程碑的员工</a:t>
            </a:r>
            <a:endParaRPr lang="en-US" sz="1600" dirty="0"/>
          </a:p>
        </p:txBody>
      </p:sp>
      <p:sp>
        <p:nvSpPr>
          <p:cNvPr id="25" name="TextBox 24"/>
          <p:cNvSpPr txBox="1"/>
          <p:nvPr/>
        </p:nvSpPr>
        <p:spPr>
          <a:xfrm>
            <a:off x="457200" y="39462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33333"/>
                </a:solidFill>
              </a:defRPr>
            </a:pPr>
            <a:r>
              <a:rPr>
                <a:solidFill/>
              </a:rPr>
              <a:t>完整荣誉体系：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rPr>
                <a:solidFill/>
              </a:rPr>
              <a:t>个人之星(6个)：销售之星、续费之星、教学之星、服务之星、进步之星、明星老师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rPr>
                <a:solidFill/>
              </a:rPr>
              <a:t>团队荣誉(3个)：冠军团队(500元聚餐基金)、服务标杆店(300元)、进步最大店(300元)</a:t>
            </a:r>
          </a:p>
          <a:p>
            <a:pPr>
              <a:defRPr sz="1000">
                <a:solidFill>
                  <a:srgbClr val="666666"/>
                </a:solidFill>
              </a:defRPr>
            </a:pPr>
            <a:r>
              <a:rPr>
                <a:solidFill/>
              </a:rPr>
              <a:t>累计荣誉：3次候选年度之星、6次年度之星、10次追光元勋（终身荣誉）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成长基金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违规乐捐款项的流向与用途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2377440" cy="2560320"/>
          </a:xfrm>
          <a:prstGeom prst="roundRect">
            <a:avLst>
              <a:gd name="adj" fmla="val 5769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D32F2F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💸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违规乐捐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未达标乐捐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进入奖金池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10896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3657600" y="1463040"/>
            <a:ext cx="2377440" cy="2560320"/>
          </a:xfrm>
          <a:prstGeom prst="roundRect">
            <a:avLst>
              <a:gd name="adj" fmla="val 5769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🏦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65760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奖金池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84048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统一管理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公开透明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03504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6583680" y="1463040"/>
            <a:ext cx="2377440" cy="2560320"/>
          </a:xfrm>
          <a:prstGeom prst="roundRect">
            <a:avLst>
              <a:gd name="adj" fmla="val 5769"/>
            </a:avLst>
          </a:prstGeom>
          <a:solidFill>
            <a:srgbClr val="1A2A50">
              <a:alpha val="70000"/>
            </a:srgbClr>
          </a:solidFill>
          <a:ln w="254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83680" y="164592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</a:rPr>
              <a:t>🎁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583680" y="23774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奖励优秀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66560" y="2926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月度表彰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激励先进</a:t>
            </a:r>
            <a:endParaRPr lang="en-US" sz="1800" dirty="0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8046720" y="0"/>
            <a:ext cx="1097280" cy="411480"/>
          </a:xfrm>
          <a:prstGeom prst="triangl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禁止事项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71600" y="109728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D32F2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⚠️  以下行为为红线，触碰即处罚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19659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严禁私下收费或飞单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所有款项必须通过公司统一渠道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2624328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097280" y="262432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37360" y="26243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严禁虚假承诺或误导客户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6243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如实介绍课程内容，不夸大效果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282696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328269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3282696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严禁泄露客户信息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0" y="328269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客户隐私数据严格保密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3941064"/>
            <a:ext cx="7315200" cy="548640"/>
          </a:xfrm>
          <a:prstGeom prst="roundRect">
            <a:avLst>
              <a:gd name="adj" fmla="val 13333"/>
            </a:avLst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39410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737360" y="3941064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严禁与客户发生不正当关系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029200" y="3941064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保持专业距离，维护品牌形象</a:t>
            </a:r>
            <a:endParaRPr lang="en-US" sz="16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4244D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228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本课要点回顾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销售培训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0" y="48234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记住这3个核心要点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417320" y="16459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9436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教销分离，各司其职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课程顾问负责新签获客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教练负责续费服务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分工明确，效率更高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83280" y="14630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343400" y="16459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34340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2044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每日4项工作量必须完成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邀约到访 / 成交签约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转介绍 / 私域营销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未达标将触发乐捐机制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1463040"/>
            <a:ext cx="2651760" cy="2926080"/>
          </a:xfrm>
          <a:prstGeom prst="roundRect">
            <a:avLst>
              <a:gd name="adj" fmla="val 5172"/>
            </a:avLst>
          </a:prstGeom>
          <a:solidFill>
            <a:srgbClr val="1A2A50">
              <a:alpha val="70000"/>
            </a:srgbClr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269480" y="1645920"/>
            <a:ext cx="731520" cy="7315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269480" y="16459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44652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收入上不封顶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92240" y="31089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底薪3,500元（不购社保）/ 3,000元（购社保） + 阶梯提成3%~9%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月入可达14,500元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销冠荣誉等你来拿</a:t>
            </a:r>
            <a:endParaRPr lang="en-US" sz="1600" dirty="0"/>
          </a:p>
        </p:txBody>
      </p:sp>
      <p:sp>
        <p:nvSpPr>
          <p:cNvPr id="23" name="Rectangle 22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行动任务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✅  熟记每日4项工作量标准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✅  理解阶梯提成计算方式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828800" y="22860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✅  明确红线禁止事项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微软雅黑" pitchFamily="34" charset="0"/>
                <a:ea typeface="Arial Black" pitchFamily="34" charset="-122"/>
                <a:cs typeface="Arial Black" pitchFamily="34" charset="-120"/>
              </a:rPr>
              <a:t>下期预告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第三课：客户开发与邀约技巧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99BB"/>
                </a:solidFill>
                <a:latin typeface="微软雅黑" pitchFamily="34" charset="0"/>
                <a:ea typeface="Calibri" pitchFamily="34" charset="-122"/>
                <a:cs typeface="Calibri" pitchFamily="34" charset="-120"/>
              </a:rPr>
              <a:t>追光小牛 · 一起追光前行</a:t>
            </a:r>
            <a:endParaRPr lang="en-US" sz="1600" dirty="0"/>
          </a:p>
        </p:txBody>
      </p:sp>
      <p:sp>
        <p:nvSpPr>
          <p:cNvPr id="10" name="Rectangle 9"/>
          <p:cNvSpPr/>
          <p:nvPr/>
        </p:nvSpPr>
        <p:spPr>
          <a:xfrm rot="20700000">
            <a:off x="182880" y="771525"/>
            <a:ext cx="731520" cy="190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700000">
            <a:off x="457200" y="1183005"/>
            <a:ext cx="914400" cy="2540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0700000">
            <a:off x="731520" y="1594485"/>
            <a:ext cx="1097280" cy="31750"/>
          </a:xfrm>
          <a:prstGeom prst="rect">
            <a:avLst/>
          </a:prstGeom>
          <a:solidFill>
            <a:srgbClr val="00E67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0" y="4732020"/>
            <a:ext cx="731520" cy="411480"/>
          </a:xfrm>
          <a:prstGeom prst="triangl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2026-04-20T18:04:32Z</dcterms:created>
  <dcterms:modified xsi:type="dcterms:W3CDTF">2026-04-20T18:04:32Z</dcterms:modified>
</cp:coreProperties>
</file>