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0" y="1371600"/>
            <a:ext cx="1371600" cy="1371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销售培训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第五课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体验课转化全流程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AABBDD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从课前准备到课后促单，打造高转化体验课</a:t>
            </a:r>
            <a:endParaRPr lang="en-US" sz="1300" dirty="0"/>
          </a:p>
        </p:txBody>
      </p:sp>
      <p:sp>
        <p:nvSpPr>
          <p:cNvPr id="12" name="Rectangle 11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0700000">
            <a:off x="1005840" y="2005965"/>
            <a:ext cx="128016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7498080" y="514350"/>
            <a:ext cx="1828800" cy="154305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989195"/>
            <a:ext cx="9144000" cy="15430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课程目录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292608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15544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课前准备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信息收集 / 沟通技巧 / 团队配合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2606040" cy="1828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06040" cy="292608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160520" y="1554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605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课中配合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顾问观察 / 教练展示 / 关键时刻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4023360"/>
            <a:ext cx="260604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606040" cy="292608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49440" y="15544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494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课后促单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黄金窗口 / 反馈公式 / 课包推荐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4023360"/>
            <a:ext cx="2606040" cy="1828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体验课的核心定位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重新定义体验课的价值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88720" y="1508760"/>
            <a:ext cx="1143000" cy="320040"/>
          </a:xfrm>
          <a:prstGeom prst="rect">
            <a:avLst>
              <a:gd name="adj" fmla="val 1142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88720" y="15087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体验课不是“上课”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而是“展示”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体验课的核心不是教多少内容，而是展示教学效果、教练水平和课程价值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1280160"/>
            <a:ext cx="260604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977640" y="1508760"/>
            <a:ext cx="1143000" cy="320040"/>
          </a:xfrm>
          <a:prstGeom prst="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977640" y="15087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让家长亲眼看到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孩子的变化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通过一节课的互动，让家长直观感受孩子的参与度、进步和快乐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35040" y="1280160"/>
            <a:ext cx="2606040" cy="54864"/>
          </a:xfrm>
          <a:prstGeom prst="rect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766560" y="1508760"/>
            <a:ext cx="1143000" cy="320040"/>
          </a:xfrm>
          <a:prstGeom prst="rect">
            <a:avLst>
              <a:gd name="adj" fmla="val 11429"/>
            </a:avLst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66560" y="15087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眼见为实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26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比任何话术都有力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63640" y="2971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当家长亲眼看到孩子的积极变化，成交阻力大幅降低，信任自然建立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课前准备清单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顾问4项 + 教练3项，确保万无一失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457200"/>
          </a:xfrm>
          <a:prstGeom prst="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554480"/>
            <a:ext cx="3931920" cy="137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顾问 4 项准备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了解孩子信息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提前获取年龄/性格/运动背景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沟通更有针对性，家长感受专业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4871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准备接待物料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700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名牌/水杯/体验手册/课包资料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细节体现品牌品质感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145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通知教练需求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328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将孩子信息同步给教练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493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教练可针对性调整教学方案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803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确认到店时间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986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提前1天+当天2小时提醒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151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降低爽约率，提升到店率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393192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3931920" cy="137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教练 3 项准备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了解孩子需求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057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从顾问处获取性格与运动经历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286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因材施教，让孩子快速融入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697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准备体验教案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926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设计趣味性强、展示效果好的内容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154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让孩子开心、让家长看到进步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566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调整课程难度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根据孩子能力适当降低或提高难度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4023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确保孩子有成就感而非挫败感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课前与家长沟通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3个必问问题，精准把握需求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417320" y="14630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孩子性格怎么样？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了解孩子是活泼外向还是内向害羞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帮助教练提前选择适合的互动方式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孩子更快融入课堂，家长看到专业度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06240" y="14630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062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240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之前有运动经历吗？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了解孩子是否接触过体育培训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判断孩子的运动基础和适应能力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避免难度不适，确保体验课效果最佳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95160" y="14630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951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72200" y="2240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您对孩子的期望是什么？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了解家长最看重的方面（体能/兴趣/社交）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课后推荐时精准匹配家长需求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推荐方案直击痛点，成交率大幅提升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课中：顾问的角色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旁听记录，捕捉每一个关键时刻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29200" cy="3291840"/>
          </a:xfrm>
          <a:prstGeom prst="rect">
            <a:avLst>
              <a:gd name="adj" fmla="val 277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73152" cy="3291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旁听记录三要素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孩子表现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1762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记录孩子的参与度、情绪变化、进步瞬间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359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为课后反馈提供真实素材</a:t>
            </a:r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  B: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反馈有据可依，家长信服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76148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家长反应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观察家长的微笑、点头、拍照等积极信号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32004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判断家长的兴趣程度和关注点</a:t>
            </a:r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  B: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精准把握促单时机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602736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关键时刻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记录孩子突破自我、完成挑战的瞬间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40416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这些都是课后促单的最佳谈资</a:t>
            </a:r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  B: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用真实场景打动家长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1234440"/>
            <a:ext cx="2926080" cy="3291840"/>
          </a:xfrm>
          <a:prstGeom prst="rect">
            <a:avLst>
              <a:gd name="adj" fmla="val 31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顾问注意事项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不要在课中推销课程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保持微笑，适时与家长眼神交流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用手机记录精彩瞬间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注意家长的情绪变化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提前准备好反馈话术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课中：教练的关键动作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5个关键动作，让体验课效果最大化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325880"/>
            <a:ext cx="457200" cy="320040"/>
          </a:xfrm>
          <a:prstGeom prst="rect">
            <a:avLst>
              <a:gd name="adj" fmla="val 1142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关注每个孩子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记住每个孩子的名字和特点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让孩子感受到被重视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家长看到教练的专业和用心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37560" y="1325880"/>
            <a:ext cx="457200" cy="320040"/>
          </a:xfrm>
          <a:prstGeom prst="rect">
            <a:avLst>
              <a:gd name="adj" fmla="val 1142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3756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积极互动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用鼓励性语言和肢体互动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调动课堂气氛和参与度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孩子开心，家长放心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23444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26480" y="1325880"/>
            <a:ext cx="457200" cy="320040"/>
          </a:xfrm>
          <a:prstGeom prst="rect">
            <a:avLst>
              <a:gd name="adj" fmla="val 1142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2648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展示进步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在课中明确指出孩子的进步点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让孩子有成就感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家长直观感受到课程价值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51660" y="292608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43100" y="3017520"/>
            <a:ext cx="457200" cy="320040"/>
          </a:xfrm>
          <a:prstGeom prst="rect">
            <a:avLst>
              <a:gd name="adj" fmla="val 1142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94310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917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安全保护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8882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全程关注孩子安全，及时保护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8882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让家长完全放心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88820" y="3977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信任感是成交的基础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0580" y="292608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732020" y="3017520"/>
            <a:ext cx="457200" cy="320040"/>
          </a:xfrm>
          <a:prstGeom prst="rect">
            <a:avLst>
              <a:gd name="adj" fmla="val 1142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73202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806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快乐氛围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7774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用游戏化方式设计教学环节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774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孩子乐在其中，主动参与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7740" y="3977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家长看到孩子发自内心的快乐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课后10分钟黄金窗口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74720" y="1188720"/>
            <a:ext cx="2194560" cy="21945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47472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10 分钟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决定成交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926080" cy="2560320"/>
          </a:xfrm>
          <a:prstGeom prst="rect">
            <a:avLst>
              <a:gd name="adj" fmla="val 3571"/>
            </a:avLst>
          </a:prstGeom>
          <a:solidFill>
            <a:srgbClr val="25306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188720"/>
            <a:ext cx="2926080" cy="411480"/>
          </a:xfrm>
          <a:prstGeom prst="rect">
            <a:avLst>
              <a:gd name="adj" fmla="val 22222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463040"/>
            <a:ext cx="2926080" cy="137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1207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课后10分钟是成交率最高的时刻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孩子刚下课，家长情绪最激动、印象最深刻，此时沟通效果是其他时间的3-5倍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926080" cy="2560320"/>
          </a:xfrm>
          <a:prstGeom prst="rect">
            <a:avLst>
              <a:gd name="adj" fmla="val 3571"/>
            </a:avLst>
          </a:prstGeom>
          <a:solidFill>
            <a:srgbClr val="25306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2926080" cy="411480"/>
          </a:xfrm>
          <a:prstGeom prst="rect">
            <a:avLst>
              <a:gd name="adj" fmla="val 22222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926080" cy="137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46520" y="1207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+ 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家长情绪最高涨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顺势推荐方案，成功率翻倍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651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抓住这个窗口期，用教练反馈+真诚推荐，让家长在最佳决策状态下做出选择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课后反馈公式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教练反馈 + 顾问接话 = 高效转化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554480"/>
            <a:ext cx="3931920" cy="137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教练反馈（3步）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1828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今天练了什么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结构化课程体系 → A: 家长认可教学专业性 → B: 建立信任基础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6974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孩子表现如何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用细节说话 → A: 家长感受到被关注 → B: 增强好感度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5661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进步点在哪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量化进步 → A: 家长看到课程效果 → B: 产生购买动力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3931920" cy="457200"/>
          </a:xfrm>
          <a:prstGeom prst="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3931920" cy="137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顾问接话（2步）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92040" y="18288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9204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推荐课包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根据孩子情况推荐最合适的课包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匹配需求的方案 → A: 家长觉得量身定制 → B: 降低决策难度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310896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9204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解决疑虑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预判并回应家长可能的顾虑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3703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主动解答疑问 → A: 消除购买障碍 → B: 促进行动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促单时机判断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识别3个购买信号，精准把握成交时机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17320" y="15087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17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家长主动问价格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家长询问课时费、课包价格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说明家长已经认可课程价值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直接给出方案，不要绕弯子，此时成交率最高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1280160"/>
            <a:ext cx="26060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06240" y="15087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062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8328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家长主动问时间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家长询问上课时间、排课安排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说明家长已经在规划孩子的训练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顺势确认时间，锁定家长的购买意向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2606040" cy="301752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35040" y="1280160"/>
            <a:ext cx="26060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995160" y="15087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951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*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7220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家长主动问效果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家长询问长期训练能达到什么效果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说明家长在想象孩子未来的进步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用成功案例和成长路径描绘愿景，推动决策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课包推荐话术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根据孩子情况，推荐最合适的课包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329184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2606040" cy="502920"/>
          </a:xfrm>
          <a:prstGeom prst="rect">
            <a:avLst>
              <a:gd name="adj" fmla="val 18182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600200"/>
            <a:ext cx="2606040" cy="137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基础体验包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适合：犹豫不决的家长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少量课时，低门槛尝试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降低家长的决策压力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先让孩子来，用效果说话，后续再升单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2606040" cy="1828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1234440"/>
            <a:ext cx="2606040" cy="329184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606040" cy="502920"/>
          </a:xfrm>
          <a:prstGeom prst="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46120" y="1600200"/>
            <a:ext cx="2606040" cy="137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标准训练包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适合：认可课程价值的家长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适中课时，性价比最优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满足一个训练周期的需求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家长获得最大价值感，机构获得稳定收入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4343400"/>
            <a:ext cx="260604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5040" y="1234440"/>
            <a:ext cx="2606040" cy="329184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06040" cy="502920"/>
          </a:xfrm>
          <a:prstGeom prst="rect">
            <a:avLst>
              <a:gd name="adj" fmla="val 18182"/>
            </a:avLst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035040" y="1600200"/>
            <a:ext cx="2606040" cy="137160"/>
          </a:xfrm>
          <a:prstGeom prst="rect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7220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精英成长包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7220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适合：目标明确的家长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长期课时，专属训练计划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系统性训练效果最佳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孩子持续进步，家长忠诚度最高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4343400"/>
            <a:ext cx="2606040" cy="182880"/>
          </a:xfrm>
          <a:prstGeom prst="rect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未成交处理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6步跟进策略，持续培育潜在客户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1430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691640" y="1307592"/>
            <a:ext cx="1691640" cy="365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737360"/>
            <a:ext cx="1965960" cy="2743200"/>
          </a:xfrm>
          <a:prstGeom prst="rect">
            <a:avLst>
              <a:gd name="adj" fmla="val 3721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60120" y="1874520"/>
            <a:ext cx="960120" cy="274320"/>
          </a:xfrm>
          <a:prstGeom prst="rect">
            <a:avLst>
              <a:gd name="adj" fmla="val 1333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当天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发送感谢信息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感谢家长带孩子来体验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留下良好的品牌印象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为后续跟进打开沟通通道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1143000"/>
            <a:ext cx="411480" cy="411480"/>
          </a:xfrm>
          <a:prstGeom prst="ellipse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794760" y="1307592"/>
            <a:ext cx="1691640" cy="365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560320" y="1737360"/>
            <a:ext cx="1965960" cy="2743200"/>
          </a:xfrm>
          <a:prstGeom prst="rect">
            <a:avLst>
              <a:gd name="adj" fmla="val 3721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063240" y="1874520"/>
            <a:ext cx="960120" cy="274320"/>
          </a:xfrm>
          <a:prstGeom prst="rect">
            <a:avLst>
              <a:gd name="adj" fmla="val 13333"/>
            </a:avLst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06324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24小时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电话回访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了解家长的真实想法和顾虑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5176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针对性解决问题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部分家长只是需要时间考虑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0" y="1143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1691640" cy="365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63440" y="1737360"/>
            <a:ext cx="1965960" cy="2743200"/>
          </a:xfrm>
          <a:prstGeom prst="rect">
            <a:avLst>
              <a:gd name="adj" fmla="val 3721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166360" y="1874520"/>
            <a:ext cx="960120" cy="274320"/>
          </a:xfrm>
          <a:prstGeom prst="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16636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发送定制方案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根据孩子情况制作专属训练方案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体现专业和用心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让家长感受到被重视，增加好感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89520" y="11430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766560" y="1737360"/>
            <a:ext cx="1965960" cy="2743200"/>
          </a:xfrm>
          <a:prstGeom prst="rect">
            <a:avLst>
              <a:gd name="adj" fmla="val 3721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269480" y="1874520"/>
            <a:ext cx="960120" cy="274320"/>
          </a:xfrm>
          <a:prstGeom prst="rect">
            <a:avLst>
              <a:gd name="adj" fmla="val 1333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26948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7天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活动邀请 → 15天方案调整 → 30天转长期维护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邀请参加开业活动/体验活动/亲子活动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创造再次到店的机会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85D2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多次接触提升转化概率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体验课转化率提升技巧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5个实用技巧，让转化率持续提升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营造紧迫感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限时优惠、名额有限等策略，推动家长快速决策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29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利用从众心理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展示其他家长的报名情况和好评，增强信任感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提供超预期体验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赠送小礼品、拍摄精彩照片，让体验超出预期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51660" y="292608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851660" y="292608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034540" y="30632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0345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8318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建立情感连接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3454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记住孩子名字、关注细节，让家长感受到真诚关怀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40580" y="2926080"/>
            <a:ext cx="2606040" cy="1554480"/>
          </a:xfrm>
          <a:prstGeom prst="rect">
            <a:avLst>
              <a:gd name="adj" fmla="val 470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640580" y="292608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23460" y="30632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234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7210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简化报名流程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2346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准备好转单工具，减少决策环节，让报名变得轻松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本课要点回顾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课前 / 课中 / 课后各3个关键动作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310896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2606040" cy="502920"/>
          </a:xfrm>
          <a:prstGeom prst="rect">
            <a:avLst>
              <a:gd name="adj" fmla="val 18182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600200"/>
            <a:ext cx="2606040" cy="137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课前准备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充分了解孩子信息与需求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顾问教练提前沟通配合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与家长确认到店时间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06040" cy="310896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246120" y="1234440"/>
            <a:ext cx="2606040" cy="502920"/>
          </a:xfrm>
          <a:prstGeom prst="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246120" y="1600200"/>
            <a:ext cx="2606040" cy="137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8328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课中配合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29000" y="1965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2900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顾问旁听记录关键时刻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2743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290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教练展示教学专业度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29000" y="35204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2900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关注孩子安全与快乐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35040" y="1234440"/>
            <a:ext cx="2606040" cy="3108960"/>
          </a:xfrm>
          <a:prstGeom prst="rect">
            <a:avLst>
              <a:gd name="adj" fmla="val 3509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035040" y="1234440"/>
            <a:ext cx="2606040" cy="502920"/>
          </a:xfrm>
          <a:prstGeom prst="rect">
            <a:avLst>
              <a:gd name="adj" fmla="val 18182"/>
            </a:avLst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035040" y="1600200"/>
            <a:ext cx="2606040" cy="137160"/>
          </a:xfrm>
          <a:prstGeom prst="rect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7220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课后促单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7920" y="1965960"/>
            <a:ext cx="320040" cy="320040"/>
          </a:xfrm>
          <a:prstGeom prst="ellipse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1792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把握10分钟黄金窗口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2743200"/>
            <a:ext cx="320040" cy="320040"/>
          </a:xfrm>
          <a:prstGeom prst="ellipse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1792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2940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教练反馈+顾问推荐配合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3520440"/>
            <a:ext cx="320040" cy="320040"/>
          </a:xfrm>
          <a:prstGeom prst="ellipse">
            <a:avLst/>
          </a:prstGeom>
          <a:solidFill>
            <a:srgbClr val="E85D2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2179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2940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识别信号精准促单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Rectangle 45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行动任务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02920"/>
          </a:xfrm>
          <a:prstGeom prst="rect">
            <a:avLst>
              <a:gd name="adj" fmla="val 10909"/>
            </a:avLst>
          </a:prstGeom>
          <a:solidFill>
            <a:srgbClr val="25306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307592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梳理体验课SOP，确保每个环节标准化执行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502920"/>
          </a:xfrm>
          <a:prstGeom prst="rect">
            <a:avLst>
              <a:gd name="adj" fmla="val 10909"/>
            </a:avLst>
          </a:prstGeom>
          <a:solidFill>
            <a:srgbClr val="25306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1947672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练习课前3个必问问题和课后反馈话术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502920"/>
          </a:xfrm>
          <a:prstGeom prst="rect">
            <a:avLst>
              <a:gd name="adj" fmla="val 10909"/>
            </a:avLst>
          </a:prstGeom>
          <a:solidFill>
            <a:srgbClr val="253060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4360" y="2587752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建立未成交客户跟进表，严格执行6步跟进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502920"/>
          </a:xfrm>
          <a:prstGeom prst="rect">
            <a:avLst>
              <a:gd name="adj" fmla="val 10909"/>
            </a:avLst>
          </a:prstGeom>
          <a:solidFill>
            <a:srgbClr val="253060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4360" y="3227832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5468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本周完成至少2次体验课全流程实操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让每个孩子都发光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3" name="Rectangle 22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追光小牛·销售培训 第五课：体验课转化全流程</dc:title>
  <dc:subject>PptxGenJS Presentation</dc:subject>
  <dc:creator>追光小牛</dc:creator>
  <cp:lastModifiedBy>追光小牛</cp:lastModifiedBy>
  <cp:revision>1</cp:revision>
  <dcterms:created xsi:type="dcterms:W3CDTF">2026-04-18T17:11:05Z</dcterms:created>
  <dcterms:modified xsi:type="dcterms:W3CDTF">2026-04-18T17:11:05Z</dcterms:modified>
</cp:coreProperties>
</file>