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6B35"/>
          </a:solidFill>
          <a:ln/>
        </p:spPr>
        <p:txBody>
          <a:bodyPr/>
          <a:p/>
        </p:txBody>
      </p:sp>
      <p:sp>
        <p:nvSpPr>
          <p:cNvPr id="3" name="Shape 1"/>
          <p:cNvSpPr/>
          <p:nvPr/>
        </p:nvSpPr>
        <p:spPr>
          <a:xfrm>
            <a:off x="0" y="5070348"/>
            <a:ext cx="9144000" cy="73152"/>
          </a:xfrm>
          <a:prstGeom prst="rect">
            <a:avLst/>
          </a:prstGeom>
          <a:solidFill>
            <a:srgbClr val="FF6B35"/>
          </a:solidFill>
          <a:ln/>
        </p:spPr>
        <p:txBody>
          <a:bodyPr/>
          <a:p/>
        </p:txBody>
      </p:sp>
      <p:sp>
        <p:nvSpPr>
          <p:cNvPr id="4" name="Shape 2"/>
          <p:cNvSpPr/>
          <p:nvPr/>
        </p:nvSpPr>
        <p:spPr>
          <a:xfrm>
            <a:off x="5943600" y="-1097280"/>
            <a:ext cx="4572000" cy="4572000"/>
          </a:xfrm>
          <a:prstGeom prst="ellipse">
            <a:avLst/>
          </a:prstGeom>
          <a:solidFill>
            <a:srgbClr val="FF6B35">
              <a:alpha val="15000"/>
            </a:srgbClr>
          </a:solidFill>
          <a:ln/>
        </p:spPr>
        <p:txBody>
          <a:bodyPr/>
          <a:p/>
        </p:txBody>
      </p:sp>
      <p:sp>
        <p:nvSpPr>
          <p:cNvPr id="5" name="Shape 3"/>
          <p:cNvSpPr/>
          <p:nvPr/>
        </p:nvSpPr>
        <p:spPr>
          <a:xfrm>
            <a:off x="-1371600" y="2857500"/>
            <a:ext cx="3657600" cy="2236000"/>
          </a:xfrm>
          <a:prstGeom prst="ellipse">
            <a:avLst/>
          </a:prstGeom>
          <a:solidFill>
            <a:srgbClr val="FF6B35">
              <a:alpha val="10000"/>
            </a:srgbClr>
          </a:solidFill>
          <a:ln/>
        </p:spPr>
        <p:txBody>
          <a:bodyPr/>
          <a:p/>
        </p:txBody>
      </p:sp>
      <p:sp>
        <p:nvSpPr>
          <p:cNvPr id="6" name="Shape 4"/>
          <p:cNvSpPr/>
          <p:nvPr/>
        </p:nvSpPr>
        <p:spPr>
          <a:xfrm>
            <a:off x="3749040" y="1005840"/>
            <a:ext cx="1645920" cy="347472"/>
          </a:xfrm>
          <a:prstGeom prst="rect">
            <a:avLst>
              <a:gd name="adj" fmla="val 15789"/>
            </a:avLst>
          </a:prstGeom>
          <a:solidFill>
            <a:srgbClr val="FF6B35"/>
          </a:solidFill>
          <a:ln/>
        </p:spPr>
        <p:txBody>
          <a:bodyPr/>
          <a:p/>
        </p:txBody>
      </p:sp>
      <p:sp>
        <p:nvSpPr>
          <p:cNvPr id="7" name="Text 5"/>
          <p:cNvSpPr/>
          <p:nvPr/>
        </p:nvSpPr>
        <p:spPr>
          <a:xfrm>
            <a:off x="3749040" y="1005840"/>
            <a:ext cx="1645920" cy="347472"/>
          </a:xfrm>
          <a:prstGeom prst="rect">
            <a:avLst/>
          </a:prstGeom>
          <a:noFill/>
          <a:ln/>
        </p:spPr>
        <p:txBody>
          <a:bodyPr wrap="square" rtlCol="0" anchor="ctr">
            <a:normAutofit/>
          </a:bodyPr>
          <a:lstStyle/>
          <a:p>
            <a:pPr algn="ctr" indent="0" marL="0">
              <a:buNone/>
            </a:pPr>
            <a:r>
              <a:rPr lang="en-US" sz="1600" dirty="0">
                <a:solidFill>
                  <a:srgbClr val="FFFFFF"/>
                </a:solidFill>
                <a:latin typeface="微软雅黑" pitchFamily="34" charset="0"/>
                <a:ea typeface="Arial Black" pitchFamily="34" charset="-122"/>
                <a:cs typeface="Arial Black" pitchFamily="34" charset="-120"/>
              </a:rPr>
              <a:t>追光小牛</a:t>
            </a:r>
            <a:endParaRPr lang="en-US" sz="1600" dirty="0"/>
          </a:p>
        </p:txBody>
      </p:sp>
      <p:sp>
        <p:nvSpPr>
          <p:cNvPr id="8" name="Text 6"/>
          <p:cNvSpPr/>
          <p:nvPr/>
        </p:nvSpPr>
        <p:spPr>
          <a:xfrm>
            <a:off x="457200" y="1554480"/>
            <a:ext cx="8229600" cy="640080"/>
          </a:xfrm>
          <a:prstGeom prst="rect">
            <a:avLst/>
          </a:prstGeom>
          <a:noFill/>
          <a:ln/>
        </p:spPr>
        <p:txBody>
          <a:bodyPr wrap="square" rtlCol="0" anchor="ctr">
            <a:normAutofit/>
          </a:bodyPr>
          <a:lstStyle/>
          <a:p>
            <a:pPr algn="ctr" indent="0" marL="0">
              <a:buNone/>
            </a:pPr>
            <a:r>
              <a:rPr lang="en-US" sz="3600" dirty="0">
                <a:solidFill>
                  <a:srgbClr val="FFFFFF"/>
                </a:solidFill>
                <a:latin typeface="微软雅黑" pitchFamily="34" charset="0"/>
                <a:ea typeface="Arial Black" pitchFamily="34" charset="-122"/>
                <a:cs typeface="Arial Black" pitchFamily="34" charset="-120"/>
              </a:rPr>
              <a:t>销售培训</a:t>
            </a:r>
            <a:endParaRPr lang="en-US" sz="3600" dirty="0"/>
          </a:p>
        </p:txBody>
      </p:sp>
      <p:sp>
        <p:nvSpPr>
          <p:cNvPr id="9" name="Text 7"/>
          <p:cNvSpPr/>
          <p:nvPr/>
        </p:nvSpPr>
        <p:spPr>
          <a:xfrm>
            <a:off x="1371600" y="2286000"/>
            <a:ext cx="6400800" cy="502920"/>
          </a:xfrm>
          <a:prstGeom prst="rect">
            <a:avLst/>
          </a:prstGeom>
          <a:noFill/>
          <a:ln/>
        </p:spPr>
        <p:txBody>
          <a:bodyPr wrap="square" rtlCol="0" anchor="ctr">
            <a:normAutofit/>
          </a:bodyPr>
          <a:lstStyle/>
          <a:p>
            <a:pPr algn="ctr" indent="0" marL="0">
              <a:buNone/>
            </a:pPr>
            <a:r>
              <a:rPr lang="en-US" sz="2000" dirty="0">
                <a:solidFill>
                  <a:srgbClr val="FFE8DD"/>
                </a:solidFill>
                <a:latin typeface="微软雅黑" pitchFamily="34" charset="0"/>
                <a:ea typeface="Calibri" pitchFamily="34" charset="-122"/>
                <a:cs typeface="Calibri" pitchFamily="34" charset="-120"/>
              </a:rPr>
              <a:t>第四课：体测 —— 你的第一把成交利器</a:t>
            </a:r>
            <a:endParaRPr lang="en-US" sz="2000" dirty="0"/>
          </a:p>
        </p:txBody>
      </p:sp>
      <p:sp>
        <p:nvSpPr>
          <p:cNvPr id="10" name="Shape 8"/>
          <p:cNvSpPr/>
          <p:nvPr/>
        </p:nvSpPr>
        <p:spPr>
          <a:xfrm>
            <a:off x="3200400" y="3017520"/>
            <a:ext cx="2743200" cy="27432"/>
          </a:xfrm>
          <a:prstGeom prst="rect">
            <a:avLst/>
          </a:prstGeom>
          <a:solidFill>
            <a:srgbClr val="FF6B35"/>
          </a:solidFill>
          <a:ln/>
        </p:spPr>
        <p:txBody>
          <a:bodyPr/>
          <a:p/>
        </p:txBody>
      </p:sp>
      <p:sp>
        <p:nvSpPr>
          <p:cNvPr id="11" name="Text 9"/>
          <p:cNvSpPr/>
          <p:nvPr/>
        </p:nvSpPr>
        <p:spPr>
          <a:xfrm>
            <a:off x="1371600" y="3291840"/>
            <a:ext cx="6400800" cy="365760"/>
          </a:xfrm>
          <a:prstGeom prst="rect">
            <a:avLst/>
          </a:prstGeom>
          <a:noFill/>
          <a:ln/>
        </p:spPr>
        <p:txBody>
          <a:bodyPr wrap="square" rtlCol="0" anchor="ctr">
            <a:normAutofit/>
          </a:bodyPr>
          <a:lstStyle/>
          <a:p>
            <a:pPr algn="ctr" indent="0" marL="0">
              <a:buNone/>
            </a:pPr>
            <a:r>
              <a:rPr lang="en-US" sz="1300" dirty="0">
                <a:solidFill>
                  <a:srgbClr val="AABBCC"/>
                </a:solidFill>
                <a:latin typeface="微软雅黑" pitchFamily="34" charset="0"/>
                <a:ea typeface="Calibri" pitchFamily="34" charset="-122"/>
                <a:cs typeface="Calibri" pitchFamily="34" charset="-120"/>
              </a:rPr>
              <a:t>体测销售实战 | FAB法则驱动成交</a:t>
            </a:r>
            <a:endParaRPr lang="en-US" sz="1300" dirty="0"/>
          </a:p>
        </p:txBody>
      </p:sp>
      <p:sp>
        <p:nvSpPr>
          <p:cNvPr id="12" name="Rectangle 11"/>
          <p:cNvSpPr/>
          <p:nvPr/>
        </p:nvSpPr>
        <p:spPr>
          <a:xfrm>
            <a:off x="0" y="0"/>
            <a:ext cx="9144000" cy="4114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4371975"/>
            <a:ext cx="9144000" cy="771525"/>
          </a:xfrm>
          <a:prstGeom prst="rect">
            <a:avLst/>
          </a:prstGeom>
          <a:solidFill>
            <a:srgbClr val="14244D">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6B35"/>
          </a:solidFill>
          <a:ln/>
        </p:spPr>
        <p:txBody>
          <a:bodyPr/>
          <a:p/>
        </p:txBody>
      </p:sp>
      <p:sp>
        <p:nvSpPr>
          <p:cNvPr id="3" name="Shape 1"/>
          <p:cNvSpPr/>
          <p:nvPr/>
        </p:nvSpPr>
        <p:spPr>
          <a:xfrm>
            <a:off x="0" y="5088636"/>
            <a:ext cx="9144000" cy="54864"/>
          </a:xfrm>
          <a:prstGeom prst="rect">
            <a:avLst/>
          </a:prstGeom>
          <a:solidFill>
            <a:srgbClr val="1E2761"/>
          </a:solidFill>
          <a:ln/>
        </p:spPr>
        <p:txBody>
          <a:bodyPr/>
          <a:p/>
        </p:txBody>
      </p:sp>
      <p:sp>
        <p:nvSpPr>
          <p:cNvPr id="4" name="Text 2"/>
          <p:cNvSpPr/>
          <p:nvPr/>
        </p:nvSpPr>
        <p:spPr>
          <a:xfrm>
            <a:off x="457200" y="182880"/>
            <a:ext cx="8229600" cy="502920"/>
          </a:xfrm>
          <a:prstGeom prst="rect">
            <a:avLst/>
          </a:prstGeom>
          <a:noFill/>
          <a:ln/>
        </p:spPr>
        <p:txBody>
          <a:bodyPr wrap="square" rtlCol="0" anchor="b">
            <a:normAutofit/>
          </a:bodyPr>
          <a:lstStyle/>
          <a:p>
            <a:pPr indent="0" marL="0">
              <a:buNone/>
            </a:pPr>
            <a:r>
              <a:rPr lang="en-US" sz="2600" dirty="0">
                <a:solidFill>
                  <a:srgbClr val="FFFFFF"/>
                </a:solidFill>
                <a:latin typeface="微软雅黑" pitchFamily="34" charset="0"/>
                <a:ea typeface="Arial Black" pitchFamily="34" charset="-122"/>
                <a:cs typeface="Arial Black" pitchFamily="34" charset="-120"/>
              </a:rPr>
              <a:t>课程目录</a:t>
            </a:r>
            <a:endParaRPr lang="en-US" sz="2600" dirty="0"/>
          </a:p>
        </p:txBody>
      </p:sp>
      <p:sp>
        <p:nvSpPr>
          <p:cNvPr id="5" name="Text 3"/>
          <p:cNvSpPr/>
          <p:nvPr/>
        </p:nvSpPr>
        <p:spPr>
          <a:xfrm>
            <a:off x="457200" y="658368"/>
            <a:ext cx="8229600" cy="274320"/>
          </a:xfrm>
          <a:prstGeom prst="rect">
            <a:avLst/>
          </a:prstGeom>
          <a:noFill/>
          <a:ln/>
        </p:spPr>
        <p:txBody>
          <a:bodyPr wrap="square" rtlCol="0" anchor="ctr">
            <a:normAutofit/>
          </a:bodyPr>
          <a:lstStyle/>
          <a:p>
            <a:pPr indent="0" marL="0">
              <a:buNone/>
            </a:pPr>
            <a:r>
              <a:rPr lang="en-US" sz="1200" dirty="0">
                <a:solidFill>
                  <a:srgbClr val="FFFFFF"/>
                </a:solidFill>
                <a:latin typeface="微软雅黑" pitchFamily="34" charset="0"/>
                <a:ea typeface="Calibri" pitchFamily="34" charset="-122"/>
                <a:cs typeface="Calibri" pitchFamily="34" charset="-120"/>
              </a:rPr>
              <a:t>体测销售实战 - 全流程掌握</a:t>
            </a:r>
            <a:endParaRPr lang="en-US" sz="1200" dirty="0"/>
          </a:p>
        </p:txBody>
      </p:sp>
      <p:sp>
        <p:nvSpPr>
          <p:cNvPr id="6" name="Text 4"/>
          <p:cNvSpPr/>
          <p:nvPr/>
        </p:nvSpPr>
        <p:spPr>
          <a:xfrm>
            <a:off x="7955280" y="4777740"/>
            <a:ext cx="731520" cy="274320"/>
          </a:xfrm>
          <a:prstGeom prst="rect">
            <a:avLst/>
          </a:prstGeom>
          <a:noFill/>
          <a:ln/>
        </p:spPr>
        <p:txBody>
          <a:bodyPr wrap="square" rtlCol="0" anchor="ctr">
            <a:normAutofit/>
          </a:bodyPr>
          <a:lstStyle/>
          <a:p>
            <a:pPr algn="r" indent="0" marL="0">
              <a:buNone/>
            </a:pPr>
            <a:r>
              <a:rPr lang="en-US" sz="900" dirty="0">
                <a:solidFill>
                  <a:srgbClr val="FFFFFF"/>
                </a:solidFill>
                <a:latin typeface="微软雅黑" pitchFamily="34" charset="0"/>
                <a:ea typeface="Calibri" pitchFamily="34" charset="-122"/>
                <a:cs typeface="Calibri" pitchFamily="34" charset="-120"/>
              </a:rPr>
              <a:t>2 / 15</a:t>
            </a:r>
            <a:endParaRPr lang="en-US" sz="900" dirty="0"/>
          </a:p>
        </p:txBody>
      </p:sp>
      <p:sp>
        <p:nvSpPr>
          <p:cNvPr id="7" name="Shape 5"/>
          <p:cNvSpPr/>
          <p:nvPr/>
        </p:nvSpPr>
        <p:spPr>
          <a:xfrm>
            <a:off x="457200" y="1188720"/>
            <a:ext cx="8229600" cy="1005840"/>
          </a:xfrm>
          <a:prstGeom prst="rect">
            <a:avLst>
              <a:gd name="adj" fmla="val 7273"/>
            </a:avLst>
          </a:prstGeom>
          <a:solidFill>
            <a:srgbClr val="1A2A50">
              <a:alpha val="70000"/>
            </a:srgbClr>
          </a:solidFill>
          <a:ln/>
          <a:effectLst>
            <a:outerShdw sx="100000" sy="100000" kx="0" ky="0" algn="bl" rotWithShape="0" blurRad="50800" dist="25400" dir="16200000">
              <a:srgbClr val="000000">
                <a:alpha val="6000"/>
              </a:srgbClr>
            </a:outerShdw>
          </a:effectLst>
        </p:spPr>
        <p:txBody>
          <a:bodyPr/>
          <a:p/>
        </p:txBody>
      </p:sp>
      <p:sp>
        <p:nvSpPr>
          <p:cNvPr id="8" name="Shape 6"/>
          <p:cNvSpPr/>
          <p:nvPr/>
        </p:nvSpPr>
        <p:spPr>
          <a:xfrm>
            <a:off x="457200" y="1188720"/>
            <a:ext cx="64008" cy="1005840"/>
          </a:xfrm>
          <a:prstGeom prst="rect">
            <a:avLst>
              <a:gd name="adj" fmla="val 57143"/>
            </a:avLst>
          </a:prstGeom>
          <a:solidFill>
            <a:srgbClr val="FF6B35"/>
          </a:solidFill>
          <a:ln/>
        </p:spPr>
        <p:txBody>
          <a:bodyPr/>
          <a:p/>
        </p:txBody>
      </p:sp>
      <p:sp>
        <p:nvSpPr>
          <p:cNvPr id="9" name="Text 7"/>
          <p:cNvSpPr/>
          <p:nvPr/>
        </p:nvSpPr>
        <p:spPr>
          <a:xfrm>
            <a:off x="685800" y="1325880"/>
            <a:ext cx="731520" cy="731520"/>
          </a:xfrm>
          <a:prstGeom prst="rect">
            <a:avLst/>
          </a:prstGeom>
          <a:noFill/>
          <a:ln/>
        </p:spPr>
        <p:txBody>
          <a:bodyPr wrap="square" rtlCol="0" anchor="ctr">
            <a:normAutofit/>
          </a:bodyPr>
          <a:lstStyle/>
          <a:p>
            <a:pPr algn="ctr" indent="0" marL="0">
              <a:buNone/>
            </a:pPr>
            <a:r>
              <a:rPr lang="en-US" sz="2800" dirty="0">
                <a:solidFill>
                  <a:srgbClr val="FF6B35"/>
                </a:solidFill>
                <a:latin typeface="微软雅黑" pitchFamily="34" charset="0"/>
                <a:ea typeface="Arial Black" pitchFamily="34" charset="-122"/>
                <a:cs typeface="Arial Black" pitchFamily="34" charset="-120"/>
              </a:rPr>
              <a:t>01</a:t>
            </a:r>
            <a:endParaRPr lang="en-US" sz="2800" dirty="0"/>
          </a:p>
        </p:txBody>
      </p:sp>
      <p:sp>
        <p:nvSpPr>
          <p:cNvPr id="10" name="Text 8"/>
          <p:cNvSpPr/>
          <p:nvPr/>
        </p:nvSpPr>
        <p:spPr>
          <a:xfrm>
            <a:off x="1554480" y="1325880"/>
            <a:ext cx="4572000" cy="411480"/>
          </a:xfrm>
          <a:prstGeom prst="rect">
            <a:avLst/>
          </a:prstGeom>
          <a:noFill/>
          <a:ln/>
        </p:spPr>
        <p:txBody>
          <a:bodyPr wrap="square" rtlCol="0" anchor="ctr">
            <a:normAutofit/>
          </a:bodyPr>
          <a:lstStyle/>
          <a:p>
            <a:pPr indent="0" marL="0">
              <a:buNone/>
            </a:pPr>
            <a:r>
              <a:rPr lang="en-US" sz="1800" dirty="0">
                <a:solidFill>
                  <a:srgbClr val="FFFFFF"/>
                </a:solidFill>
                <a:latin typeface="微软雅黑" pitchFamily="34" charset="0"/>
                <a:ea typeface="Arial Black" pitchFamily="34" charset="-122"/>
                <a:cs typeface="Arial Black" pitchFamily="34" charset="-120"/>
              </a:rPr>
              <a:t>体测的价值</a:t>
            </a:r>
            <a:endParaRPr lang="en-US" sz="1800" dirty="0"/>
          </a:p>
        </p:txBody>
      </p:sp>
      <p:sp>
        <p:nvSpPr>
          <p:cNvPr id="11" name="Text 9"/>
          <p:cNvSpPr/>
          <p:nvPr/>
        </p:nvSpPr>
        <p:spPr>
          <a:xfrm>
            <a:off x="1554480" y="1737360"/>
            <a:ext cx="5943600" cy="320040"/>
          </a:xfrm>
          <a:prstGeom prst="rect">
            <a:avLst/>
          </a:prstGeom>
          <a:noFill/>
          <a:ln/>
        </p:spPr>
        <p:txBody>
          <a:bodyPr wrap="square" rtlCol="0" anchor="ctr">
            <a:normAutofit/>
          </a:bodyPr>
          <a:lstStyle/>
          <a:p>
            <a:pPr indent="0" marL="0">
              <a:buNone/>
            </a:pPr>
            <a:r>
              <a:rPr lang="en-US" sz="1100" dirty="0">
                <a:solidFill>
                  <a:srgbClr val="FFFFFF"/>
                </a:solidFill>
                <a:latin typeface="微软雅黑" pitchFamily="34" charset="0"/>
                <a:ea typeface="Calibri" pitchFamily="34" charset="-122"/>
                <a:cs typeface="Calibri" pitchFamily="34" charset="-120"/>
              </a:rPr>
              <a:t>体测是什么 / 两大场景</a:t>
            </a:r>
            <a:endParaRPr lang="en-US" sz="1100" dirty="0"/>
          </a:p>
        </p:txBody>
      </p:sp>
      <p:sp>
        <p:nvSpPr>
          <p:cNvPr id="12" name="Shape 10"/>
          <p:cNvSpPr/>
          <p:nvPr/>
        </p:nvSpPr>
        <p:spPr>
          <a:xfrm>
            <a:off x="457200" y="2377440"/>
            <a:ext cx="8229600" cy="1005840"/>
          </a:xfrm>
          <a:prstGeom prst="rect">
            <a:avLst>
              <a:gd name="adj" fmla="val 7273"/>
            </a:avLst>
          </a:prstGeom>
          <a:solidFill>
            <a:srgbClr val="1A2A50">
              <a:alpha val="70000"/>
            </a:srgbClr>
          </a:solidFill>
          <a:ln/>
          <a:effectLst>
            <a:outerShdw sx="100000" sy="100000" kx="0" ky="0" algn="bl" rotWithShape="0" blurRad="50800" dist="25400" dir="16200000">
              <a:srgbClr val="000000">
                <a:alpha val="6000"/>
              </a:srgbClr>
            </a:outerShdw>
          </a:effectLst>
        </p:spPr>
        <p:txBody>
          <a:bodyPr/>
          <a:p/>
        </p:txBody>
      </p:sp>
      <p:sp>
        <p:nvSpPr>
          <p:cNvPr id="13" name="Shape 11"/>
          <p:cNvSpPr/>
          <p:nvPr/>
        </p:nvSpPr>
        <p:spPr>
          <a:xfrm>
            <a:off x="457200" y="2377440"/>
            <a:ext cx="64008" cy="1005840"/>
          </a:xfrm>
          <a:prstGeom prst="rect">
            <a:avLst>
              <a:gd name="adj" fmla="val 57143"/>
            </a:avLst>
          </a:prstGeom>
          <a:solidFill>
            <a:srgbClr val="FF6B35"/>
          </a:solidFill>
          <a:ln/>
        </p:spPr>
        <p:txBody>
          <a:bodyPr/>
          <a:p/>
        </p:txBody>
      </p:sp>
      <p:sp>
        <p:nvSpPr>
          <p:cNvPr id="14" name="Text 12"/>
          <p:cNvSpPr/>
          <p:nvPr/>
        </p:nvSpPr>
        <p:spPr>
          <a:xfrm>
            <a:off x="685800" y="2514600"/>
            <a:ext cx="731520" cy="731520"/>
          </a:xfrm>
          <a:prstGeom prst="rect">
            <a:avLst/>
          </a:prstGeom>
          <a:noFill/>
          <a:ln/>
        </p:spPr>
        <p:txBody>
          <a:bodyPr wrap="square" rtlCol="0" anchor="ctr">
            <a:normAutofit/>
          </a:bodyPr>
          <a:lstStyle/>
          <a:p>
            <a:pPr algn="ctr" indent="0" marL="0">
              <a:buNone/>
            </a:pPr>
            <a:r>
              <a:rPr lang="en-US" sz="2800" dirty="0">
                <a:solidFill>
                  <a:srgbClr val="FF6B35"/>
                </a:solidFill>
                <a:latin typeface="微软雅黑" pitchFamily="34" charset="0"/>
                <a:ea typeface="Arial Black" pitchFamily="34" charset="-122"/>
                <a:cs typeface="Arial Black" pitchFamily="34" charset="-120"/>
              </a:rPr>
              <a:t>02</a:t>
            </a:r>
            <a:endParaRPr lang="en-US" sz="2800" dirty="0"/>
          </a:p>
        </p:txBody>
      </p:sp>
      <p:sp>
        <p:nvSpPr>
          <p:cNvPr id="15" name="Text 13"/>
          <p:cNvSpPr/>
          <p:nvPr/>
        </p:nvSpPr>
        <p:spPr>
          <a:xfrm>
            <a:off x="1554480" y="2514600"/>
            <a:ext cx="4572000" cy="411480"/>
          </a:xfrm>
          <a:prstGeom prst="rect">
            <a:avLst/>
          </a:prstGeom>
          <a:noFill/>
          <a:ln/>
        </p:spPr>
        <p:txBody>
          <a:bodyPr wrap="square" rtlCol="0" anchor="ctr">
            <a:normAutofit/>
          </a:bodyPr>
          <a:lstStyle/>
          <a:p>
            <a:pPr indent="0" marL="0">
              <a:buNone/>
            </a:pPr>
            <a:r>
              <a:rPr lang="en-US" sz="1800" dirty="0">
                <a:solidFill>
                  <a:srgbClr val="FFFFFF"/>
                </a:solidFill>
                <a:latin typeface="微软雅黑" pitchFamily="34" charset="0"/>
                <a:ea typeface="Arial Black" pitchFamily="34" charset="-122"/>
                <a:cs typeface="Arial Black" pitchFamily="34" charset="-120"/>
              </a:rPr>
              <a:t>体测流程6步</a:t>
            </a:r>
            <a:endParaRPr lang="en-US" sz="1800" dirty="0"/>
          </a:p>
        </p:txBody>
      </p:sp>
      <p:sp>
        <p:nvSpPr>
          <p:cNvPr id="16" name="Text 14"/>
          <p:cNvSpPr/>
          <p:nvPr/>
        </p:nvSpPr>
        <p:spPr>
          <a:xfrm>
            <a:off x="1554480" y="2926080"/>
            <a:ext cx="5943600" cy="320040"/>
          </a:xfrm>
          <a:prstGeom prst="rect">
            <a:avLst/>
          </a:prstGeom>
          <a:noFill/>
          <a:ln/>
        </p:spPr>
        <p:txBody>
          <a:bodyPr wrap="square" rtlCol="0" anchor="ctr">
            <a:normAutofit/>
          </a:bodyPr>
          <a:lstStyle/>
          <a:p>
            <a:pPr indent="0" marL="0">
              <a:buNone/>
            </a:pPr>
            <a:r>
              <a:rPr lang="en-US" sz="1100" dirty="0">
                <a:solidFill>
                  <a:srgbClr val="FFFFFF"/>
                </a:solidFill>
                <a:latin typeface="微软雅黑" pitchFamily="34" charset="0"/>
                <a:ea typeface="Calibri" pitchFamily="34" charset="-122"/>
                <a:cs typeface="Calibri" pitchFamily="34" charset="-120"/>
              </a:rPr>
              <a:t>邀约 &gt; 准备 &gt; 执行 &gt; 录入 &gt; 解读 &gt; 跟进</a:t>
            </a:r>
            <a:endParaRPr lang="en-US" sz="1100" dirty="0"/>
          </a:p>
        </p:txBody>
      </p:sp>
      <p:sp>
        <p:nvSpPr>
          <p:cNvPr id="17" name="Shape 15"/>
          <p:cNvSpPr/>
          <p:nvPr/>
        </p:nvSpPr>
        <p:spPr>
          <a:xfrm>
            <a:off x="457200" y="3566160"/>
            <a:ext cx="8229600" cy="1005840"/>
          </a:xfrm>
          <a:prstGeom prst="rect">
            <a:avLst>
              <a:gd name="adj" fmla="val 7273"/>
            </a:avLst>
          </a:prstGeom>
          <a:solidFill>
            <a:srgbClr val="1A2A50">
              <a:alpha val="70000"/>
            </a:srgbClr>
          </a:solidFill>
          <a:ln/>
          <a:effectLst>
            <a:outerShdw sx="100000" sy="100000" kx="0" ky="0" algn="bl" rotWithShape="0" blurRad="50800" dist="25400" dir="16200000">
              <a:srgbClr val="000000">
                <a:alpha val="6000"/>
              </a:srgbClr>
            </a:outerShdw>
          </a:effectLst>
        </p:spPr>
        <p:txBody>
          <a:bodyPr/>
          <a:p/>
        </p:txBody>
      </p:sp>
      <p:sp>
        <p:nvSpPr>
          <p:cNvPr id="18" name="Shape 16"/>
          <p:cNvSpPr/>
          <p:nvPr/>
        </p:nvSpPr>
        <p:spPr>
          <a:xfrm>
            <a:off x="457200" y="3566160"/>
            <a:ext cx="64008" cy="1005840"/>
          </a:xfrm>
          <a:prstGeom prst="rect">
            <a:avLst>
              <a:gd name="adj" fmla="val 57143"/>
            </a:avLst>
          </a:prstGeom>
          <a:solidFill>
            <a:srgbClr val="FF6B35"/>
          </a:solidFill>
          <a:ln/>
        </p:spPr>
        <p:txBody>
          <a:bodyPr/>
          <a:p/>
        </p:txBody>
      </p:sp>
      <p:sp>
        <p:nvSpPr>
          <p:cNvPr id="19" name="Text 17"/>
          <p:cNvSpPr/>
          <p:nvPr/>
        </p:nvSpPr>
        <p:spPr>
          <a:xfrm>
            <a:off x="685800" y="3703320"/>
            <a:ext cx="731520" cy="731520"/>
          </a:xfrm>
          <a:prstGeom prst="rect">
            <a:avLst/>
          </a:prstGeom>
          <a:noFill/>
          <a:ln/>
        </p:spPr>
        <p:txBody>
          <a:bodyPr wrap="square" rtlCol="0" anchor="ctr">
            <a:normAutofit/>
          </a:bodyPr>
          <a:lstStyle/>
          <a:p>
            <a:pPr algn="ctr" indent="0" marL="0">
              <a:buNone/>
            </a:pPr>
            <a:r>
              <a:rPr lang="en-US" sz="2800" dirty="0">
                <a:solidFill>
                  <a:srgbClr val="FF6B35"/>
                </a:solidFill>
                <a:latin typeface="微软雅黑" pitchFamily="34" charset="0"/>
                <a:ea typeface="Arial Black" pitchFamily="34" charset="-122"/>
                <a:cs typeface="Arial Black" pitchFamily="34" charset="-120"/>
              </a:rPr>
              <a:t>03</a:t>
            </a:r>
            <a:endParaRPr lang="en-US" sz="2800" dirty="0"/>
          </a:p>
        </p:txBody>
      </p:sp>
      <p:sp>
        <p:nvSpPr>
          <p:cNvPr id="20" name="Text 18"/>
          <p:cNvSpPr/>
          <p:nvPr/>
        </p:nvSpPr>
        <p:spPr>
          <a:xfrm>
            <a:off x="1554480" y="3703320"/>
            <a:ext cx="4572000" cy="411480"/>
          </a:xfrm>
          <a:prstGeom prst="rect">
            <a:avLst/>
          </a:prstGeom>
          <a:noFill/>
          <a:ln/>
        </p:spPr>
        <p:txBody>
          <a:bodyPr wrap="square" rtlCol="0" anchor="ctr">
            <a:normAutofit/>
          </a:bodyPr>
          <a:lstStyle/>
          <a:p>
            <a:pPr indent="0" marL="0">
              <a:buNone/>
            </a:pPr>
            <a:r>
              <a:rPr lang="en-US" sz="1800" dirty="0">
                <a:solidFill>
                  <a:srgbClr val="FFFFFF"/>
                </a:solidFill>
                <a:latin typeface="微软雅黑" pitchFamily="34" charset="0"/>
                <a:ea typeface="Arial Black" pitchFamily="34" charset="-122"/>
                <a:cs typeface="Arial Black" pitchFamily="34" charset="-120"/>
              </a:rPr>
              <a:t>体测解读与关单</a:t>
            </a:r>
            <a:endParaRPr lang="en-US" sz="1800" dirty="0"/>
          </a:p>
        </p:txBody>
      </p:sp>
      <p:sp>
        <p:nvSpPr>
          <p:cNvPr id="21" name="Text 19"/>
          <p:cNvSpPr/>
          <p:nvPr/>
        </p:nvSpPr>
        <p:spPr>
          <a:xfrm>
            <a:off x="1554480" y="4114800"/>
            <a:ext cx="5943600" cy="320040"/>
          </a:xfrm>
          <a:prstGeom prst="rect">
            <a:avLst/>
          </a:prstGeom>
          <a:noFill/>
          <a:ln/>
        </p:spPr>
        <p:txBody>
          <a:bodyPr wrap="square" rtlCol="0" anchor="ctr">
            <a:normAutofit/>
          </a:bodyPr>
          <a:lstStyle/>
          <a:p>
            <a:pPr indent="0" marL="0">
              <a:buNone/>
            </a:pPr>
            <a:r>
              <a:rPr lang="en-US" sz="1100" dirty="0">
                <a:solidFill>
                  <a:srgbClr val="FFFFFF"/>
                </a:solidFill>
                <a:latin typeface="微软雅黑" pitchFamily="34" charset="0"/>
                <a:ea typeface="Calibri" pitchFamily="34" charset="-122"/>
                <a:cs typeface="Calibri" pitchFamily="34" charset="-120"/>
              </a:rPr>
              <a:t>话术模板 / 单项分析 / 常见问题应答</a:t>
            </a:r>
            <a:endParaRPr lang="en-US" sz="1100" dirty="0"/>
          </a:p>
        </p:txBody>
      </p:sp>
      <p:sp>
        <p:nvSpPr>
          <p:cNvPr id="22" name="Rectangle 21"/>
          <p:cNvSpPr/>
          <p:nvPr/>
        </p:nvSpPr>
        <p:spPr>
          <a:xfrm rot="20700000">
            <a:off x="182880" y="771525"/>
            <a:ext cx="731520" cy="19050"/>
          </a:xfrm>
          <a:prstGeom prst="rect">
            <a:avLst/>
          </a:prstGeom>
          <a:solidFill>
            <a:srgbClr val="00E676">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rot="20700000">
            <a:off x="457200" y="1183005"/>
            <a:ext cx="914400" cy="25400"/>
          </a:xfrm>
          <a:prstGeom prst="rect">
            <a:avLst/>
          </a:prstGeom>
          <a:solidFill>
            <a:srgbClr val="00E676">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0"/>
            <a:ext cx="9144000" cy="4114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8046720" y="0"/>
            <a:ext cx="1097280" cy="411480"/>
          </a:xfrm>
          <a:prstGeom prst="triangle">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6B35"/>
          </a:solidFill>
          <a:ln/>
        </p:spPr>
        <p:txBody>
          <a:bodyPr/>
          <a:p/>
        </p:txBody>
      </p:sp>
      <p:sp>
        <p:nvSpPr>
          <p:cNvPr id="3" name="Shape 1"/>
          <p:cNvSpPr/>
          <p:nvPr/>
        </p:nvSpPr>
        <p:spPr>
          <a:xfrm>
            <a:off x="0" y="5088636"/>
            <a:ext cx="9144000" cy="54864"/>
          </a:xfrm>
          <a:prstGeom prst="rect">
            <a:avLst/>
          </a:prstGeom>
          <a:solidFill>
            <a:srgbClr val="1E2761"/>
          </a:solidFill>
          <a:ln/>
        </p:spPr>
        <p:txBody>
          <a:bodyPr/>
          <a:p/>
        </p:txBody>
      </p:sp>
      <p:sp>
        <p:nvSpPr>
          <p:cNvPr id="4" name="Shape 2"/>
          <p:cNvSpPr/>
          <p:nvPr/>
        </p:nvSpPr>
        <p:spPr>
          <a:xfrm>
            <a:off x="457200" y="228600"/>
            <a:ext cx="1463040" cy="292608"/>
          </a:xfrm>
          <a:prstGeom prst="rect">
            <a:avLst>
              <a:gd name="adj" fmla="val 12500"/>
            </a:avLst>
          </a:prstGeom>
          <a:solidFill>
            <a:srgbClr val="FFE8DD"/>
          </a:solidFill>
          <a:ln/>
        </p:spPr>
        <p:txBody>
          <a:bodyPr/>
          <a:p/>
        </p:txBody>
      </p:sp>
      <p:sp>
        <p:nvSpPr>
          <p:cNvPr id="5" name="Text 3"/>
          <p:cNvSpPr/>
          <p:nvPr/>
        </p:nvSpPr>
        <p:spPr>
          <a:xfrm>
            <a:off x="457200" y="228600"/>
            <a:ext cx="1463040" cy="292608"/>
          </a:xfrm>
          <a:prstGeom prst="rect">
            <a:avLst/>
          </a:prstGeom>
          <a:noFill/>
          <a:ln/>
        </p:spPr>
        <p:txBody>
          <a:bodyPr wrap="square" rtlCol="0" anchor="ctr">
            <a:normAutofit/>
          </a:bodyPr>
          <a:lstStyle/>
          <a:p>
            <a:pPr algn="ctr" indent="0" marL="0">
              <a:buNone/>
            </a:pPr>
            <a:r>
              <a:rPr lang="en-US" sz="1000" b="1" dirty="0">
                <a:solidFill>
                  <a:srgbClr val="FF6B35"/>
                </a:solidFill>
                <a:latin typeface="微软雅黑" pitchFamily="34" charset="0"/>
                <a:ea typeface="Calibri" pitchFamily="34" charset="-122"/>
                <a:cs typeface="Calibri" pitchFamily="34" charset="-120"/>
              </a:rPr>
              <a:t>体测的价值</a:t>
            </a:r>
            <a:endParaRPr lang="en-US" sz="1000" dirty="0"/>
          </a:p>
        </p:txBody>
      </p:sp>
      <p:sp>
        <p:nvSpPr>
          <p:cNvPr id="6" name="Text 4"/>
          <p:cNvSpPr/>
          <p:nvPr/>
        </p:nvSpPr>
        <p:spPr>
          <a:xfrm>
            <a:off x="457200" y="182880"/>
            <a:ext cx="8229600" cy="502920"/>
          </a:xfrm>
          <a:prstGeom prst="rect">
            <a:avLst/>
          </a:prstGeom>
          <a:noFill/>
          <a:ln/>
        </p:spPr>
        <p:txBody>
          <a:bodyPr wrap="square" rtlCol="0" anchor="b">
            <a:normAutofit/>
          </a:bodyPr>
          <a:lstStyle/>
          <a:p>
            <a:pPr indent="0" marL="0">
              <a:buNone/>
            </a:pPr>
            <a:r>
              <a:rPr lang="en-US" sz="2600" dirty="0">
                <a:solidFill>
                  <a:srgbClr val="FFFFFF"/>
                </a:solidFill>
                <a:latin typeface="微软雅黑" pitchFamily="34" charset="0"/>
                <a:ea typeface="Arial Black" pitchFamily="34" charset="-122"/>
                <a:cs typeface="Arial Black" pitchFamily="34" charset="-120"/>
              </a:rPr>
              <a:t>体测是什么？</a:t>
            </a:r>
            <a:endParaRPr lang="en-US" sz="2600" dirty="0"/>
          </a:p>
        </p:txBody>
      </p:sp>
      <p:sp>
        <p:nvSpPr>
          <p:cNvPr id="7" name="Text 5"/>
          <p:cNvSpPr/>
          <p:nvPr/>
        </p:nvSpPr>
        <p:spPr>
          <a:xfrm>
            <a:off x="457200" y="658368"/>
            <a:ext cx="8229600" cy="274320"/>
          </a:xfrm>
          <a:prstGeom prst="rect">
            <a:avLst/>
          </a:prstGeom>
          <a:noFill/>
          <a:ln/>
        </p:spPr>
        <p:txBody>
          <a:bodyPr wrap="square" rtlCol="0" anchor="ctr">
            <a:normAutofit/>
          </a:bodyPr>
          <a:lstStyle/>
          <a:p>
            <a:pPr indent="0" marL="0">
              <a:buNone/>
            </a:pPr>
            <a:r>
              <a:rPr lang="en-US" sz="1200" dirty="0">
                <a:solidFill>
                  <a:srgbClr val="FFFFFF"/>
                </a:solidFill>
                <a:latin typeface="微软雅黑" pitchFamily="34" charset="0"/>
                <a:ea typeface="Calibri" pitchFamily="34" charset="-122"/>
                <a:cs typeface="Calibri" pitchFamily="34" charset="-120"/>
              </a:rPr>
              <a:t>不是普通测试，是价值可视化节点</a:t>
            </a:r>
            <a:endParaRPr lang="en-US" sz="1200" dirty="0"/>
          </a:p>
        </p:txBody>
      </p:sp>
      <p:sp>
        <p:nvSpPr>
          <p:cNvPr id="8" name="Text 6"/>
          <p:cNvSpPr/>
          <p:nvPr/>
        </p:nvSpPr>
        <p:spPr>
          <a:xfrm>
            <a:off x="7955280" y="4777740"/>
            <a:ext cx="731520" cy="274320"/>
          </a:xfrm>
          <a:prstGeom prst="rect">
            <a:avLst/>
          </a:prstGeom>
          <a:noFill/>
          <a:ln/>
        </p:spPr>
        <p:txBody>
          <a:bodyPr wrap="square" rtlCol="0" anchor="ctr">
            <a:normAutofit/>
          </a:bodyPr>
          <a:lstStyle/>
          <a:p>
            <a:pPr algn="r" indent="0" marL="0">
              <a:buNone/>
            </a:pPr>
            <a:r>
              <a:rPr lang="en-US" sz="900" dirty="0">
                <a:solidFill>
                  <a:srgbClr val="FFFFFF"/>
                </a:solidFill>
                <a:latin typeface="微软雅黑" pitchFamily="34" charset="0"/>
                <a:ea typeface="Calibri" pitchFamily="34" charset="-122"/>
                <a:cs typeface="Calibri" pitchFamily="34" charset="-120"/>
              </a:rPr>
              <a:t>3 / 15</a:t>
            </a:r>
            <a:endParaRPr lang="en-US" sz="900" dirty="0"/>
          </a:p>
        </p:txBody>
      </p:sp>
      <p:sp>
        <p:nvSpPr>
          <p:cNvPr id="9" name="Shape 7"/>
          <p:cNvSpPr/>
          <p:nvPr/>
        </p:nvSpPr>
        <p:spPr>
          <a:xfrm>
            <a:off x="457200" y="1097280"/>
            <a:ext cx="2560320" cy="3291840"/>
          </a:xfrm>
          <a:prstGeom prst="rect">
            <a:avLst>
              <a:gd name="adj" fmla="val 2857"/>
            </a:avLst>
          </a:prstGeom>
          <a:solidFill>
            <a:srgbClr val="1A2A50">
              <a:alpha val="70000"/>
            </a:srgbClr>
          </a:solidFill>
          <a:ln/>
          <a:effectLst>
            <a:outerShdw sx="100000" sy="100000" kx="0" ky="0" algn="bl" rotWithShape="0" blurRad="76200" dist="25400" dir="16200000">
              <a:srgbClr val="000000">
                <a:alpha val="8000"/>
              </a:srgbClr>
            </a:outerShdw>
          </a:effectLst>
        </p:spPr>
        <p:txBody>
          <a:bodyPr/>
          <a:p/>
        </p:txBody>
      </p:sp>
      <p:sp>
        <p:nvSpPr>
          <p:cNvPr id="10" name="Shape 8"/>
          <p:cNvSpPr/>
          <p:nvPr/>
        </p:nvSpPr>
        <p:spPr>
          <a:xfrm>
            <a:off x="457200" y="1097280"/>
            <a:ext cx="2560320" cy="54864"/>
          </a:xfrm>
          <a:prstGeom prst="rect">
            <a:avLst>
              <a:gd name="adj" fmla="val 133333"/>
            </a:avLst>
          </a:prstGeom>
          <a:solidFill>
            <a:srgbClr val="FF6B35"/>
          </a:solidFill>
          <a:ln/>
        </p:spPr>
        <p:txBody>
          <a:bodyPr/>
          <a:p/>
        </p:txBody>
      </p:sp>
      <p:sp>
        <p:nvSpPr>
          <p:cNvPr id="11" name="Shape 9"/>
          <p:cNvSpPr/>
          <p:nvPr/>
        </p:nvSpPr>
        <p:spPr>
          <a:xfrm>
            <a:off x="594360" y="1261872"/>
            <a:ext cx="502920" cy="256032"/>
          </a:xfrm>
          <a:prstGeom prst="rect">
            <a:avLst>
              <a:gd name="adj" fmla="val 14286"/>
            </a:avLst>
          </a:prstGeom>
          <a:solidFill>
            <a:srgbClr val="FF6B35"/>
          </a:solidFill>
          <a:ln/>
        </p:spPr>
        <p:txBody>
          <a:bodyPr/>
          <a:p/>
        </p:txBody>
      </p:sp>
      <p:sp>
        <p:nvSpPr>
          <p:cNvPr id="12" name="Text 10"/>
          <p:cNvSpPr/>
          <p:nvPr/>
        </p:nvSpPr>
        <p:spPr>
          <a:xfrm>
            <a:off x="594360" y="1261872"/>
            <a:ext cx="502920" cy="256032"/>
          </a:xfrm>
          <a:prstGeom prst="rect">
            <a:avLst/>
          </a:prstGeom>
          <a:noFill/>
          <a:ln/>
        </p:spPr>
        <p:txBody>
          <a:bodyPr wrap="square" rtlCol="0" anchor="ctr">
            <a:normAutofit/>
          </a:bodyPr>
          <a:lstStyle/>
          <a:p>
            <a:pPr algn="ctr" indent="0" marL="0">
              <a:buNone/>
            </a:pPr>
            <a:r>
              <a:rPr lang="en-US" sz="1100" dirty="0">
                <a:solidFill>
                  <a:srgbClr val="FFFFFF"/>
                </a:solidFill>
                <a:latin typeface="微软雅黑" pitchFamily="34" charset="0"/>
                <a:ea typeface="Arial Black" pitchFamily="34" charset="-122"/>
                <a:cs typeface="Arial Black" pitchFamily="34" charset="-120"/>
              </a:rPr>
              <a:t>F 特性</a:t>
            </a:r>
            <a:endParaRPr lang="en-US" sz="1100" dirty="0"/>
          </a:p>
        </p:txBody>
      </p:sp>
      <p:sp>
        <p:nvSpPr>
          <p:cNvPr id="13" name="Text 11"/>
          <p:cNvSpPr/>
          <p:nvPr/>
        </p:nvSpPr>
        <p:spPr>
          <a:xfrm>
            <a:off x="594360" y="1600200"/>
            <a:ext cx="2286000" cy="292608"/>
          </a:xfrm>
          <a:prstGeom prst="rect">
            <a:avLst/>
          </a:prstGeom>
          <a:noFill/>
          <a:ln/>
        </p:spPr>
        <p:txBody>
          <a:bodyPr wrap="square" rtlCol="0" anchor="t">
            <a:normAutofit/>
          </a:bodyPr>
          <a:lstStyle/>
          <a:p>
            <a:pPr indent="0" marL="0">
              <a:buNone/>
            </a:pPr>
            <a:r>
              <a:rPr lang="en-US" sz="1300" dirty="0">
                <a:solidFill>
                  <a:srgbClr val="FFFFFF"/>
                </a:solidFill>
                <a:latin typeface="微软雅黑" pitchFamily="34" charset="0"/>
                <a:ea typeface="Arial Black" pitchFamily="34" charset="-122"/>
                <a:cs typeface="Arial Black" pitchFamily="34" charset="-120"/>
              </a:rPr>
              <a:t>价值可视化节点</a:t>
            </a:r>
            <a:endParaRPr lang="en-US" sz="1300" dirty="0"/>
          </a:p>
        </p:txBody>
      </p:sp>
      <p:sp>
        <p:nvSpPr>
          <p:cNvPr id="14" name="Text 12"/>
          <p:cNvSpPr/>
          <p:nvPr/>
        </p:nvSpPr>
        <p:spPr>
          <a:xfrm>
            <a:off x="594360" y="1901952"/>
            <a:ext cx="2286000" cy="2377440"/>
          </a:xfrm>
          <a:prstGeom prst="rect">
            <a:avLst/>
          </a:prstGeom>
          <a:noFill/>
          <a:ln/>
        </p:spPr>
        <p:txBody>
          <a:bodyPr wrap="square" rtlCol="0" anchor="t"/>
          <a:lstStyle/>
          <a:p>
            <a:pPr indent="0" marL="0">
              <a:buNone/>
            </a:pPr>
            <a:r>
              <a:rPr lang="en-US" sz="1050" dirty="0">
                <a:solidFill>
                  <a:srgbClr val="FFFFFF"/>
                </a:solidFill>
                <a:latin typeface="微软雅黑" pitchFamily="34" charset="0"/>
                <a:ea typeface="Calibri" pitchFamily="34" charset="-122"/>
                <a:cs typeface="Calibri" pitchFamily="34" charset="-120"/>
              </a:rPr>
              <a:t>体测是一套科学的身体素质评估体系，通过8大维度（身高、体重、柔韧、力量、灵敏、平衡、心肺、核心）全面评估孩子的身体发育状况，用客观数据呈现孩子的运动能力画像。</a:t>
            </a:r>
            <a:endParaRPr lang="en-US" sz="1050" dirty="0"/>
          </a:p>
        </p:txBody>
      </p:sp>
      <p:sp>
        <p:nvSpPr>
          <p:cNvPr id="15" name="Shape 13"/>
          <p:cNvSpPr/>
          <p:nvPr/>
        </p:nvSpPr>
        <p:spPr>
          <a:xfrm>
            <a:off x="3246120" y="1097280"/>
            <a:ext cx="2560320" cy="3291840"/>
          </a:xfrm>
          <a:prstGeom prst="rect">
            <a:avLst>
              <a:gd name="adj" fmla="val 2857"/>
            </a:avLst>
          </a:prstGeom>
          <a:solidFill>
            <a:srgbClr val="1A2A50">
              <a:alpha val="70000"/>
            </a:srgbClr>
          </a:solidFill>
          <a:ln/>
          <a:effectLst>
            <a:outerShdw sx="100000" sy="100000" kx="0" ky="0" algn="bl" rotWithShape="0" blurRad="76200" dist="25400" dir="16200000">
              <a:srgbClr val="000000">
                <a:alpha val="8000"/>
              </a:srgbClr>
            </a:outerShdw>
          </a:effectLst>
        </p:spPr>
        <p:txBody>
          <a:bodyPr/>
          <a:p/>
        </p:txBody>
      </p:sp>
      <p:sp>
        <p:nvSpPr>
          <p:cNvPr id="16" name="Shape 14"/>
          <p:cNvSpPr/>
          <p:nvPr/>
        </p:nvSpPr>
        <p:spPr>
          <a:xfrm>
            <a:off x="3246120" y="1097280"/>
            <a:ext cx="2560320" cy="54864"/>
          </a:xfrm>
          <a:prstGeom prst="rect">
            <a:avLst>
              <a:gd name="adj" fmla="val 133333"/>
            </a:avLst>
          </a:prstGeom>
          <a:solidFill>
            <a:srgbClr val="1E2761"/>
          </a:solidFill>
          <a:ln/>
        </p:spPr>
        <p:txBody>
          <a:bodyPr/>
          <a:p/>
        </p:txBody>
      </p:sp>
      <p:sp>
        <p:nvSpPr>
          <p:cNvPr id="17" name="Shape 15"/>
          <p:cNvSpPr/>
          <p:nvPr/>
        </p:nvSpPr>
        <p:spPr>
          <a:xfrm>
            <a:off x="3383280" y="1261872"/>
            <a:ext cx="502920" cy="256032"/>
          </a:xfrm>
          <a:prstGeom prst="rect">
            <a:avLst>
              <a:gd name="adj" fmla="val 14286"/>
            </a:avLst>
          </a:prstGeom>
          <a:solidFill>
            <a:srgbClr val="1E2761"/>
          </a:solidFill>
          <a:ln/>
        </p:spPr>
        <p:txBody>
          <a:bodyPr/>
          <a:p/>
        </p:txBody>
      </p:sp>
      <p:sp>
        <p:nvSpPr>
          <p:cNvPr id="18" name="Text 16"/>
          <p:cNvSpPr/>
          <p:nvPr/>
        </p:nvSpPr>
        <p:spPr>
          <a:xfrm>
            <a:off x="3383280" y="1261872"/>
            <a:ext cx="502920" cy="256032"/>
          </a:xfrm>
          <a:prstGeom prst="rect">
            <a:avLst/>
          </a:prstGeom>
          <a:noFill/>
          <a:ln/>
        </p:spPr>
        <p:txBody>
          <a:bodyPr wrap="square" rtlCol="0" anchor="ctr">
            <a:normAutofit/>
          </a:bodyPr>
          <a:lstStyle/>
          <a:p>
            <a:pPr algn="ctr" indent="0" marL="0">
              <a:buNone/>
            </a:pPr>
            <a:r>
              <a:rPr lang="en-US" sz="1100" dirty="0">
                <a:solidFill>
                  <a:srgbClr val="FFFFFF"/>
                </a:solidFill>
                <a:latin typeface="微软雅黑" pitchFamily="34" charset="0"/>
                <a:ea typeface="Arial Black" pitchFamily="34" charset="-122"/>
                <a:cs typeface="Arial Black" pitchFamily="34" charset="-120"/>
              </a:rPr>
              <a:t>A 优势</a:t>
            </a:r>
            <a:endParaRPr lang="en-US" sz="1100" dirty="0"/>
          </a:p>
        </p:txBody>
      </p:sp>
      <p:sp>
        <p:nvSpPr>
          <p:cNvPr id="19" name="Text 17"/>
          <p:cNvSpPr/>
          <p:nvPr/>
        </p:nvSpPr>
        <p:spPr>
          <a:xfrm>
            <a:off x="3383280" y="1600200"/>
            <a:ext cx="2286000" cy="292608"/>
          </a:xfrm>
          <a:prstGeom prst="rect">
            <a:avLst/>
          </a:prstGeom>
          <a:noFill/>
          <a:ln/>
        </p:spPr>
        <p:txBody>
          <a:bodyPr wrap="square" rtlCol="0" anchor="t">
            <a:normAutofit/>
          </a:bodyPr>
          <a:lstStyle/>
          <a:p>
            <a:pPr indent="0" marL="0">
              <a:buNone/>
            </a:pPr>
            <a:r>
              <a:rPr lang="en-US" sz="1300" dirty="0">
                <a:solidFill>
                  <a:srgbClr val="FFFFFF"/>
                </a:solidFill>
                <a:latin typeface="微软雅黑" pitchFamily="34" charset="0"/>
                <a:ea typeface="Arial Black" pitchFamily="34" charset="-122"/>
                <a:cs typeface="Arial Black" pitchFamily="34" charset="-120"/>
              </a:rPr>
              <a:t>用数据说话建立信任</a:t>
            </a:r>
            <a:endParaRPr lang="en-US" sz="1300" dirty="0"/>
          </a:p>
        </p:txBody>
      </p:sp>
      <p:sp>
        <p:nvSpPr>
          <p:cNvPr id="20" name="Text 18"/>
          <p:cNvSpPr/>
          <p:nvPr/>
        </p:nvSpPr>
        <p:spPr>
          <a:xfrm>
            <a:off x="3383280" y="1901952"/>
            <a:ext cx="2286000" cy="2377440"/>
          </a:xfrm>
          <a:prstGeom prst="rect">
            <a:avLst/>
          </a:prstGeom>
          <a:noFill/>
          <a:ln/>
        </p:spPr>
        <p:txBody>
          <a:bodyPr wrap="square" rtlCol="0" anchor="t"/>
          <a:lstStyle/>
          <a:p>
            <a:pPr indent="0" marL="0">
              <a:buNone/>
            </a:pPr>
            <a:r>
              <a:rPr lang="en-US" sz="1050" dirty="0">
                <a:solidFill>
                  <a:srgbClr val="FFFFFF"/>
                </a:solidFill>
                <a:latin typeface="微软雅黑" pitchFamily="34" charset="0"/>
                <a:ea typeface="Calibri" pitchFamily="34" charset="-122"/>
                <a:cs typeface="Calibri" pitchFamily="34" charset="-120"/>
              </a:rPr>
              <a:t>告别“我觉得孩子需要锻炼”的主观推销，转而用专业体测数据说话。家长看到科学评估报告，自然建立对教练和机构的专业信任，降低销售阻力。</a:t>
            </a:r>
            <a:endParaRPr lang="en-US" sz="1050" dirty="0"/>
          </a:p>
        </p:txBody>
      </p:sp>
      <p:sp>
        <p:nvSpPr>
          <p:cNvPr id="21" name="Shape 19"/>
          <p:cNvSpPr/>
          <p:nvPr/>
        </p:nvSpPr>
        <p:spPr>
          <a:xfrm>
            <a:off x="6035040" y="1097280"/>
            <a:ext cx="2560320" cy="3291840"/>
          </a:xfrm>
          <a:prstGeom prst="rect">
            <a:avLst>
              <a:gd name="adj" fmla="val 2857"/>
            </a:avLst>
          </a:prstGeom>
          <a:solidFill>
            <a:srgbClr val="1A2A50">
              <a:alpha val="70000"/>
            </a:srgbClr>
          </a:solidFill>
          <a:ln/>
          <a:effectLst>
            <a:outerShdw sx="100000" sy="100000" kx="0" ky="0" algn="bl" rotWithShape="0" blurRad="76200" dist="25400" dir="16200000">
              <a:srgbClr val="000000">
                <a:alpha val="8000"/>
              </a:srgbClr>
            </a:outerShdw>
          </a:effectLst>
        </p:spPr>
        <p:txBody>
          <a:bodyPr/>
          <a:p/>
        </p:txBody>
      </p:sp>
      <p:sp>
        <p:nvSpPr>
          <p:cNvPr id="22" name="Shape 20"/>
          <p:cNvSpPr/>
          <p:nvPr/>
        </p:nvSpPr>
        <p:spPr>
          <a:xfrm>
            <a:off x="6035040" y="1097280"/>
            <a:ext cx="2560320" cy="54864"/>
          </a:xfrm>
          <a:prstGeom prst="rect">
            <a:avLst>
              <a:gd name="adj" fmla="val 133333"/>
            </a:avLst>
          </a:prstGeom>
          <a:solidFill>
            <a:srgbClr val="2ECC71"/>
          </a:solidFill>
          <a:ln/>
        </p:spPr>
        <p:txBody>
          <a:bodyPr/>
          <a:p/>
        </p:txBody>
      </p:sp>
      <p:sp>
        <p:nvSpPr>
          <p:cNvPr id="23" name="Shape 21"/>
          <p:cNvSpPr/>
          <p:nvPr/>
        </p:nvSpPr>
        <p:spPr>
          <a:xfrm>
            <a:off x="6172200" y="1261872"/>
            <a:ext cx="502920" cy="256032"/>
          </a:xfrm>
          <a:prstGeom prst="rect">
            <a:avLst>
              <a:gd name="adj" fmla="val 14286"/>
            </a:avLst>
          </a:prstGeom>
          <a:solidFill>
            <a:srgbClr val="2ECC71"/>
          </a:solidFill>
          <a:ln/>
        </p:spPr>
        <p:txBody>
          <a:bodyPr/>
          <a:p/>
        </p:txBody>
      </p:sp>
      <p:sp>
        <p:nvSpPr>
          <p:cNvPr id="24" name="Text 22"/>
          <p:cNvSpPr/>
          <p:nvPr/>
        </p:nvSpPr>
        <p:spPr>
          <a:xfrm>
            <a:off x="6172200" y="1261872"/>
            <a:ext cx="502920" cy="256032"/>
          </a:xfrm>
          <a:prstGeom prst="rect">
            <a:avLst/>
          </a:prstGeom>
          <a:noFill/>
          <a:ln/>
        </p:spPr>
        <p:txBody>
          <a:bodyPr wrap="square" rtlCol="0" anchor="ctr">
            <a:normAutofit/>
          </a:bodyPr>
          <a:lstStyle/>
          <a:p>
            <a:pPr algn="ctr" indent="0" marL="0">
              <a:buNone/>
            </a:pPr>
            <a:r>
              <a:rPr lang="en-US" sz="1100" dirty="0">
                <a:solidFill>
                  <a:srgbClr val="FFFFFF"/>
                </a:solidFill>
                <a:latin typeface="微软雅黑" pitchFamily="34" charset="0"/>
                <a:ea typeface="Arial Black" pitchFamily="34" charset="-122"/>
                <a:cs typeface="Arial Black" pitchFamily="34" charset="-120"/>
              </a:rPr>
              <a:t>B 利益</a:t>
            </a:r>
            <a:endParaRPr lang="en-US" sz="1100" dirty="0"/>
          </a:p>
        </p:txBody>
      </p:sp>
      <p:sp>
        <p:nvSpPr>
          <p:cNvPr id="25" name="Text 23"/>
          <p:cNvSpPr/>
          <p:nvPr/>
        </p:nvSpPr>
        <p:spPr>
          <a:xfrm>
            <a:off x="6172200" y="1600200"/>
            <a:ext cx="2286000" cy="292608"/>
          </a:xfrm>
          <a:prstGeom prst="rect">
            <a:avLst/>
          </a:prstGeom>
          <a:noFill/>
          <a:ln/>
        </p:spPr>
        <p:txBody>
          <a:bodyPr wrap="square" rtlCol="0" anchor="t">
            <a:normAutofit/>
          </a:bodyPr>
          <a:lstStyle/>
          <a:p>
            <a:pPr indent="0" marL="0">
              <a:buNone/>
            </a:pPr>
            <a:r>
              <a:rPr lang="en-US" sz="1300" dirty="0">
                <a:solidFill>
                  <a:srgbClr val="FFFFFF"/>
                </a:solidFill>
                <a:latin typeface="微软雅黑" pitchFamily="34" charset="0"/>
                <a:ea typeface="Arial Black" pitchFamily="34" charset="-122"/>
                <a:cs typeface="Arial Black" pitchFamily="34" charset="-120"/>
              </a:rPr>
              <a:t>看到差距产生需求</a:t>
            </a:r>
            <a:endParaRPr lang="en-US" sz="1300" dirty="0"/>
          </a:p>
        </p:txBody>
      </p:sp>
      <p:sp>
        <p:nvSpPr>
          <p:cNvPr id="26" name="Text 24"/>
          <p:cNvSpPr/>
          <p:nvPr/>
        </p:nvSpPr>
        <p:spPr>
          <a:xfrm>
            <a:off x="6172200" y="1901952"/>
            <a:ext cx="2286000" cy="2377440"/>
          </a:xfrm>
          <a:prstGeom prst="rect">
            <a:avLst/>
          </a:prstGeom>
          <a:noFill/>
          <a:ln/>
        </p:spPr>
        <p:txBody>
          <a:bodyPr wrap="square" rtlCol="0" anchor="t"/>
          <a:lstStyle/>
          <a:p>
            <a:pPr indent="0" marL="0">
              <a:buNone/>
            </a:pPr>
            <a:r>
              <a:rPr lang="en-US" sz="1050" dirty="0">
                <a:solidFill>
                  <a:srgbClr val="FFFFFF"/>
                </a:solidFill>
                <a:latin typeface="微软雅黑" pitchFamily="34" charset="0"/>
                <a:ea typeface="Calibri" pitchFamily="34" charset="-122"/>
                <a:cs typeface="Calibri" pitchFamily="34" charset="-120"/>
              </a:rPr>
              <a:t>当家长直观看到孩子与同龄标准的差距，以及体测报告中的风险提示时，购买需求从“可报可不报”转变为“必须马上行动”，大幅提升成交率。</a:t>
            </a:r>
            <a:endParaRPr lang="en-US" sz="1050" dirty="0"/>
          </a:p>
        </p:txBody>
      </p:sp>
      <p:sp>
        <p:nvSpPr>
          <p:cNvPr id="27" name="Rectangle 26"/>
          <p:cNvSpPr/>
          <p:nvPr/>
        </p:nvSpPr>
        <p:spPr>
          <a:xfrm>
            <a:off x="0" y="0"/>
            <a:ext cx="9144000" cy="4114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rot="20700000">
            <a:off x="182880" y="771525"/>
            <a:ext cx="731520" cy="19050"/>
          </a:xfrm>
          <a:prstGeom prst="rect">
            <a:avLst/>
          </a:prstGeom>
          <a:solidFill>
            <a:srgbClr val="00E676">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rot="20700000">
            <a:off x="457200" y="1183005"/>
            <a:ext cx="914400" cy="25400"/>
          </a:xfrm>
          <a:prstGeom prst="rect">
            <a:avLst/>
          </a:prstGeom>
          <a:solidFill>
            <a:srgbClr val="00E676">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4371975"/>
            <a:ext cx="9144000" cy="771525"/>
          </a:xfrm>
          <a:prstGeom prst="rect">
            <a:avLst/>
          </a:prstGeom>
          <a:solidFill>
            <a:srgbClr val="14244D">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6B35"/>
          </a:solidFill>
          <a:ln/>
        </p:spPr>
        <p:txBody>
          <a:bodyPr/>
          <a:p/>
        </p:txBody>
      </p:sp>
      <p:sp>
        <p:nvSpPr>
          <p:cNvPr id="3" name="Shape 1"/>
          <p:cNvSpPr/>
          <p:nvPr/>
        </p:nvSpPr>
        <p:spPr>
          <a:xfrm>
            <a:off x="0" y="5088636"/>
            <a:ext cx="9144000" cy="54864"/>
          </a:xfrm>
          <a:prstGeom prst="rect">
            <a:avLst/>
          </a:prstGeom>
          <a:solidFill>
            <a:srgbClr val="1E2761"/>
          </a:solidFill>
          <a:ln/>
        </p:spPr>
        <p:txBody>
          <a:bodyPr/>
          <a:p/>
        </p:txBody>
      </p:sp>
      <p:sp>
        <p:nvSpPr>
          <p:cNvPr id="4" name="Shape 2"/>
          <p:cNvSpPr/>
          <p:nvPr/>
        </p:nvSpPr>
        <p:spPr>
          <a:xfrm>
            <a:off x="457200" y="228600"/>
            <a:ext cx="1463040" cy="292608"/>
          </a:xfrm>
          <a:prstGeom prst="rect">
            <a:avLst>
              <a:gd name="adj" fmla="val 12500"/>
            </a:avLst>
          </a:prstGeom>
          <a:solidFill>
            <a:srgbClr val="FFE8DD"/>
          </a:solidFill>
          <a:ln/>
        </p:spPr>
        <p:txBody>
          <a:bodyPr/>
          <a:p/>
        </p:txBody>
      </p:sp>
      <p:sp>
        <p:nvSpPr>
          <p:cNvPr id="5" name="Text 3"/>
          <p:cNvSpPr/>
          <p:nvPr/>
        </p:nvSpPr>
        <p:spPr>
          <a:xfrm>
            <a:off x="457200" y="228600"/>
            <a:ext cx="1463040" cy="292608"/>
          </a:xfrm>
          <a:prstGeom prst="rect">
            <a:avLst/>
          </a:prstGeom>
          <a:noFill/>
          <a:ln/>
        </p:spPr>
        <p:txBody>
          <a:bodyPr wrap="square" rtlCol="0" anchor="ctr">
            <a:normAutofit/>
          </a:bodyPr>
          <a:lstStyle/>
          <a:p>
            <a:pPr algn="ctr" indent="0" marL="0">
              <a:buNone/>
            </a:pPr>
            <a:r>
              <a:rPr lang="en-US" sz="1000" b="1" dirty="0">
                <a:solidFill>
                  <a:srgbClr val="FF6B35"/>
                </a:solidFill>
                <a:latin typeface="微软雅黑" pitchFamily="34" charset="0"/>
                <a:ea typeface="Calibri" pitchFamily="34" charset="-122"/>
                <a:cs typeface="Calibri" pitchFamily="34" charset="-120"/>
              </a:rPr>
              <a:t>体测的价值</a:t>
            </a:r>
            <a:endParaRPr lang="en-US" sz="1000" dirty="0"/>
          </a:p>
        </p:txBody>
      </p:sp>
      <p:sp>
        <p:nvSpPr>
          <p:cNvPr id="6" name="Text 4"/>
          <p:cNvSpPr/>
          <p:nvPr/>
        </p:nvSpPr>
        <p:spPr>
          <a:xfrm>
            <a:off x="457200" y="182880"/>
            <a:ext cx="8229600" cy="502920"/>
          </a:xfrm>
          <a:prstGeom prst="rect">
            <a:avLst/>
          </a:prstGeom>
          <a:noFill/>
          <a:ln/>
        </p:spPr>
        <p:txBody>
          <a:bodyPr wrap="square" rtlCol="0" anchor="b">
            <a:normAutofit/>
          </a:bodyPr>
          <a:lstStyle/>
          <a:p>
            <a:pPr indent="0" marL="0">
              <a:buNone/>
            </a:pPr>
            <a:r>
              <a:rPr lang="en-US" sz="2600" dirty="0">
                <a:solidFill>
                  <a:srgbClr val="FFFFFF"/>
                </a:solidFill>
                <a:latin typeface="微软雅黑" pitchFamily="34" charset="0"/>
                <a:ea typeface="Arial Black" pitchFamily="34" charset="-122"/>
                <a:cs typeface="Arial Black" pitchFamily="34" charset="-120"/>
              </a:rPr>
              <a:t>体测的两大场景</a:t>
            </a:r>
            <a:endParaRPr lang="en-US" sz="2600" dirty="0"/>
          </a:p>
        </p:txBody>
      </p:sp>
      <p:sp>
        <p:nvSpPr>
          <p:cNvPr id="7" name="Text 5"/>
          <p:cNvSpPr/>
          <p:nvPr/>
        </p:nvSpPr>
        <p:spPr>
          <a:xfrm>
            <a:off x="457200" y="658368"/>
            <a:ext cx="8229600" cy="274320"/>
          </a:xfrm>
          <a:prstGeom prst="rect">
            <a:avLst/>
          </a:prstGeom>
          <a:noFill/>
          <a:ln/>
        </p:spPr>
        <p:txBody>
          <a:bodyPr wrap="square" rtlCol="0" anchor="ctr">
            <a:normAutofit/>
          </a:bodyPr>
          <a:lstStyle/>
          <a:p>
            <a:pPr indent="0" marL="0">
              <a:buNone/>
            </a:pPr>
            <a:r>
              <a:rPr lang="en-US" sz="1200" dirty="0">
                <a:solidFill>
                  <a:srgbClr val="FFFFFF"/>
                </a:solidFill>
                <a:latin typeface="微软雅黑" pitchFamily="34" charset="0"/>
                <a:ea typeface="Calibri" pitchFamily="34" charset="-122"/>
                <a:cs typeface="Calibri" pitchFamily="34" charset="-120"/>
              </a:rPr>
              <a:t>新客转化 vs 老客续费</a:t>
            </a:r>
            <a:endParaRPr lang="en-US" sz="1200" dirty="0"/>
          </a:p>
        </p:txBody>
      </p:sp>
      <p:sp>
        <p:nvSpPr>
          <p:cNvPr id="8" name="Text 6"/>
          <p:cNvSpPr/>
          <p:nvPr/>
        </p:nvSpPr>
        <p:spPr>
          <a:xfrm>
            <a:off x="7955280" y="4777740"/>
            <a:ext cx="731520" cy="274320"/>
          </a:xfrm>
          <a:prstGeom prst="rect">
            <a:avLst/>
          </a:prstGeom>
          <a:noFill/>
          <a:ln/>
        </p:spPr>
        <p:txBody>
          <a:bodyPr wrap="square" rtlCol="0" anchor="ctr">
            <a:normAutofit/>
          </a:bodyPr>
          <a:lstStyle/>
          <a:p>
            <a:pPr algn="r" indent="0" marL="0">
              <a:buNone/>
            </a:pPr>
            <a:r>
              <a:rPr lang="en-US" sz="900" dirty="0">
                <a:solidFill>
                  <a:srgbClr val="FFFFFF"/>
                </a:solidFill>
                <a:latin typeface="微软雅黑" pitchFamily="34" charset="0"/>
                <a:ea typeface="Calibri" pitchFamily="34" charset="-122"/>
                <a:cs typeface="Calibri" pitchFamily="34" charset="-120"/>
              </a:rPr>
              <a:t>4 / 15</a:t>
            </a:r>
            <a:endParaRPr lang="en-US" sz="900" dirty="0"/>
          </a:p>
        </p:txBody>
      </p:sp>
      <p:sp>
        <p:nvSpPr>
          <p:cNvPr id="9" name="Shape 7"/>
          <p:cNvSpPr/>
          <p:nvPr/>
        </p:nvSpPr>
        <p:spPr>
          <a:xfrm>
            <a:off x="457200" y="1051560"/>
            <a:ext cx="3931920" cy="3566160"/>
          </a:xfrm>
          <a:prstGeom prst="rect">
            <a:avLst>
              <a:gd name="adj" fmla="val 2051"/>
            </a:avLst>
          </a:prstGeom>
          <a:solidFill>
            <a:srgbClr val="1A2A50">
              <a:alpha val="70000"/>
            </a:srgbClr>
          </a:solidFill>
          <a:ln/>
          <a:effectLst>
            <a:outerShdw sx="100000" sy="100000" kx="0" ky="0" algn="bl" rotWithShape="0" blurRad="50800" dist="25400" dir="16200000">
              <a:srgbClr val="000000">
                <a:alpha val="6000"/>
              </a:srgbClr>
            </a:outerShdw>
          </a:effectLst>
        </p:spPr>
        <p:txBody>
          <a:bodyPr/>
          <a:p/>
        </p:txBody>
      </p:sp>
      <p:sp>
        <p:nvSpPr>
          <p:cNvPr id="10" name="Shape 8"/>
          <p:cNvSpPr/>
          <p:nvPr/>
        </p:nvSpPr>
        <p:spPr>
          <a:xfrm>
            <a:off x="457200" y="1051560"/>
            <a:ext cx="3931920" cy="457200"/>
          </a:xfrm>
          <a:prstGeom prst="rect">
            <a:avLst>
              <a:gd name="adj" fmla="val 16000"/>
            </a:avLst>
          </a:prstGeom>
          <a:solidFill>
            <a:srgbClr val="FF6B35"/>
          </a:solidFill>
          <a:ln/>
        </p:spPr>
        <p:txBody>
          <a:bodyPr/>
          <a:p/>
        </p:txBody>
      </p:sp>
      <p:sp>
        <p:nvSpPr>
          <p:cNvPr id="11" name="Text 9"/>
          <p:cNvSpPr/>
          <p:nvPr/>
        </p:nvSpPr>
        <p:spPr>
          <a:xfrm>
            <a:off x="457200" y="1051560"/>
            <a:ext cx="3931920" cy="457200"/>
          </a:xfrm>
          <a:prstGeom prst="rect">
            <a:avLst/>
          </a:prstGeom>
          <a:noFill/>
          <a:ln/>
        </p:spPr>
        <p:txBody>
          <a:bodyPr wrap="square" rtlCol="0" anchor="ctr">
            <a:normAutofit/>
          </a:bodyPr>
          <a:lstStyle/>
          <a:p>
            <a:pPr algn="ctr" indent="0" marL="0">
              <a:buNone/>
            </a:pPr>
            <a:r>
              <a:rPr lang="en-US" sz="1500" dirty="0">
                <a:solidFill>
                  <a:srgbClr val="FFFFFF"/>
                </a:solidFill>
                <a:latin typeface="微软雅黑" pitchFamily="34" charset="0"/>
                <a:ea typeface="Arial Black" pitchFamily="34" charset="-122"/>
                <a:cs typeface="Arial Black" pitchFamily="34" charset="-120"/>
              </a:rPr>
              <a:t>新客体测 — 促转化</a:t>
            </a:r>
            <a:endParaRPr lang="en-US" sz="1500" dirty="0"/>
          </a:p>
        </p:txBody>
      </p:sp>
      <p:sp>
        <p:nvSpPr>
          <p:cNvPr id="12" name="Text 10"/>
          <p:cNvSpPr/>
          <p:nvPr/>
        </p:nvSpPr>
        <p:spPr>
          <a:xfrm>
            <a:off x="640080" y="1645920"/>
            <a:ext cx="3566160" cy="2743200"/>
          </a:xfrm>
          <a:prstGeom prst="rect">
            <a:avLst/>
          </a:prstGeom>
          <a:noFill/>
          <a:ln/>
        </p:spPr>
        <p:txBody>
          <a:bodyPr wrap="square" rtlCol="0" anchor="t"/>
          <a:lstStyle/>
          <a:p>
            <a:pPr indent="0" marL="0">
              <a:buNone/>
            </a:pPr>
            <a:r>
              <a:rPr lang="en-US" sz="1100" b="1" dirty="0">
                <a:solidFill>
                  <a:srgbClr val="FF6B35"/>
                </a:solidFill>
                <a:latin typeface="微软雅黑" pitchFamily="34" charset="0"/>
                <a:ea typeface="Calibri" pitchFamily="34" charset="-122"/>
                <a:cs typeface="Calibri" pitchFamily="34" charset="-120"/>
              </a:rPr>
              <a:t>F 特性：</a:t>
            </a:r>
            <a:pPr indent="0" marL="0">
              <a:buNone/>
            </a:pPr>
            <a:r>
              <a:rPr lang="en-US" sz="1050" dirty="0">
                <a:solidFill>
                  <a:srgbClr val="FFFFFF"/>
                </a:solidFill>
                <a:latin typeface="微软雅黑" pitchFamily="34" charset="0"/>
                <a:ea typeface="Calibri" pitchFamily="34" charset="-122"/>
                <a:cs typeface="Calibri" pitchFamily="34" charset="-120"/>
              </a:rPr>
              <a:t>首次到店客户免费体验体测服务，建立第一印象</a:t>
            </a:r>
            <a:endParaRPr lang="en-US" sz="1100" dirty="0"/>
          </a:p>
          <a:p>
            <a:pPr indent="0" marL="0">
              <a:buNone/>
            </a:pPr>
            <a:endParaRPr lang="en-US" sz="1100" dirty="0"/>
          </a:p>
          <a:p>
            <a:pPr indent="0" marL="0">
              <a:buNone/>
            </a:pPr>
            <a:r>
              <a:rPr lang="en-US" sz="1100" b="1" dirty="0">
                <a:solidFill>
                  <a:srgbClr val="FF6B35"/>
                </a:solidFill>
                <a:latin typeface="微软雅黑" pitchFamily="34" charset="0"/>
                <a:ea typeface="Calibri" pitchFamily="34" charset="-122"/>
                <a:cs typeface="Calibri" pitchFamily="34" charset="-120"/>
              </a:rPr>
              <a:t>A 优势：</a:t>
            </a:r>
            <a:pPr indent="0" marL="0">
              <a:buNone/>
            </a:pPr>
            <a:r>
              <a:rPr lang="en-US" sz="1050" dirty="0">
                <a:solidFill>
                  <a:srgbClr val="FFFFFF"/>
                </a:solidFill>
                <a:latin typeface="微软雅黑" pitchFamily="34" charset="0"/>
                <a:ea typeface="Calibri" pitchFamily="34" charset="-122"/>
                <a:cs typeface="Calibri" pitchFamily="34" charset="-120"/>
              </a:rPr>
              <a:t>用专业数据替代销售话术，降低客户防备心理，建立专业形象</a:t>
            </a:r>
            <a:endParaRPr lang="en-US" sz="1100" dirty="0"/>
          </a:p>
          <a:p>
            <a:pPr indent="0" marL="0">
              <a:buNone/>
            </a:pPr>
            <a:endParaRPr lang="en-US" sz="1100" dirty="0"/>
          </a:p>
          <a:p>
            <a:pPr indent="0" marL="0">
              <a:buNone/>
            </a:pPr>
            <a:r>
              <a:rPr lang="en-US" sz="1100" b="1" dirty="0">
                <a:solidFill>
                  <a:srgbClr val="FF6B35"/>
                </a:solidFill>
                <a:latin typeface="微软雅黑" pitchFamily="34" charset="0"/>
                <a:ea typeface="Calibri" pitchFamily="34" charset="-122"/>
                <a:cs typeface="Calibri" pitchFamily="34" charset="-120"/>
              </a:rPr>
              <a:t>B 利益：</a:t>
            </a:r>
            <a:pPr indent="0" marL="0">
              <a:buNone/>
            </a:pPr>
            <a:r>
              <a:rPr lang="en-US" sz="1050" dirty="0">
                <a:solidFill>
                  <a:srgbClr val="FFFFFF"/>
                </a:solidFill>
                <a:latin typeface="微软雅黑" pitchFamily="34" charset="0"/>
                <a:ea typeface="Calibri" pitchFamily="34" charset="-122"/>
                <a:cs typeface="Calibri" pitchFamily="34" charset="-120"/>
              </a:rPr>
              <a:t>新客转化率提升至40%+，家长从“随便看看”变为“我要报名”</a:t>
            </a:r>
            <a:endParaRPr lang="en-US" sz="1100" dirty="0"/>
          </a:p>
        </p:txBody>
      </p:sp>
      <p:sp>
        <p:nvSpPr>
          <p:cNvPr id="13" name="Shape 11"/>
          <p:cNvSpPr/>
          <p:nvPr/>
        </p:nvSpPr>
        <p:spPr>
          <a:xfrm>
            <a:off x="4663440" y="1051560"/>
            <a:ext cx="3931920" cy="3566160"/>
          </a:xfrm>
          <a:prstGeom prst="rect">
            <a:avLst>
              <a:gd name="adj" fmla="val 2051"/>
            </a:avLst>
          </a:prstGeom>
          <a:solidFill>
            <a:srgbClr val="1A2A50">
              <a:alpha val="70000"/>
            </a:srgbClr>
          </a:solidFill>
          <a:ln/>
          <a:effectLst>
            <a:outerShdw sx="100000" sy="100000" kx="0" ky="0" algn="bl" rotWithShape="0" blurRad="50800" dist="25400" dir="16200000">
              <a:srgbClr val="000000">
                <a:alpha val="6000"/>
              </a:srgbClr>
            </a:outerShdw>
          </a:effectLst>
        </p:spPr>
        <p:txBody>
          <a:bodyPr/>
          <a:p/>
        </p:txBody>
      </p:sp>
      <p:sp>
        <p:nvSpPr>
          <p:cNvPr id="14" name="Shape 12"/>
          <p:cNvSpPr/>
          <p:nvPr/>
        </p:nvSpPr>
        <p:spPr>
          <a:xfrm>
            <a:off x="4663440" y="1051560"/>
            <a:ext cx="3931920" cy="457200"/>
          </a:xfrm>
          <a:prstGeom prst="rect">
            <a:avLst>
              <a:gd name="adj" fmla="val 16000"/>
            </a:avLst>
          </a:prstGeom>
          <a:solidFill>
            <a:srgbClr val="1E2761"/>
          </a:solidFill>
          <a:ln/>
        </p:spPr>
        <p:txBody>
          <a:bodyPr/>
          <a:p/>
        </p:txBody>
      </p:sp>
      <p:sp>
        <p:nvSpPr>
          <p:cNvPr id="15" name="Text 13"/>
          <p:cNvSpPr/>
          <p:nvPr/>
        </p:nvSpPr>
        <p:spPr>
          <a:xfrm>
            <a:off x="4663440" y="1051560"/>
            <a:ext cx="3931920" cy="457200"/>
          </a:xfrm>
          <a:prstGeom prst="rect">
            <a:avLst/>
          </a:prstGeom>
          <a:noFill/>
          <a:ln/>
        </p:spPr>
        <p:txBody>
          <a:bodyPr wrap="square" rtlCol="0" anchor="ctr">
            <a:normAutofit/>
          </a:bodyPr>
          <a:lstStyle/>
          <a:p>
            <a:pPr algn="ctr" indent="0" marL="0">
              <a:buNone/>
            </a:pPr>
            <a:r>
              <a:rPr lang="en-US" sz="1500" dirty="0">
                <a:solidFill>
                  <a:srgbClr val="FFFFFF"/>
                </a:solidFill>
                <a:latin typeface="微软雅黑" pitchFamily="34" charset="0"/>
                <a:ea typeface="Arial Black" pitchFamily="34" charset="-122"/>
                <a:cs typeface="Arial Black" pitchFamily="34" charset="-120"/>
              </a:rPr>
              <a:t>季度体测 — 促续费</a:t>
            </a:r>
            <a:endParaRPr lang="en-US" sz="1500" dirty="0"/>
          </a:p>
        </p:txBody>
      </p:sp>
      <p:sp>
        <p:nvSpPr>
          <p:cNvPr id="16" name="Text 14"/>
          <p:cNvSpPr/>
          <p:nvPr/>
        </p:nvSpPr>
        <p:spPr>
          <a:xfrm>
            <a:off x="4846320" y="1645920"/>
            <a:ext cx="3566160" cy="2743200"/>
          </a:xfrm>
          <a:prstGeom prst="rect">
            <a:avLst/>
          </a:prstGeom>
          <a:noFill/>
          <a:ln/>
        </p:spPr>
        <p:txBody>
          <a:bodyPr wrap="square" rtlCol="0" anchor="t"/>
          <a:lstStyle/>
          <a:p>
            <a:pPr indent="0" marL="0">
              <a:buNone/>
            </a:pPr>
            <a:r>
              <a:rPr lang="en-US" sz="1100" b="1" dirty="0">
                <a:solidFill>
                  <a:srgbClr val="FFFFFF"/>
                </a:solidFill>
                <a:latin typeface="微软雅黑" pitchFamily="34" charset="0"/>
                <a:ea typeface="Calibri" pitchFamily="34" charset="-122"/>
                <a:cs typeface="Calibri" pitchFamily="34" charset="-120"/>
              </a:rPr>
              <a:t>F 特性：</a:t>
            </a:r>
            <a:pPr indent="0" marL="0">
              <a:buNone/>
            </a:pPr>
            <a:r>
              <a:rPr lang="en-US" sz="1050" dirty="0">
                <a:solidFill>
                  <a:srgbClr val="FFFFFF"/>
                </a:solidFill>
                <a:latin typeface="微软雅黑" pitchFamily="34" charset="0"/>
                <a:ea typeface="Calibri" pitchFamily="34" charset="-122"/>
                <a:cs typeface="Calibri" pitchFamily="34" charset="-120"/>
              </a:rPr>
              <a:t>每季度定期体测，追踪孩子身体素质变化曲线</a:t>
            </a:r>
            <a:endParaRPr lang="en-US" sz="1100" dirty="0"/>
          </a:p>
          <a:p>
            <a:pPr indent="0" marL="0">
              <a:buNone/>
            </a:pPr>
            <a:endParaRPr lang="en-US" sz="1100" dirty="0"/>
          </a:p>
          <a:p>
            <a:pPr indent="0" marL="0">
              <a:buNone/>
            </a:pPr>
            <a:r>
              <a:rPr lang="en-US" sz="1100" b="1" dirty="0">
                <a:solidFill>
                  <a:srgbClr val="FFFFFF"/>
                </a:solidFill>
                <a:latin typeface="微软雅黑" pitchFamily="34" charset="0"/>
                <a:ea typeface="Calibri" pitchFamily="34" charset="-122"/>
                <a:cs typeface="Calibri" pitchFamily="34" charset="-120"/>
              </a:rPr>
              <a:t>A 优势：</a:t>
            </a:r>
            <a:pPr indent="0" marL="0">
              <a:buNone/>
            </a:pPr>
            <a:r>
              <a:rPr lang="en-US" sz="1050" dirty="0">
                <a:solidFill>
                  <a:srgbClr val="FFFFFF"/>
                </a:solidFill>
                <a:latin typeface="微软雅黑" pitchFamily="34" charset="0"/>
                <a:ea typeface="Calibri" pitchFamily="34" charset="-122"/>
                <a:cs typeface="Calibri" pitchFamily="34" charset="-120"/>
              </a:rPr>
              <a:t>前后对比数据直观展示训练效果，让家长看到实实在在的进步</a:t>
            </a:r>
            <a:endParaRPr lang="en-US" sz="1100" dirty="0"/>
          </a:p>
          <a:p>
            <a:pPr indent="0" marL="0">
              <a:buNone/>
            </a:pPr>
            <a:endParaRPr lang="en-US" sz="1100" dirty="0"/>
          </a:p>
          <a:p>
            <a:pPr indent="0" marL="0">
              <a:buNone/>
            </a:pPr>
            <a:r>
              <a:rPr lang="en-US" sz="1100" b="1" dirty="0">
                <a:solidFill>
                  <a:srgbClr val="FFFFFF"/>
                </a:solidFill>
                <a:latin typeface="微软雅黑" pitchFamily="34" charset="0"/>
                <a:ea typeface="Calibri" pitchFamily="34" charset="-122"/>
                <a:cs typeface="Calibri" pitchFamily="34" charset="-120"/>
              </a:rPr>
              <a:t>B 利益：</a:t>
            </a:r>
            <a:pPr indent="0" marL="0">
              <a:buNone/>
            </a:pPr>
            <a:r>
              <a:rPr lang="en-US" sz="1050" dirty="0">
                <a:solidFill>
                  <a:srgbClr val="FFFFFF"/>
                </a:solidFill>
                <a:latin typeface="微软雅黑" pitchFamily="34" charset="0"/>
                <a:ea typeface="Calibri" pitchFamily="34" charset="-122"/>
                <a:cs typeface="Calibri" pitchFamily="34" charset="-120"/>
              </a:rPr>
              <a:t>续费率提升至70%+，家长因“看到了效果”而主动续费</a:t>
            </a:r>
            <a:endParaRPr lang="en-US" sz="1100" dirty="0"/>
          </a:p>
        </p:txBody>
      </p:sp>
      <p:sp>
        <p:nvSpPr>
          <p:cNvPr id="17" name="Rectangle 16"/>
          <p:cNvSpPr/>
          <p:nvPr/>
        </p:nvSpPr>
        <p:spPr>
          <a:xfrm>
            <a:off x="0" y="0"/>
            <a:ext cx="9144000" cy="4114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4371975"/>
            <a:ext cx="9144000" cy="771525"/>
          </a:xfrm>
          <a:prstGeom prst="rect">
            <a:avLst/>
          </a:prstGeom>
          <a:solidFill>
            <a:srgbClr val="14244D">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6B35"/>
          </a:solidFill>
          <a:ln/>
        </p:spPr>
        <p:txBody>
          <a:bodyPr/>
          <a:p/>
        </p:txBody>
      </p:sp>
      <p:sp>
        <p:nvSpPr>
          <p:cNvPr id="3" name="Shape 1"/>
          <p:cNvSpPr/>
          <p:nvPr/>
        </p:nvSpPr>
        <p:spPr>
          <a:xfrm>
            <a:off x="0" y="5088636"/>
            <a:ext cx="9144000" cy="54864"/>
          </a:xfrm>
          <a:prstGeom prst="rect">
            <a:avLst/>
          </a:prstGeom>
          <a:solidFill>
            <a:srgbClr val="1E2761"/>
          </a:solidFill>
          <a:ln/>
        </p:spPr>
        <p:txBody>
          <a:bodyPr/>
          <a:p/>
        </p:txBody>
      </p:sp>
      <p:sp>
        <p:nvSpPr>
          <p:cNvPr id="4" name="Shape 2"/>
          <p:cNvSpPr/>
          <p:nvPr/>
        </p:nvSpPr>
        <p:spPr>
          <a:xfrm>
            <a:off x="457200" y="228600"/>
            <a:ext cx="1463040" cy="292608"/>
          </a:xfrm>
          <a:prstGeom prst="rect">
            <a:avLst>
              <a:gd name="adj" fmla="val 12500"/>
            </a:avLst>
          </a:prstGeom>
          <a:solidFill>
            <a:srgbClr val="FFE8DD"/>
          </a:solidFill>
          <a:ln/>
        </p:spPr>
        <p:txBody>
          <a:bodyPr/>
          <a:p/>
        </p:txBody>
      </p:sp>
      <p:sp>
        <p:nvSpPr>
          <p:cNvPr id="5" name="Text 3"/>
          <p:cNvSpPr/>
          <p:nvPr/>
        </p:nvSpPr>
        <p:spPr>
          <a:xfrm>
            <a:off x="457200" y="228600"/>
            <a:ext cx="1463040" cy="292608"/>
          </a:xfrm>
          <a:prstGeom prst="rect">
            <a:avLst/>
          </a:prstGeom>
          <a:noFill/>
          <a:ln/>
        </p:spPr>
        <p:txBody>
          <a:bodyPr wrap="square" rtlCol="0" anchor="ctr">
            <a:normAutofit/>
          </a:bodyPr>
          <a:lstStyle/>
          <a:p>
            <a:pPr algn="ctr" indent="0" marL="0">
              <a:buNone/>
            </a:pPr>
            <a:r>
              <a:rPr lang="en-US" sz="1000" b="1" dirty="0">
                <a:solidFill>
                  <a:srgbClr val="FF6B35"/>
                </a:solidFill>
                <a:latin typeface="微软雅黑" pitchFamily="34" charset="0"/>
                <a:ea typeface="Calibri" pitchFamily="34" charset="-122"/>
                <a:cs typeface="Calibri" pitchFamily="34" charset="-120"/>
              </a:rPr>
              <a:t>体测流程6步</a:t>
            </a:r>
            <a:endParaRPr lang="en-US" sz="1000" dirty="0"/>
          </a:p>
        </p:txBody>
      </p:sp>
      <p:sp>
        <p:nvSpPr>
          <p:cNvPr id="6" name="Text 4"/>
          <p:cNvSpPr/>
          <p:nvPr/>
        </p:nvSpPr>
        <p:spPr>
          <a:xfrm>
            <a:off x="457200" y="182880"/>
            <a:ext cx="8229600" cy="502920"/>
          </a:xfrm>
          <a:prstGeom prst="rect">
            <a:avLst/>
          </a:prstGeom>
          <a:noFill/>
          <a:ln/>
        </p:spPr>
        <p:txBody>
          <a:bodyPr wrap="square" rtlCol="0" anchor="b">
            <a:normAutofit/>
          </a:bodyPr>
          <a:lstStyle/>
          <a:p>
            <a:pPr indent="0" marL="0">
              <a:buNone/>
            </a:pPr>
            <a:r>
              <a:rPr lang="en-US" sz="2600" dirty="0">
                <a:solidFill>
                  <a:srgbClr val="FFFFFF"/>
                </a:solidFill>
                <a:latin typeface="微软雅黑" pitchFamily="34" charset="0"/>
                <a:ea typeface="Arial Black" pitchFamily="34" charset="-122"/>
                <a:cs typeface="Arial Black" pitchFamily="34" charset="-120"/>
              </a:rPr>
              <a:t>Step 1：体测邀约</a:t>
            </a:r>
            <a:endParaRPr lang="en-US" sz="2600" dirty="0"/>
          </a:p>
        </p:txBody>
      </p:sp>
      <p:sp>
        <p:nvSpPr>
          <p:cNvPr id="7" name="Text 5"/>
          <p:cNvSpPr/>
          <p:nvPr/>
        </p:nvSpPr>
        <p:spPr>
          <a:xfrm>
            <a:off x="457200" y="658368"/>
            <a:ext cx="8229600" cy="274320"/>
          </a:xfrm>
          <a:prstGeom prst="rect">
            <a:avLst/>
          </a:prstGeom>
          <a:noFill/>
          <a:ln/>
        </p:spPr>
        <p:txBody>
          <a:bodyPr wrap="square" rtlCol="0" anchor="ctr">
            <a:normAutofit/>
          </a:bodyPr>
          <a:lstStyle/>
          <a:p>
            <a:pPr indent="0" marL="0">
              <a:buNone/>
            </a:pPr>
            <a:r>
              <a:rPr lang="en-US" sz="1200" dirty="0">
                <a:solidFill>
                  <a:srgbClr val="FFFFFF"/>
                </a:solidFill>
                <a:latin typeface="微软雅黑" pitchFamily="34" charset="0"/>
                <a:ea typeface="Calibri" pitchFamily="34" charset="-122"/>
                <a:cs typeface="Calibri" pitchFamily="34" charset="-120"/>
              </a:rPr>
              <a:t>邀约成功是体测成交的第一步</a:t>
            </a:r>
            <a:endParaRPr lang="en-US" sz="1200" dirty="0"/>
          </a:p>
        </p:txBody>
      </p:sp>
      <p:sp>
        <p:nvSpPr>
          <p:cNvPr id="8" name="Text 6"/>
          <p:cNvSpPr/>
          <p:nvPr/>
        </p:nvSpPr>
        <p:spPr>
          <a:xfrm>
            <a:off x="7955280" y="4777740"/>
            <a:ext cx="731520" cy="274320"/>
          </a:xfrm>
          <a:prstGeom prst="rect">
            <a:avLst/>
          </a:prstGeom>
          <a:noFill/>
          <a:ln/>
        </p:spPr>
        <p:txBody>
          <a:bodyPr wrap="square" rtlCol="0" anchor="ctr">
            <a:normAutofit/>
          </a:bodyPr>
          <a:lstStyle/>
          <a:p>
            <a:pPr algn="r" indent="0" marL="0">
              <a:buNone/>
            </a:pPr>
            <a:r>
              <a:rPr lang="en-US" sz="900" dirty="0">
                <a:solidFill>
                  <a:srgbClr val="FFFFFF"/>
                </a:solidFill>
                <a:latin typeface="微软雅黑" pitchFamily="34" charset="0"/>
                <a:ea typeface="Calibri" pitchFamily="34" charset="-122"/>
                <a:cs typeface="Calibri" pitchFamily="34" charset="-120"/>
              </a:rPr>
              <a:t>5 / 15</a:t>
            </a:r>
            <a:endParaRPr lang="en-US" sz="900" dirty="0"/>
          </a:p>
        </p:txBody>
      </p:sp>
      <p:sp>
        <p:nvSpPr>
          <p:cNvPr id="9" name="Shape 7"/>
          <p:cNvSpPr/>
          <p:nvPr/>
        </p:nvSpPr>
        <p:spPr>
          <a:xfrm>
            <a:off x="457200" y="182880"/>
            <a:ext cx="411480" cy="411480"/>
          </a:xfrm>
          <a:prstGeom prst="ellipse">
            <a:avLst/>
          </a:prstGeom>
          <a:solidFill>
            <a:srgbClr val="FF6B35"/>
          </a:solidFill>
          <a:ln/>
        </p:spPr>
        <p:txBody>
          <a:bodyPr/>
          <a:p/>
        </p:txBody>
      </p:sp>
      <p:sp>
        <p:nvSpPr>
          <p:cNvPr id="10" name="Text 8"/>
          <p:cNvSpPr/>
          <p:nvPr/>
        </p:nvSpPr>
        <p:spPr>
          <a:xfrm>
            <a:off x="457200" y="182880"/>
            <a:ext cx="411480" cy="411480"/>
          </a:xfrm>
          <a:prstGeom prst="rect">
            <a:avLst/>
          </a:prstGeom>
          <a:noFill/>
          <a:ln/>
        </p:spPr>
        <p:txBody>
          <a:bodyPr wrap="square" rtlCol="0" anchor="ctr">
            <a:normAutofit/>
          </a:bodyPr>
          <a:lstStyle/>
          <a:p>
            <a:pPr algn="ctr" indent="0" marL="0">
              <a:buNone/>
            </a:pPr>
            <a:r>
              <a:rPr lang="en-US" sz="1600" dirty="0">
                <a:solidFill>
                  <a:srgbClr val="FFFFFF"/>
                </a:solidFill>
                <a:latin typeface="微软雅黑" pitchFamily="34" charset="0"/>
                <a:ea typeface="Arial Black" pitchFamily="34" charset="-122"/>
                <a:cs typeface="Arial Black" pitchFamily="34" charset="-120"/>
              </a:rPr>
              <a:t>1</a:t>
            </a:r>
            <a:endParaRPr lang="en-US" sz="1600" dirty="0"/>
          </a:p>
        </p:txBody>
      </p:sp>
      <p:sp>
        <p:nvSpPr>
          <p:cNvPr id="11" name="Shape 9"/>
          <p:cNvSpPr/>
          <p:nvPr/>
        </p:nvSpPr>
        <p:spPr>
          <a:xfrm>
            <a:off x="457200" y="1051560"/>
            <a:ext cx="2560320" cy="1828800"/>
          </a:xfrm>
          <a:prstGeom prst="rect">
            <a:avLst>
              <a:gd name="adj" fmla="val 4000"/>
            </a:avLst>
          </a:prstGeom>
          <a:solidFill>
            <a:srgbClr val="1A2A50">
              <a:alpha val="70000"/>
            </a:srgbClr>
          </a:solidFill>
          <a:ln/>
          <a:effectLst>
            <a:outerShdw sx="100000" sy="100000" kx="0" ky="0" algn="bl" rotWithShape="0" blurRad="76200" dist="25400" dir="16200000">
              <a:srgbClr val="000000">
                <a:alpha val="8000"/>
              </a:srgbClr>
            </a:outerShdw>
          </a:effectLst>
        </p:spPr>
        <p:txBody>
          <a:bodyPr/>
          <a:p/>
        </p:txBody>
      </p:sp>
      <p:sp>
        <p:nvSpPr>
          <p:cNvPr id="12" name="Shape 10"/>
          <p:cNvSpPr/>
          <p:nvPr/>
        </p:nvSpPr>
        <p:spPr>
          <a:xfrm>
            <a:off x="457200" y="1051560"/>
            <a:ext cx="2560320" cy="54864"/>
          </a:xfrm>
          <a:prstGeom prst="rect">
            <a:avLst>
              <a:gd name="adj" fmla="val 133333"/>
            </a:avLst>
          </a:prstGeom>
          <a:solidFill>
            <a:srgbClr val="FF6B35"/>
          </a:solidFill>
          <a:ln/>
        </p:spPr>
        <p:txBody>
          <a:bodyPr/>
          <a:p/>
        </p:txBody>
      </p:sp>
      <p:sp>
        <p:nvSpPr>
          <p:cNvPr id="13" name="Shape 11"/>
          <p:cNvSpPr/>
          <p:nvPr/>
        </p:nvSpPr>
        <p:spPr>
          <a:xfrm>
            <a:off x="594360" y="1216152"/>
            <a:ext cx="502920" cy="256032"/>
          </a:xfrm>
          <a:prstGeom prst="rect">
            <a:avLst>
              <a:gd name="adj" fmla="val 14286"/>
            </a:avLst>
          </a:prstGeom>
          <a:solidFill>
            <a:srgbClr val="FF6B35"/>
          </a:solidFill>
          <a:ln/>
        </p:spPr>
        <p:txBody>
          <a:bodyPr/>
          <a:p/>
        </p:txBody>
      </p:sp>
      <p:sp>
        <p:nvSpPr>
          <p:cNvPr id="14" name="Text 12"/>
          <p:cNvSpPr/>
          <p:nvPr/>
        </p:nvSpPr>
        <p:spPr>
          <a:xfrm>
            <a:off x="594360" y="1216152"/>
            <a:ext cx="502920" cy="256032"/>
          </a:xfrm>
          <a:prstGeom prst="rect">
            <a:avLst/>
          </a:prstGeom>
          <a:noFill/>
          <a:ln/>
        </p:spPr>
        <p:txBody>
          <a:bodyPr wrap="square" rtlCol="0" anchor="ctr">
            <a:normAutofit/>
          </a:bodyPr>
          <a:lstStyle/>
          <a:p>
            <a:pPr algn="ctr" indent="0" marL="0">
              <a:buNone/>
            </a:pPr>
            <a:r>
              <a:rPr lang="en-US" sz="1100" dirty="0">
                <a:solidFill>
                  <a:srgbClr val="FFFFFF"/>
                </a:solidFill>
                <a:latin typeface="微软雅黑" pitchFamily="34" charset="0"/>
                <a:ea typeface="Arial Black" pitchFamily="34" charset="-122"/>
                <a:cs typeface="Arial Black" pitchFamily="34" charset="-120"/>
              </a:rPr>
              <a:t>F 特性</a:t>
            </a:r>
            <a:endParaRPr lang="en-US" sz="1100" dirty="0"/>
          </a:p>
        </p:txBody>
      </p:sp>
      <p:sp>
        <p:nvSpPr>
          <p:cNvPr id="15" name="Text 13"/>
          <p:cNvSpPr/>
          <p:nvPr/>
        </p:nvSpPr>
        <p:spPr>
          <a:xfrm>
            <a:off x="594360" y="1554480"/>
            <a:ext cx="2286000" cy="292608"/>
          </a:xfrm>
          <a:prstGeom prst="rect">
            <a:avLst/>
          </a:prstGeom>
          <a:noFill/>
          <a:ln/>
        </p:spPr>
        <p:txBody>
          <a:bodyPr wrap="square" rtlCol="0" anchor="t">
            <a:normAutofit/>
          </a:bodyPr>
          <a:lstStyle/>
          <a:p>
            <a:pPr indent="0" marL="0">
              <a:buNone/>
            </a:pPr>
            <a:r>
              <a:rPr lang="en-US" sz="1300" dirty="0">
                <a:solidFill>
                  <a:srgbClr val="FFFFFF"/>
                </a:solidFill>
                <a:latin typeface="微软雅黑" pitchFamily="34" charset="0"/>
                <a:ea typeface="Arial Black" pitchFamily="34" charset="-122"/>
                <a:cs typeface="Arial Black" pitchFamily="34" charset="-120"/>
              </a:rPr>
              <a:t>标准化邀约流程</a:t>
            </a:r>
            <a:endParaRPr lang="en-US" sz="1300" dirty="0"/>
          </a:p>
        </p:txBody>
      </p:sp>
      <p:sp>
        <p:nvSpPr>
          <p:cNvPr id="16" name="Text 14"/>
          <p:cNvSpPr/>
          <p:nvPr/>
        </p:nvSpPr>
        <p:spPr>
          <a:xfrm>
            <a:off x="594360" y="1856232"/>
            <a:ext cx="2286000" cy="914400"/>
          </a:xfrm>
          <a:prstGeom prst="rect">
            <a:avLst/>
          </a:prstGeom>
          <a:noFill/>
          <a:ln/>
        </p:spPr>
        <p:txBody>
          <a:bodyPr wrap="square" rtlCol="0" anchor="t"/>
          <a:lstStyle/>
          <a:p>
            <a:pPr indent="0" marL="0">
              <a:buNone/>
            </a:pPr>
            <a:r>
              <a:rPr lang="en-US" sz="1050" dirty="0">
                <a:solidFill>
                  <a:srgbClr val="FFFFFF"/>
                </a:solidFill>
                <a:latin typeface="微软雅黑" pitchFamily="34" charset="0"/>
                <a:ea typeface="Calibri" pitchFamily="34" charset="-122"/>
                <a:cs typeface="Calibri" pitchFamily="34" charset="-120"/>
              </a:rPr>
              <a:t>电话/微信邀约，明确告知体测目的、时长（20-30分钟）、注意事项（穿运动服），提前1-2天确认。</a:t>
            </a:r>
            <a:endParaRPr lang="en-US" sz="1050" dirty="0"/>
          </a:p>
        </p:txBody>
      </p:sp>
      <p:sp>
        <p:nvSpPr>
          <p:cNvPr id="17" name="Shape 15"/>
          <p:cNvSpPr/>
          <p:nvPr/>
        </p:nvSpPr>
        <p:spPr>
          <a:xfrm>
            <a:off x="3246120" y="1051560"/>
            <a:ext cx="2560320" cy="1828800"/>
          </a:xfrm>
          <a:prstGeom prst="rect">
            <a:avLst>
              <a:gd name="adj" fmla="val 4000"/>
            </a:avLst>
          </a:prstGeom>
          <a:solidFill>
            <a:srgbClr val="1A2A50">
              <a:alpha val="70000"/>
            </a:srgbClr>
          </a:solidFill>
          <a:ln/>
          <a:effectLst>
            <a:outerShdw sx="100000" sy="100000" kx="0" ky="0" algn="bl" rotWithShape="0" blurRad="76200" dist="25400" dir="16200000">
              <a:srgbClr val="000000">
                <a:alpha val="8000"/>
              </a:srgbClr>
            </a:outerShdw>
          </a:effectLst>
        </p:spPr>
        <p:txBody>
          <a:bodyPr/>
          <a:p/>
        </p:txBody>
      </p:sp>
      <p:sp>
        <p:nvSpPr>
          <p:cNvPr id="18" name="Shape 16"/>
          <p:cNvSpPr/>
          <p:nvPr/>
        </p:nvSpPr>
        <p:spPr>
          <a:xfrm>
            <a:off x="3246120" y="1051560"/>
            <a:ext cx="2560320" cy="54864"/>
          </a:xfrm>
          <a:prstGeom prst="rect">
            <a:avLst>
              <a:gd name="adj" fmla="val 133333"/>
            </a:avLst>
          </a:prstGeom>
          <a:solidFill>
            <a:srgbClr val="1E2761"/>
          </a:solidFill>
          <a:ln/>
        </p:spPr>
        <p:txBody>
          <a:bodyPr/>
          <a:p/>
        </p:txBody>
      </p:sp>
      <p:sp>
        <p:nvSpPr>
          <p:cNvPr id="19" name="Shape 17"/>
          <p:cNvSpPr/>
          <p:nvPr/>
        </p:nvSpPr>
        <p:spPr>
          <a:xfrm>
            <a:off x="3383280" y="1216152"/>
            <a:ext cx="502920" cy="256032"/>
          </a:xfrm>
          <a:prstGeom prst="rect">
            <a:avLst>
              <a:gd name="adj" fmla="val 14286"/>
            </a:avLst>
          </a:prstGeom>
          <a:solidFill>
            <a:srgbClr val="1E2761"/>
          </a:solidFill>
          <a:ln/>
        </p:spPr>
        <p:txBody>
          <a:bodyPr/>
          <a:p/>
        </p:txBody>
      </p:sp>
      <p:sp>
        <p:nvSpPr>
          <p:cNvPr id="20" name="Text 18"/>
          <p:cNvSpPr/>
          <p:nvPr/>
        </p:nvSpPr>
        <p:spPr>
          <a:xfrm>
            <a:off x="3383280" y="1216152"/>
            <a:ext cx="502920" cy="256032"/>
          </a:xfrm>
          <a:prstGeom prst="rect">
            <a:avLst/>
          </a:prstGeom>
          <a:noFill/>
          <a:ln/>
        </p:spPr>
        <p:txBody>
          <a:bodyPr wrap="square" rtlCol="0" anchor="ctr">
            <a:normAutofit/>
          </a:bodyPr>
          <a:lstStyle/>
          <a:p>
            <a:pPr algn="ctr" indent="0" marL="0">
              <a:buNone/>
            </a:pPr>
            <a:r>
              <a:rPr lang="en-US" sz="1100" dirty="0">
                <a:solidFill>
                  <a:srgbClr val="FFFFFF"/>
                </a:solidFill>
                <a:latin typeface="微软雅黑" pitchFamily="34" charset="0"/>
                <a:ea typeface="Arial Black" pitchFamily="34" charset="-122"/>
                <a:cs typeface="Arial Black" pitchFamily="34" charset="-120"/>
              </a:rPr>
              <a:t>A 优势</a:t>
            </a:r>
            <a:endParaRPr lang="en-US" sz="1100" dirty="0"/>
          </a:p>
        </p:txBody>
      </p:sp>
      <p:sp>
        <p:nvSpPr>
          <p:cNvPr id="21" name="Text 19"/>
          <p:cNvSpPr/>
          <p:nvPr/>
        </p:nvSpPr>
        <p:spPr>
          <a:xfrm>
            <a:off x="3383280" y="1554480"/>
            <a:ext cx="2286000" cy="292608"/>
          </a:xfrm>
          <a:prstGeom prst="rect">
            <a:avLst/>
          </a:prstGeom>
          <a:noFill/>
          <a:ln/>
        </p:spPr>
        <p:txBody>
          <a:bodyPr wrap="square" rtlCol="0" anchor="t">
            <a:normAutofit/>
          </a:bodyPr>
          <a:lstStyle/>
          <a:p>
            <a:pPr indent="0" marL="0">
              <a:buNone/>
            </a:pPr>
            <a:r>
              <a:rPr lang="en-US" sz="1300" dirty="0">
                <a:solidFill>
                  <a:srgbClr val="FFFFFF"/>
                </a:solidFill>
                <a:latin typeface="微软雅黑" pitchFamily="34" charset="0"/>
                <a:ea typeface="Arial Black" pitchFamily="34" charset="-122"/>
                <a:cs typeface="Arial Black" pitchFamily="34" charset="-120"/>
              </a:rPr>
              <a:t>降低爽约率</a:t>
            </a:r>
            <a:endParaRPr lang="en-US" sz="1300" dirty="0"/>
          </a:p>
        </p:txBody>
      </p:sp>
      <p:sp>
        <p:nvSpPr>
          <p:cNvPr id="22" name="Text 20"/>
          <p:cNvSpPr/>
          <p:nvPr/>
        </p:nvSpPr>
        <p:spPr>
          <a:xfrm>
            <a:off x="3383280" y="1856232"/>
            <a:ext cx="2286000" cy="914400"/>
          </a:xfrm>
          <a:prstGeom prst="rect">
            <a:avLst/>
          </a:prstGeom>
          <a:noFill/>
          <a:ln/>
        </p:spPr>
        <p:txBody>
          <a:bodyPr wrap="square" rtlCol="0" anchor="t"/>
          <a:lstStyle/>
          <a:p>
            <a:pPr indent="0" marL="0">
              <a:buNone/>
            </a:pPr>
            <a:r>
              <a:rPr lang="en-US" sz="1050" dirty="0">
                <a:solidFill>
                  <a:srgbClr val="FFFFFF"/>
                </a:solidFill>
                <a:latin typeface="微软雅黑" pitchFamily="34" charset="0"/>
                <a:ea typeface="Calibri" pitchFamily="34" charset="-122"/>
                <a:cs typeface="Calibri" pitchFamily="34" charset="-120"/>
              </a:rPr>
              <a:t>标准化话术+提前确认机制，让家长重视体测安排，爽约率从30%降至10%以下。</a:t>
            </a:r>
            <a:endParaRPr lang="en-US" sz="1050" dirty="0"/>
          </a:p>
        </p:txBody>
      </p:sp>
      <p:sp>
        <p:nvSpPr>
          <p:cNvPr id="23" name="Shape 21"/>
          <p:cNvSpPr/>
          <p:nvPr/>
        </p:nvSpPr>
        <p:spPr>
          <a:xfrm>
            <a:off x="6035040" y="1051560"/>
            <a:ext cx="2560320" cy="1828800"/>
          </a:xfrm>
          <a:prstGeom prst="rect">
            <a:avLst>
              <a:gd name="adj" fmla="val 4000"/>
            </a:avLst>
          </a:prstGeom>
          <a:solidFill>
            <a:srgbClr val="1A2A50">
              <a:alpha val="70000"/>
            </a:srgbClr>
          </a:solidFill>
          <a:ln/>
          <a:effectLst>
            <a:outerShdw sx="100000" sy="100000" kx="0" ky="0" algn="bl" rotWithShape="0" blurRad="76200" dist="25400" dir="16200000">
              <a:srgbClr val="000000">
                <a:alpha val="8000"/>
              </a:srgbClr>
            </a:outerShdw>
          </a:effectLst>
        </p:spPr>
        <p:txBody>
          <a:bodyPr/>
          <a:p/>
        </p:txBody>
      </p:sp>
      <p:sp>
        <p:nvSpPr>
          <p:cNvPr id="24" name="Shape 22"/>
          <p:cNvSpPr/>
          <p:nvPr/>
        </p:nvSpPr>
        <p:spPr>
          <a:xfrm>
            <a:off x="6035040" y="1051560"/>
            <a:ext cx="2560320" cy="54864"/>
          </a:xfrm>
          <a:prstGeom prst="rect">
            <a:avLst>
              <a:gd name="adj" fmla="val 133333"/>
            </a:avLst>
          </a:prstGeom>
          <a:solidFill>
            <a:srgbClr val="2ECC71"/>
          </a:solidFill>
          <a:ln/>
        </p:spPr>
        <p:txBody>
          <a:bodyPr/>
          <a:p/>
        </p:txBody>
      </p:sp>
      <p:sp>
        <p:nvSpPr>
          <p:cNvPr id="25" name="Shape 23"/>
          <p:cNvSpPr/>
          <p:nvPr/>
        </p:nvSpPr>
        <p:spPr>
          <a:xfrm>
            <a:off x="6172200" y="1216152"/>
            <a:ext cx="502920" cy="256032"/>
          </a:xfrm>
          <a:prstGeom prst="rect">
            <a:avLst>
              <a:gd name="adj" fmla="val 14286"/>
            </a:avLst>
          </a:prstGeom>
          <a:solidFill>
            <a:srgbClr val="2ECC71"/>
          </a:solidFill>
          <a:ln/>
        </p:spPr>
        <p:txBody>
          <a:bodyPr/>
          <a:p/>
        </p:txBody>
      </p:sp>
      <p:sp>
        <p:nvSpPr>
          <p:cNvPr id="26" name="Text 24"/>
          <p:cNvSpPr/>
          <p:nvPr/>
        </p:nvSpPr>
        <p:spPr>
          <a:xfrm>
            <a:off x="6172200" y="1216152"/>
            <a:ext cx="502920" cy="256032"/>
          </a:xfrm>
          <a:prstGeom prst="rect">
            <a:avLst/>
          </a:prstGeom>
          <a:noFill/>
          <a:ln/>
        </p:spPr>
        <p:txBody>
          <a:bodyPr wrap="square" rtlCol="0" anchor="ctr">
            <a:normAutofit/>
          </a:bodyPr>
          <a:lstStyle/>
          <a:p>
            <a:pPr algn="ctr" indent="0" marL="0">
              <a:buNone/>
            </a:pPr>
            <a:r>
              <a:rPr lang="en-US" sz="1100" dirty="0">
                <a:solidFill>
                  <a:srgbClr val="FFFFFF"/>
                </a:solidFill>
                <a:latin typeface="微软雅黑" pitchFamily="34" charset="0"/>
                <a:ea typeface="Arial Black" pitchFamily="34" charset="-122"/>
                <a:cs typeface="Arial Black" pitchFamily="34" charset="-120"/>
              </a:rPr>
              <a:t>B 利益</a:t>
            </a:r>
            <a:endParaRPr lang="en-US" sz="1100" dirty="0"/>
          </a:p>
        </p:txBody>
      </p:sp>
      <p:sp>
        <p:nvSpPr>
          <p:cNvPr id="27" name="Text 25"/>
          <p:cNvSpPr/>
          <p:nvPr/>
        </p:nvSpPr>
        <p:spPr>
          <a:xfrm>
            <a:off x="6172200" y="1554480"/>
            <a:ext cx="2286000" cy="292608"/>
          </a:xfrm>
          <a:prstGeom prst="rect">
            <a:avLst/>
          </a:prstGeom>
          <a:noFill/>
          <a:ln/>
        </p:spPr>
        <p:txBody>
          <a:bodyPr wrap="square" rtlCol="0" anchor="t">
            <a:normAutofit/>
          </a:bodyPr>
          <a:lstStyle/>
          <a:p>
            <a:pPr indent="0" marL="0">
              <a:buNone/>
            </a:pPr>
            <a:r>
              <a:rPr lang="en-US" sz="1300" dirty="0">
                <a:solidFill>
                  <a:srgbClr val="FFFFFF"/>
                </a:solidFill>
                <a:latin typeface="微软雅黑" pitchFamily="34" charset="0"/>
                <a:ea typeface="Arial Black" pitchFamily="34" charset="-122"/>
                <a:cs typeface="Arial Black" pitchFamily="34" charset="-120"/>
              </a:rPr>
              <a:t>到店率提升</a:t>
            </a:r>
            <a:endParaRPr lang="en-US" sz="1300" dirty="0"/>
          </a:p>
        </p:txBody>
      </p:sp>
      <p:sp>
        <p:nvSpPr>
          <p:cNvPr id="28" name="Text 26"/>
          <p:cNvSpPr/>
          <p:nvPr/>
        </p:nvSpPr>
        <p:spPr>
          <a:xfrm>
            <a:off x="6172200" y="1856232"/>
            <a:ext cx="2286000" cy="914400"/>
          </a:xfrm>
          <a:prstGeom prst="rect">
            <a:avLst/>
          </a:prstGeom>
          <a:noFill/>
          <a:ln/>
        </p:spPr>
        <p:txBody>
          <a:bodyPr wrap="square" rtlCol="0" anchor="t"/>
          <a:lstStyle/>
          <a:p>
            <a:pPr indent="0" marL="0">
              <a:buNone/>
            </a:pPr>
            <a:r>
              <a:rPr lang="en-US" sz="1050" dirty="0">
                <a:solidFill>
                  <a:srgbClr val="FFFFFF"/>
                </a:solidFill>
                <a:latin typeface="微软雅黑" pitchFamily="34" charset="0"/>
                <a:ea typeface="Calibri" pitchFamily="34" charset="-122"/>
                <a:cs typeface="Calibri" pitchFamily="34" charset="-120"/>
              </a:rPr>
              <a:t>每多1组到店体测，就多1次成交机会。邀约到店率&gt;=80%，直接提升月度业绩。</a:t>
            </a:r>
            <a:endParaRPr lang="en-US" sz="1050" dirty="0"/>
          </a:p>
        </p:txBody>
      </p:sp>
      <p:sp>
        <p:nvSpPr>
          <p:cNvPr id="29" name="Shape 27"/>
          <p:cNvSpPr/>
          <p:nvPr/>
        </p:nvSpPr>
        <p:spPr>
          <a:xfrm>
            <a:off x="457200" y="3063240"/>
            <a:ext cx="8229600" cy="1508760"/>
          </a:xfrm>
          <a:prstGeom prst="rect">
            <a:avLst>
              <a:gd name="adj" fmla="val 4848"/>
            </a:avLst>
          </a:prstGeom>
          <a:solidFill>
            <a:srgbClr val="E8EDF8"/>
          </a:solidFill>
          <a:ln/>
        </p:spPr>
        <p:txBody>
          <a:bodyPr/>
          <a:p/>
        </p:txBody>
      </p:sp>
      <p:sp>
        <p:nvSpPr>
          <p:cNvPr id="30" name="Text 28"/>
          <p:cNvSpPr/>
          <p:nvPr/>
        </p:nvSpPr>
        <p:spPr>
          <a:xfrm>
            <a:off x="640080" y="3154680"/>
            <a:ext cx="2743200" cy="274320"/>
          </a:xfrm>
          <a:prstGeom prst="rect">
            <a:avLst/>
          </a:prstGeom>
          <a:noFill/>
          <a:ln/>
        </p:spPr>
        <p:txBody>
          <a:bodyPr wrap="square" rtlCol="0" anchor="ctr">
            <a:normAutofit/>
          </a:bodyPr>
          <a:lstStyle/>
          <a:p>
            <a:pPr indent="0" marL="0">
              <a:buNone/>
            </a:pPr>
            <a:r>
              <a:rPr lang="en-US" sz="1200" dirty="0">
                <a:solidFill>
                  <a:srgbClr val="FFFFFF"/>
                </a:solidFill>
                <a:latin typeface="微软雅黑" pitchFamily="34" charset="0"/>
                <a:ea typeface="Arial Black" pitchFamily="34" charset="-122"/>
                <a:cs typeface="Arial Black" pitchFamily="34" charset="-120"/>
              </a:rPr>
              <a:t>邀约话术要点</a:t>
            </a:r>
            <a:endParaRPr lang="en-US" sz="1200" dirty="0"/>
          </a:p>
        </p:txBody>
      </p:sp>
      <p:sp>
        <p:nvSpPr>
          <p:cNvPr id="31" name="Text 29"/>
          <p:cNvSpPr/>
          <p:nvPr/>
        </p:nvSpPr>
        <p:spPr>
          <a:xfrm>
            <a:off x="640080" y="3447288"/>
            <a:ext cx="7863840" cy="1005840"/>
          </a:xfrm>
          <a:prstGeom prst="rect">
            <a:avLst/>
          </a:prstGeom>
          <a:noFill/>
          <a:ln/>
        </p:spPr>
        <p:txBody>
          <a:bodyPr wrap="square" rtlCol="0" anchor="t"/>
          <a:lstStyle/>
          <a:p>
            <a:pPr indent="0" marL="0">
              <a:buNone/>
            </a:pPr>
            <a:r>
              <a:rPr lang="en-US" sz="1000" dirty="0">
                <a:solidFill>
                  <a:srgbClr val="FFFFFF"/>
                </a:solidFill>
                <a:latin typeface="微软雅黑" pitchFamily="34" charset="0"/>
                <a:ea typeface="Calibri" pitchFamily="34" charset="-122"/>
                <a:cs typeface="Calibri" pitchFamily="34" charset="-120"/>
              </a:rPr>
              <a:t>"XX妈妈您好，我是追光小牛的XX教练。我们近期为3-12岁的小朋友提供了一次免费的体能评估，</a:t>
            </a:r>
            <a:endParaRPr lang="en-US" sz="1000" dirty="0"/>
          </a:p>
          <a:p>
            <a:pPr indent="0" marL="0">
              <a:buNone/>
            </a:pPr>
            <a:r>
              <a:rPr lang="en-US" sz="1000" dirty="0">
                <a:solidFill>
                  <a:srgbClr val="FFFFFF"/>
                </a:solidFill>
                <a:latin typeface="微软雅黑" pitchFamily="34" charset="0"/>
                <a:ea typeface="Calibri" pitchFamily="34" charset="-122"/>
                <a:cs typeface="Calibri" pitchFamily="34" charset="-120"/>
              </a:rPr>
              <a:t>通过8项专业测试全面了解孩子的身体发育状况，整个过程只需20-30分钟。</a:t>
            </a:r>
            <a:endParaRPr lang="en-US" sz="1000" dirty="0"/>
          </a:p>
          <a:p>
            <a:pPr indent="0" marL="0">
              <a:buNone/>
            </a:pPr>
            <a:r>
              <a:rPr lang="en-US" sz="1000" dirty="0">
                <a:solidFill>
                  <a:srgbClr val="FFFFFF"/>
                </a:solidFill>
                <a:latin typeface="微软雅黑" pitchFamily="34" charset="0"/>
                <a:ea typeface="Calibri" pitchFamily="34" charset="-122"/>
                <a:cs typeface="Calibri" pitchFamily="34" charset="-120"/>
              </a:rPr>
              <a:t>测完之后我们会出一份详细的评估报告，帮您清楚了解孩子目前的身体素质水平。您看这周六上午方便吗？"</a:t>
            </a:r>
            <a:endParaRPr lang="en-US" sz="1000" dirty="0"/>
          </a:p>
        </p:txBody>
      </p:sp>
      <p:sp>
        <p:nvSpPr>
          <p:cNvPr id="32" name="Rectangle 31"/>
          <p:cNvSpPr/>
          <p:nvPr/>
        </p:nvSpPr>
        <p:spPr>
          <a:xfrm>
            <a:off x="0" y="0"/>
            <a:ext cx="9144000" cy="4114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a:off x="8046720" y="0"/>
            <a:ext cx="1097280" cy="411480"/>
          </a:xfrm>
          <a:prstGeom prst="triangle">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4371975"/>
            <a:ext cx="9144000" cy="771525"/>
          </a:xfrm>
          <a:prstGeom prst="rect">
            <a:avLst/>
          </a:prstGeom>
          <a:solidFill>
            <a:srgbClr val="14244D">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6B35"/>
          </a:solidFill>
          <a:ln/>
        </p:spPr>
        <p:txBody>
          <a:bodyPr/>
          <a:p/>
        </p:txBody>
      </p:sp>
      <p:sp>
        <p:nvSpPr>
          <p:cNvPr id="3" name="Shape 1"/>
          <p:cNvSpPr/>
          <p:nvPr/>
        </p:nvSpPr>
        <p:spPr>
          <a:xfrm>
            <a:off x="0" y="5088636"/>
            <a:ext cx="9144000" cy="54864"/>
          </a:xfrm>
          <a:prstGeom prst="rect">
            <a:avLst/>
          </a:prstGeom>
          <a:solidFill>
            <a:srgbClr val="1E2761"/>
          </a:solidFill>
          <a:ln/>
        </p:spPr>
        <p:txBody>
          <a:bodyPr/>
          <a:p/>
        </p:txBody>
      </p:sp>
      <p:sp>
        <p:nvSpPr>
          <p:cNvPr id="4" name="Shape 2"/>
          <p:cNvSpPr/>
          <p:nvPr/>
        </p:nvSpPr>
        <p:spPr>
          <a:xfrm>
            <a:off x="457200" y="228600"/>
            <a:ext cx="1463040" cy="292608"/>
          </a:xfrm>
          <a:prstGeom prst="rect">
            <a:avLst>
              <a:gd name="adj" fmla="val 12500"/>
            </a:avLst>
          </a:prstGeom>
          <a:solidFill>
            <a:srgbClr val="FFE8DD"/>
          </a:solidFill>
          <a:ln/>
        </p:spPr>
        <p:txBody>
          <a:bodyPr/>
          <a:p/>
        </p:txBody>
      </p:sp>
      <p:sp>
        <p:nvSpPr>
          <p:cNvPr id="5" name="Text 3"/>
          <p:cNvSpPr/>
          <p:nvPr/>
        </p:nvSpPr>
        <p:spPr>
          <a:xfrm>
            <a:off x="457200" y="228600"/>
            <a:ext cx="1463040" cy="292608"/>
          </a:xfrm>
          <a:prstGeom prst="rect">
            <a:avLst/>
          </a:prstGeom>
          <a:noFill/>
          <a:ln/>
        </p:spPr>
        <p:txBody>
          <a:bodyPr wrap="square" rtlCol="0" anchor="ctr">
            <a:normAutofit/>
          </a:bodyPr>
          <a:lstStyle/>
          <a:p>
            <a:pPr algn="ctr" indent="0" marL="0">
              <a:buNone/>
            </a:pPr>
            <a:r>
              <a:rPr lang="en-US" sz="1000" b="1" dirty="0">
                <a:solidFill>
                  <a:srgbClr val="FF6B35"/>
                </a:solidFill>
                <a:latin typeface="微软雅黑" pitchFamily="34" charset="0"/>
                <a:ea typeface="Calibri" pitchFamily="34" charset="-122"/>
                <a:cs typeface="Calibri" pitchFamily="34" charset="-120"/>
              </a:rPr>
              <a:t>体测流程6步</a:t>
            </a:r>
            <a:endParaRPr lang="en-US" sz="1000" dirty="0"/>
          </a:p>
        </p:txBody>
      </p:sp>
      <p:sp>
        <p:nvSpPr>
          <p:cNvPr id="6" name="Text 4"/>
          <p:cNvSpPr/>
          <p:nvPr/>
        </p:nvSpPr>
        <p:spPr>
          <a:xfrm>
            <a:off x="457200" y="182880"/>
            <a:ext cx="8229600" cy="502920"/>
          </a:xfrm>
          <a:prstGeom prst="rect">
            <a:avLst/>
          </a:prstGeom>
          <a:noFill/>
          <a:ln/>
        </p:spPr>
        <p:txBody>
          <a:bodyPr wrap="square" rtlCol="0" anchor="b">
            <a:normAutofit/>
          </a:bodyPr>
          <a:lstStyle/>
          <a:p>
            <a:pPr indent="0" marL="0">
              <a:buNone/>
            </a:pPr>
            <a:r>
              <a:rPr lang="en-US" sz="2600" dirty="0">
                <a:solidFill>
                  <a:srgbClr val="FFFFFF"/>
                </a:solidFill>
                <a:latin typeface="微软雅黑" pitchFamily="34" charset="0"/>
                <a:ea typeface="Arial Black" pitchFamily="34" charset="-122"/>
                <a:cs typeface="Arial Black" pitchFamily="34" charset="-120"/>
              </a:rPr>
              <a:t>Step 2：体测准备</a:t>
            </a:r>
            <a:endParaRPr lang="en-US" sz="2600" dirty="0"/>
          </a:p>
        </p:txBody>
      </p:sp>
      <p:sp>
        <p:nvSpPr>
          <p:cNvPr id="7" name="Text 5"/>
          <p:cNvSpPr/>
          <p:nvPr/>
        </p:nvSpPr>
        <p:spPr>
          <a:xfrm>
            <a:off x="457200" y="658368"/>
            <a:ext cx="8229600" cy="274320"/>
          </a:xfrm>
          <a:prstGeom prst="rect">
            <a:avLst/>
          </a:prstGeom>
          <a:noFill/>
          <a:ln/>
        </p:spPr>
        <p:txBody>
          <a:bodyPr wrap="square" rtlCol="0" anchor="ctr">
            <a:normAutofit/>
          </a:bodyPr>
          <a:lstStyle/>
          <a:p>
            <a:pPr indent="0" marL="0">
              <a:buNone/>
            </a:pPr>
            <a:r>
              <a:rPr lang="en-US" sz="1200" dirty="0">
                <a:solidFill>
                  <a:srgbClr val="FFFFFF"/>
                </a:solidFill>
                <a:latin typeface="微软雅黑" pitchFamily="34" charset="0"/>
                <a:ea typeface="Calibri" pitchFamily="34" charset="-122"/>
                <a:cs typeface="Calibri" pitchFamily="34" charset="-120"/>
              </a:rPr>
              <a:t>充分准备，专业呈现</a:t>
            </a:r>
            <a:endParaRPr lang="en-US" sz="1200" dirty="0"/>
          </a:p>
        </p:txBody>
      </p:sp>
      <p:sp>
        <p:nvSpPr>
          <p:cNvPr id="8" name="Text 6"/>
          <p:cNvSpPr/>
          <p:nvPr/>
        </p:nvSpPr>
        <p:spPr>
          <a:xfrm>
            <a:off x="7955280" y="4777740"/>
            <a:ext cx="731520" cy="274320"/>
          </a:xfrm>
          <a:prstGeom prst="rect">
            <a:avLst/>
          </a:prstGeom>
          <a:noFill/>
          <a:ln/>
        </p:spPr>
        <p:txBody>
          <a:bodyPr wrap="square" rtlCol="0" anchor="ctr">
            <a:normAutofit/>
          </a:bodyPr>
          <a:lstStyle/>
          <a:p>
            <a:pPr algn="r" indent="0" marL="0">
              <a:buNone/>
            </a:pPr>
            <a:r>
              <a:rPr lang="en-US" sz="900" dirty="0">
                <a:solidFill>
                  <a:srgbClr val="FFFFFF"/>
                </a:solidFill>
                <a:latin typeface="微软雅黑" pitchFamily="34" charset="0"/>
                <a:ea typeface="Calibri" pitchFamily="34" charset="-122"/>
                <a:cs typeface="Calibri" pitchFamily="34" charset="-120"/>
              </a:rPr>
              <a:t>6 / 15</a:t>
            </a:r>
            <a:endParaRPr lang="en-US" sz="900" dirty="0"/>
          </a:p>
        </p:txBody>
      </p:sp>
      <p:sp>
        <p:nvSpPr>
          <p:cNvPr id="9" name="Shape 7"/>
          <p:cNvSpPr/>
          <p:nvPr/>
        </p:nvSpPr>
        <p:spPr>
          <a:xfrm>
            <a:off x="457200" y="182880"/>
            <a:ext cx="411480" cy="411480"/>
          </a:xfrm>
          <a:prstGeom prst="ellipse">
            <a:avLst/>
          </a:prstGeom>
          <a:solidFill>
            <a:srgbClr val="FF6B35"/>
          </a:solidFill>
          <a:ln/>
        </p:spPr>
        <p:txBody>
          <a:bodyPr/>
          <a:p/>
        </p:txBody>
      </p:sp>
      <p:sp>
        <p:nvSpPr>
          <p:cNvPr id="10" name="Text 8"/>
          <p:cNvSpPr/>
          <p:nvPr/>
        </p:nvSpPr>
        <p:spPr>
          <a:xfrm>
            <a:off x="457200" y="182880"/>
            <a:ext cx="411480" cy="411480"/>
          </a:xfrm>
          <a:prstGeom prst="rect">
            <a:avLst/>
          </a:prstGeom>
          <a:noFill/>
          <a:ln/>
        </p:spPr>
        <p:txBody>
          <a:bodyPr wrap="square" rtlCol="0" anchor="ctr">
            <a:normAutofit/>
          </a:bodyPr>
          <a:lstStyle/>
          <a:p>
            <a:pPr algn="ctr" indent="0" marL="0">
              <a:buNone/>
            </a:pPr>
            <a:r>
              <a:rPr lang="en-US" sz="1600" dirty="0">
                <a:solidFill>
                  <a:srgbClr val="FFFFFF"/>
                </a:solidFill>
                <a:latin typeface="微软雅黑" pitchFamily="34" charset="0"/>
                <a:ea typeface="Arial Black" pitchFamily="34" charset="-122"/>
                <a:cs typeface="Arial Black" pitchFamily="34" charset="-120"/>
              </a:rPr>
              <a:t>2</a:t>
            </a:r>
            <a:endParaRPr lang="en-US" sz="1600" dirty="0"/>
          </a:p>
        </p:txBody>
      </p:sp>
      <p:sp>
        <p:nvSpPr>
          <p:cNvPr id="11" name="Shape 9"/>
          <p:cNvSpPr/>
          <p:nvPr/>
        </p:nvSpPr>
        <p:spPr>
          <a:xfrm>
            <a:off x="457200" y="1051560"/>
            <a:ext cx="2560320" cy="3474720"/>
          </a:xfrm>
          <a:prstGeom prst="rect">
            <a:avLst>
              <a:gd name="adj" fmla="val 2857"/>
            </a:avLst>
          </a:prstGeom>
          <a:solidFill>
            <a:srgbClr val="1A2A50">
              <a:alpha val="70000"/>
            </a:srgbClr>
          </a:solidFill>
          <a:ln/>
          <a:effectLst>
            <a:outerShdw sx="100000" sy="100000" kx="0" ky="0" algn="bl" rotWithShape="0" blurRad="50800" dist="25400" dir="16200000">
              <a:srgbClr val="000000">
                <a:alpha val="6000"/>
              </a:srgbClr>
            </a:outerShdw>
          </a:effectLst>
        </p:spPr>
        <p:txBody>
          <a:bodyPr/>
          <a:p/>
        </p:txBody>
      </p:sp>
      <p:sp>
        <p:nvSpPr>
          <p:cNvPr id="12" name="Shape 10"/>
          <p:cNvSpPr/>
          <p:nvPr/>
        </p:nvSpPr>
        <p:spPr>
          <a:xfrm>
            <a:off x="1463040" y="1234440"/>
            <a:ext cx="548640" cy="548640"/>
          </a:xfrm>
          <a:prstGeom prst="ellipse">
            <a:avLst/>
          </a:prstGeom>
          <a:solidFill>
            <a:srgbClr val="FF6B35"/>
          </a:solidFill>
          <a:ln/>
        </p:spPr>
        <p:txBody>
          <a:bodyPr/>
          <a:p/>
        </p:txBody>
      </p:sp>
      <p:sp>
        <p:nvSpPr>
          <p:cNvPr id="13" name="Text 11"/>
          <p:cNvSpPr/>
          <p:nvPr/>
        </p:nvSpPr>
        <p:spPr>
          <a:xfrm>
            <a:off x="1463040" y="1234440"/>
            <a:ext cx="548640" cy="548640"/>
          </a:xfrm>
          <a:prstGeom prst="rect">
            <a:avLst/>
          </a:prstGeom>
          <a:noFill/>
          <a:ln/>
        </p:spPr>
        <p:txBody>
          <a:bodyPr wrap="square" rtlCol="0" anchor="ctr">
            <a:normAutofit/>
          </a:bodyPr>
          <a:lstStyle/>
          <a:p>
            <a:pPr algn="ctr" indent="0" marL="0">
              <a:buNone/>
            </a:pPr>
            <a:r>
              <a:rPr lang="en-US" sz="1400" dirty="0">
                <a:solidFill>
                  <a:srgbClr val="FFFFFF"/>
                </a:solidFill>
                <a:latin typeface="微软雅黑" pitchFamily="34" charset="0"/>
                <a:ea typeface="Arial Black" pitchFamily="34" charset="-122"/>
                <a:cs typeface="Arial Black" pitchFamily="34" charset="-120"/>
              </a:rPr>
              <a:t>场地</a:t>
            </a:r>
            <a:endParaRPr lang="en-US" sz="1400" dirty="0"/>
          </a:p>
        </p:txBody>
      </p:sp>
      <p:sp>
        <p:nvSpPr>
          <p:cNvPr id="14" name="Text 12"/>
          <p:cNvSpPr/>
          <p:nvPr/>
        </p:nvSpPr>
        <p:spPr>
          <a:xfrm>
            <a:off x="594360" y="1874520"/>
            <a:ext cx="2286000" cy="320040"/>
          </a:xfrm>
          <a:prstGeom prst="rect">
            <a:avLst/>
          </a:prstGeom>
          <a:noFill/>
          <a:ln/>
        </p:spPr>
        <p:txBody>
          <a:bodyPr wrap="square" rtlCol="0" anchor="ctr">
            <a:normAutofit/>
          </a:bodyPr>
          <a:lstStyle/>
          <a:p>
            <a:pPr algn="ctr" indent="0" marL="0">
              <a:buNone/>
            </a:pPr>
            <a:r>
              <a:rPr lang="en-US" sz="1400" dirty="0">
                <a:solidFill>
                  <a:srgbClr val="FFFFFF"/>
                </a:solidFill>
                <a:latin typeface="微软雅黑" pitchFamily="34" charset="0"/>
                <a:ea typeface="Arial Black" pitchFamily="34" charset="-122"/>
                <a:cs typeface="Arial Black" pitchFamily="34" charset="-120"/>
              </a:rPr>
              <a:t>场地准备</a:t>
            </a:r>
            <a:endParaRPr lang="en-US" sz="1400" dirty="0"/>
          </a:p>
        </p:txBody>
      </p:sp>
      <p:sp>
        <p:nvSpPr>
          <p:cNvPr id="15" name="Text 13"/>
          <p:cNvSpPr/>
          <p:nvPr/>
        </p:nvSpPr>
        <p:spPr>
          <a:xfrm>
            <a:off x="685800" y="2286000"/>
            <a:ext cx="2103120" cy="2011680"/>
          </a:xfrm>
          <a:prstGeom prst="rect">
            <a:avLst/>
          </a:prstGeom>
          <a:noFill/>
          <a:ln/>
        </p:spPr>
        <p:txBody>
          <a:bodyPr wrap="square" rtlCol="0" anchor="t"/>
          <a:lstStyle/>
          <a:p>
            <a:pPr marL="342900" indent="-342900">
              <a:spcAft>
                <a:spcPts val="600"/>
              </a:spcAft>
              <a:buSzPct val="100000"/>
              <a:buChar char="•"/>
            </a:pPr>
            <a:r>
              <a:rPr lang="en-US" sz="1050" dirty="0">
                <a:solidFill>
                  <a:srgbClr val="FFFFFF"/>
                </a:solidFill>
                <a:latin typeface="微软雅黑" pitchFamily="34" charset="0"/>
                <a:ea typeface="Calibri" pitchFamily="34" charset="-122"/>
                <a:cs typeface="Calibri" pitchFamily="34" charset="-120"/>
              </a:rPr>
              <a:t>体测区域干净整洁</a:t>
            </a:r>
            <a:endParaRPr lang="en-US" sz="1050" dirty="0"/>
          </a:p>
          <a:p>
            <a:pPr marL="342900" indent="-342900">
              <a:spcAft>
                <a:spcPts val="600"/>
              </a:spcAft>
              <a:buSzPct val="100000"/>
              <a:buChar char="•"/>
            </a:pPr>
            <a:r>
              <a:rPr lang="en-US" sz="1050" dirty="0">
                <a:solidFill>
                  <a:srgbClr val="FFFFFF"/>
                </a:solidFill>
                <a:latin typeface="微软雅黑" pitchFamily="34" charset="0"/>
                <a:ea typeface="Calibri" pitchFamily="34" charset="-122"/>
                <a:cs typeface="Calibri" pitchFamily="34" charset="-120"/>
              </a:rPr>
              <a:t>测试器材摆放有序</a:t>
            </a:r>
            <a:endParaRPr lang="en-US" sz="1050" dirty="0"/>
          </a:p>
          <a:p>
            <a:pPr marL="342900" indent="-342900">
              <a:spcAft>
                <a:spcPts val="600"/>
              </a:spcAft>
              <a:buSzPct val="100000"/>
              <a:buChar char="•"/>
            </a:pPr>
            <a:r>
              <a:rPr lang="en-US" sz="1050" dirty="0">
                <a:solidFill>
                  <a:srgbClr val="FFFFFF"/>
                </a:solidFill>
                <a:latin typeface="微软雅黑" pitchFamily="34" charset="0"/>
                <a:ea typeface="Calibri" pitchFamily="34" charset="-122"/>
                <a:cs typeface="Calibri" pitchFamily="34" charset="-120"/>
              </a:rPr>
              <a:t>温度适宜通风良好</a:t>
            </a:r>
            <a:endParaRPr lang="en-US" sz="1050" dirty="0"/>
          </a:p>
          <a:p>
            <a:pPr marL="342900" indent="-342900">
              <a:spcAft>
                <a:spcPts val="600"/>
              </a:spcAft>
              <a:buSzPct val="100000"/>
              <a:buChar char="•"/>
            </a:pPr>
            <a:r>
              <a:rPr lang="en-US" sz="1050" dirty="0">
                <a:solidFill>
                  <a:srgbClr val="FFFFFF"/>
                </a:solidFill>
                <a:latin typeface="微软雅黑" pitchFamily="34" charset="0"/>
                <a:ea typeface="Calibri" pitchFamily="34" charset="-122"/>
                <a:cs typeface="Calibri" pitchFamily="34" charset="-120"/>
              </a:rPr>
              <a:t>家长等候区舒适</a:t>
            </a:r>
            <a:endParaRPr lang="en-US" sz="1050" dirty="0"/>
          </a:p>
        </p:txBody>
      </p:sp>
      <p:sp>
        <p:nvSpPr>
          <p:cNvPr id="16" name="Shape 14"/>
          <p:cNvSpPr/>
          <p:nvPr/>
        </p:nvSpPr>
        <p:spPr>
          <a:xfrm>
            <a:off x="3246120" y="1051560"/>
            <a:ext cx="2560320" cy="3474720"/>
          </a:xfrm>
          <a:prstGeom prst="rect">
            <a:avLst>
              <a:gd name="adj" fmla="val 2857"/>
            </a:avLst>
          </a:prstGeom>
          <a:solidFill>
            <a:srgbClr val="1A2A50">
              <a:alpha val="70000"/>
            </a:srgbClr>
          </a:solidFill>
          <a:ln/>
          <a:effectLst>
            <a:outerShdw sx="100000" sy="100000" kx="0" ky="0" algn="bl" rotWithShape="0" blurRad="50800" dist="25400" dir="16200000">
              <a:srgbClr val="000000">
                <a:alpha val="6000"/>
              </a:srgbClr>
            </a:outerShdw>
          </a:effectLst>
        </p:spPr>
        <p:txBody>
          <a:bodyPr/>
          <a:p/>
        </p:txBody>
      </p:sp>
      <p:sp>
        <p:nvSpPr>
          <p:cNvPr id="17" name="Shape 15"/>
          <p:cNvSpPr/>
          <p:nvPr/>
        </p:nvSpPr>
        <p:spPr>
          <a:xfrm>
            <a:off x="4251960" y="1234440"/>
            <a:ext cx="548640" cy="548640"/>
          </a:xfrm>
          <a:prstGeom prst="ellipse">
            <a:avLst/>
          </a:prstGeom>
          <a:solidFill>
            <a:srgbClr val="FF6B35"/>
          </a:solidFill>
          <a:ln/>
        </p:spPr>
        <p:txBody>
          <a:bodyPr/>
          <a:p/>
        </p:txBody>
      </p:sp>
      <p:sp>
        <p:nvSpPr>
          <p:cNvPr id="18" name="Text 16"/>
          <p:cNvSpPr/>
          <p:nvPr/>
        </p:nvSpPr>
        <p:spPr>
          <a:xfrm>
            <a:off x="4251960" y="1234440"/>
            <a:ext cx="548640" cy="548640"/>
          </a:xfrm>
          <a:prstGeom prst="rect">
            <a:avLst/>
          </a:prstGeom>
          <a:noFill/>
          <a:ln/>
        </p:spPr>
        <p:txBody>
          <a:bodyPr wrap="square" rtlCol="0" anchor="ctr">
            <a:normAutofit/>
          </a:bodyPr>
          <a:lstStyle/>
          <a:p>
            <a:pPr algn="ctr" indent="0" marL="0">
              <a:buNone/>
            </a:pPr>
            <a:r>
              <a:rPr lang="en-US" sz="1400" dirty="0">
                <a:solidFill>
                  <a:srgbClr val="FFFFFF"/>
                </a:solidFill>
                <a:latin typeface="微软雅黑" pitchFamily="34" charset="0"/>
                <a:ea typeface="Arial Black" pitchFamily="34" charset="-122"/>
                <a:cs typeface="Arial Black" pitchFamily="34" charset="-120"/>
              </a:rPr>
              <a:t>设备</a:t>
            </a:r>
            <a:endParaRPr lang="en-US" sz="1400" dirty="0"/>
          </a:p>
        </p:txBody>
      </p:sp>
      <p:sp>
        <p:nvSpPr>
          <p:cNvPr id="19" name="Text 17"/>
          <p:cNvSpPr/>
          <p:nvPr/>
        </p:nvSpPr>
        <p:spPr>
          <a:xfrm>
            <a:off x="3383280" y="1874520"/>
            <a:ext cx="2286000" cy="320040"/>
          </a:xfrm>
          <a:prstGeom prst="rect">
            <a:avLst/>
          </a:prstGeom>
          <a:noFill/>
          <a:ln/>
        </p:spPr>
        <p:txBody>
          <a:bodyPr wrap="square" rtlCol="0" anchor="ctr">
            <a:normAutofit/>
          </a:bodyPr>
          <a:lstStyle/>
          <a:p>
            <a:pPr algn="ctr" indent="0" marL="0">
              <a:buNone/>
            </a:pPr>
            <a:r>
              <a:rPr lang="en-US" sz="1400" dirty="0">
                <a:solidFill>
                  <a:srgbClr val="FFFFFF"/>
                </a:solidFill>
                <a:latin typeface="微软雅黑" pitchFamily="34" charset="0"/>
                <a:ea typeface="Arial Black" pitchFamily="34" charset="-122"/>
                <a:cs typeface="Arial Black" pitchFamily="34" charset="-120"/>
              </a:rPr>
              <a:t>设备准备</a:t>
            </a:r>
            <a:endParaRPr lang="en-US" sz="1400" dirty="0"/>
          </a:p>
        </p:txBody>
      </p:sp>
      <p:sp>
        <p:nvSpPr>
          <p:cNvPr id="20" name="Text 18"/>
          <p:cNvSpPr/>
          <p:nvPr/>
        </p:nvSpPr>
        <p:spPr>
          <a:xfrm>
            <a:off x="3474720" y="2286000"/>
            <a:ext cx="2103120" cy="2011680"/>
          </a:xfrm>
          <a:prstGeom prst="rect">
            <a:avLst/>
          </a:prstGeom>
          <a:noFill/>
          <a:ln/>
        </p:spPr>
        <p:txBody>
          <a:bodyPr wrap="square" rtlCol="0" anchor="t"/>
          <a:lstStyle/>
          <a:p>
            <a:pPr marL="342900" indent="-342900">
              <a:spcAft>
                <a:spcPts val="600"/>
              </a:spcAft>
              <a:buSzPct val="100000"/>
              <a:buChar char="•"/>
            </a:pPr>
            <a:r>
              <a:rPr lang="en-US" sz="1050" dirty="0">
                <a:solidFill>
                  <a:srgbClr val="FFFFFF"/>
                </a:solidFill>
                <a:latin typeface="微软雅黑" pitchFamily="34" charset="0"/>
                <a:ea typeface="Calibri" pitchFamily="34" charset="-122"/>
                <a:cs typeface="Calibri" pitchFamily="34" charset="-120"/>
              </a:rPr>
              <a:t>身高体重秤校准</a:t>
            </a:r>
            <a:endParaRPr lang="en-US" sz="1050" dirty="0"/>
          </a:p>
          <a:p>
            <a:pPr marL="342900" indent="-342900">
              <a:spcAft>
                <a:spcPts val="600"/>
              </a:spcAft>
              <a:buSzPct val="100000"/>
              <a:buChar char="•"/>
            </a:pPr>
            <a:r>
              <a:rPr lang="en-US" sz="1050" dirty="0">
                <a:solidFill>
                  <a:srgbClr val="FFFFFF"/>
                </a:solidFill>
                <a:latin typeface="微软雅黑" pitchFamily="34" charset="0"/>
                <a:ea typeface="Calibri" pitchFamily="34" charset="-122"/>
                <a:cs typeface="Calibri" pitchFamily="34" charset="-120"/>
              </a:rPr>
              <a:t>柔韧测试垫就位</a:t>
            </a:r>
            <a:endParaRPr lang="en-US" sz="1050" dirty="0"/>
          </a:p>
          <a:p>
            <a:pPr marL="342900" indent="-342900">
              <a:spcAft>
                <a:spcPts val="600"/>
              </a:spcAft>
              <a:buSzPct val="100000"/>
              <a:buChar char="•"/>
            </a:pPr>
            <a:r>
              <a:rPr lang="en-US" sz="1050" dirty="0">
                <a:solidFill>
                  <a:srgbClr val="FFFFFF"/>
                </a:solidFill>
                <a:latin typeface="微软雅黑" pitchFamily="34" charset="0"/>
                <a:ea typeface="Calibri" pitchFamily="34" charset="-122"/>
                <a:cs typeface="Calibri" pitchFamily="34" charset="-120"/>
              </a:rPr>
              <a:t>秒表/计时器准备</a:t>
            </a:r>
            <a:endParaRPr lang="en-US" sz="1050" dirty="0"/>
          </a:p>
          <a:p>
            <a:pPr marL="342900" indent="-342900">
              <a:spcAft>
                <a:spcPts val="600"/>
              </a:spcAft>
              <a:buSzPct val="100000"/>
              <a:buChar char="•"/>
            </a:pPr>
            <a:r>
              <a:rPr lang="en-US" sz="1050" dirty="0">
                <a:solidFill>
                  <a:srgbClr val="FFFFFF"/>
                </a:solidFill>
                <a:latin typeface="微软雅黑" pitchFamily="34" charset="0"/>
                <a:ea typeface="Calibri" pitchFamily="34" charset="-122"/>
                <a:cs typeface="Calibri" pitchFamily="34" charset="-120"/>
              </a:rPr>
              <a:t>体测表格打印齐全</a:t>
            </a:r>
            <a:endParaRPr lang="en-US" sz="1050" dirty="0"/>
          </a:p>
        </p:txBody>
      </p:sp>
      <p:sp>
        <p:nvSpPr>
          <p:cNvPr id="21" name="Shape 19"/>
          <p:cNvSpPr/>
          <p:nvPr/>
        </p:nvSpPr>
        <p:spPr>
          <a:xfrm>
            <a:off x="6035040" y="1051560"/>
            <a:ext cx="2560320" cy="3474720"/>
          </a:xfrm>
          <a:prstGeom prst="rect">
            <a:avLst>
              <a:gd name="adj" fmla="val 2857"/>
            </a:avLst>
          </a:prstGeom>
          <a:solidFill>
            <a:srgbClr val="1A2A50">
              <a:alpha val="70000"/>
            </a:srgbClr>
          </a:solidFill>
          <a:ln/>
          <a:effectLst>
            <a:outerShdw sx="100000" sy="100000" kx="0" ky="0" algn="bl" rotWithShape="0" blurRad="50800" dist="25400" dir="16200000">
              <a:srgbClr val="000000">
                <a:alpha val="6000"/>
              </a:srgbClr>
            </a:outerShdw>
          </a:effectLst>
        </p:spPr>
        <p:txBody>
          <a:bodyPr/>
          <a:p/>
        </p:txBody>
      </p:sp>
      <p:sp>
        <p:nvSpPr>
          <p:cNvPr id="22" name="Shape 20"/>
          <p:cNvSpPr/>
          <p:nvPr/>
        </p:nvSpPr>
        <p:spPr>
          <a:xfrm>
            <a:off x="7040880" y="1234440"/>
            <a:ext cx="548640" cy="548640"/>
          </a:xfrm>
          <a:prstGeom prst="ellipse">
            <a:avLst/>
          </a:prstGeom>
          <a:solidFill>
            <a:srgbClr val="FF6B35"/>
          </a:solidFill>
          <a:ln/>
        </p:spPr>
        <p:txBody>
          <a:bodyPr/>
          <a:p/>
        </p:txBody>
      </p:sp>
      <p:sp>
        <p:nvSpPr>
          <p:cNvPr id="23" name="Text 21"/>
          <p:cNvSpPr/>
          <p:nvPr/>
        </p:nvSpPr>
        <p:spPr>
          <a:xfrm>
            <a:off x="7040880" y="1234440"/>
            <a:ext cx="548640" cy="548640"/>
          </a:xfrm>
          <a:prstGeom prst="rect">
            <a:avLst/>
          </a:prstGeom>
          <a:noFill/>
          <a:ln/>
        </p:spPr>
        <p:txBody>
          <a:bodyPr wrap="square" rtlCol="0" anchor="ctr">
            <a:normAutofit/>
          </a:bodyPr>
          <a:lstStyle/>
          <a:p>
            <a:pPr algn="ctr" indent="0" marL="0">
              <a:buNone/>
            </a:pPr>
            <a:r>
              <a:rPr lang="en-US" sz="1400" dirty="0">
                <a:solidFill>
                  <a:srgbClr val="FFFFFF"/>
                </a:solidFill>
                <a:latin typeface="微软雅黑" pitchFamily="34" charset="0"/>
                <a:ea typeface="Arial Black" pitchFamily="34" charset="-122"/>
                <a:cs typeface="Arial Black" pitchFamily="34" charset="-120"/>
              </a:rPr>
              <a:t>人员</a:t>
            </a:r>
            <a:endParaRPr lang="en-US" sz="1400" dirty="0"/>
          </a:p>
        </p:txBody>
      </p:sp>
      <p:sp>
        <p:nvSpPr>
          <p:cNvPr id="24" name="Text 22"/>
          <p:cNvSpPr/>
          <p:nvPr/>
        </p:nvSpPr>
        <p:spPr>
          <a:xfrm>
            <a:off x="6172200" y="1874520"/>
            <a:ext cx="2286000" cy="320040"/>
          </a:xfrm>
          <a:prstGeom prst="rect">
            <a:avLst/>
          </a:prstGeom>
          <a:noFill/>
          <a:ln/>
        </p:spPr>
        <p:txBody>
          <a:bodyPr wrap="square" rtlCol="0" anchor="ctr">
            <a:normAutofit/>
          </a:bodyPr>
          <a:lstStyle/>
          <a:p>
            <a:pPr algn="ctr" indent="0" marL="0">
              <a:buNone/>
            </a:pPr>
            <a:r>
              <a:rPr lang="en-US" sz="1400" dirty="0">
                <a:solidFill>
                  <a:srgbClr val="FFFFFF"/>
                </a:solidFill>
                <a:latin typeface="微软雅黑" pitchFamily="34" charset="0"/>
                <a:ea typeface="Arial Black" pitchFamily="34" charset="-122"/>
                <a:cs typeface="Arial Black" pitchFamily="34" charset="-120"/>
              </a:rPr>
              <a:t>人员准备</a:t>
            </a:r>
            <a:endParaRPr lang="en-US" sz="1400" dirty="0"/>
          </a:p>
        </p:txBody>
      </p:sp>
      <p:sp>
        <p:nvSpPr>
          <p:cNvPr id="25" name="Text 23"/>
          <p:cNvSpPr/>
          <p:nvPr/>
        </p:nvSpPr>
        <p:spPr>
          <a:xfrm>
            <a:off x="6263640" y="2286000"/>
            <a:ext cx="2103120" cy="2011680"/>
          </a:xfrm>
          <a:prstGeom prst="rect">
            <a:avLst/>
          </a:prstGeom>
          <a:noFill/>
          <a:ln/>
        </p:spPr>
        <p:txBody>
          <a:bodyPr wrap="square" rtlCol="0" anchor="t"/>
          <a:lstStyle/>
          <a:p>
            <a:pPr marL="342900" indent="-342900">
              <a:spcAft>
                <a:spcPts val="600"/>
              </a:spcAft>
              <a:buSzPct val="100000"/>
              <a:buChar char="•"/>
            </a:pPr>
            <a:r>
              <a:rPr lang="en-US" sz="1050" dirty="0">
                <a:solidFill>
                  <a:srgbClr val="FFFFFF"/>
                </a:solidFill>
                <a:latin typeface="微软雅黑" pitchFamily="34" charset="0"/>
                <a:ea typeface="Calibri" pitchFamily="34" charset="-122"/>
                <a:cs typeface="Calibri" pitchFamily="34" charset="-120"/>
              </a:rPr>
              <a:t>教练熟悉测试流程</a:t>
            </a:r>
            <a:endParaRPr lang="en-US" sz="1050" dirty="0"/>
          </a:p>
          <a:p>
            <a:pPr marL="342900" indent="-342900">
              <a:spcAft>
                <a:spcPts val="600"/>
              </a:spcAft>
              <a:buSzPct val="100000"/>
              <a:buChar char="•"/>
            </a:pPr>
            <a:r>
              <a:rPr lang="en-US" sz="1050" dirty="0">
                <a:solidFill>
                  <a:srgbClr val="FFFFFF"/>
                </a:solidFill>
                <a:latin typeface="微软雅黑" pitchFamily="34" charset="0"/>
                <a:ea typeface="Calibri" pitchFamily="34" charset="-122"/>
                <a:cs typeface="Calibri" pitchFamily="34" charset="-120"/>
              </a:rPr>
              <a:t>了解孩子基本信息</a:t>
            </a:r>
            <a:endParaRPr lang="en-US" sz="1050" dirty="0"/>
          </a:p>
          <a:p>
            <a:pPr marL="342900" indent="-342900">
              <a:spcAft>
                <a:spcPts val="600"/>
              </a:spcAft>
              <a:buSzPct val="100000"/>
              <a:buChar char="•"/>
            </a:pPr>
            <a:r>
              <a:rPr lang="en-US" sz="1050" dirty="0">
                <a:solidFill>
                  <a:srgbClr val="FFFFFF"/>
                </a:solidFill>
                <a:latin typeface="微软雅黑" pitchFamily="34" charset="0"/>
                <a:ea typeface="Calibri" pitchFamily="34" charset="-122"/>
                <a:cs typeface="Calibri" pitchFamily="34" charset="-120"/>
              </a:rPr>
              <a:t>准备解读话术</a:t>
            </a:r>
            <a:endParaRPr lang="en-US" sz="1050" dirty="0"/>
          </a:p>
          <a:p>
            <a:pPr marL="342900" indent="-342900">
              <a:spcAft>
                <a:spcPts val="600"/>
              </a:spcAft>
              <a:buSzPct val="100000"/>
              <a:buChar char="•"/>
            </a:pPr>
            <a:r>
              <a:rPr lang="en-US" sz="1050" dirty="0">
                <a:solidFill>
                  <a:srgbClr val="FFFFFF"/>
                </a:solidFill>
                <a:latin typeface="微软雅黑" pitchFamily="34" charset="0"/>
                <a:ea typeface="Calibri" pitchFamily="34" charset="-122"/>
                <a:cs typeface="Calibri" pitchFamily="34" charset="-120"/>
              </a:rPr>
              <a:t>着装专业整洁</a:t>
            </a:r>
            <a:endParaRPr lang="en-US" sz="1050" dirty="0"/>
          </a:p>
        </p:txBody>
      </p:sp>
      <p:sp>
        <p:nvSpPr>
          <p:cNvPr id="26" name="Rectangle 25"/>
          <p:cNvSpPr/>
          <p:nvPr/>
        </p:nvSpPr>
        <p:spPr>
          <a:xfrm>
            <a:off x="0" y="0"/>
            <a:ext cx="9144000" cy="4114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rot="20700000">
            <a:off x="182880" y="771525"/>
            <a:ext cx="731520" cy="19050"/>
          </a:xfrm>
          <a:prstGeom prst="rect">
            <a:avLst/>
          </a:prstGeom>
          <a:solidFill>
            <a:srgbClr val="00E676">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rot="20700000">
            <a:off x="457200" y="1183005"/>
            <a:ext cx="914400" cy="25400"/>
          </a:xfrm>
          <a:prstGeom prst="rect">
            <a:avLst/>
          </a:prstGeom>
          <a:solidFill>
            <a:srgbClr val="00E676">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4371975"/>
            <a:ext cx="9144000" cy="771525"/>
          </a:xfrm>
          <a:prstGeom prst="rect">
            <a:avLst/>
          </a:prstGeom>
          <a:solidFill>
            <a:srgbClr val="14244D">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6B35"/>
          </a:solidFill>
          <a:ln/>
        </p:spPr>
        <p:txBody>
          <a:bodyPr/>
          <a:p/>
        </p:txBody>
      </p:sp>
      <p:sp>
        <p:nvSpPr>
          <p:cNvPr id="3" name="Shape 1"/>
          <p:cNvSpPr/>
          <p:nvPr/>
        </p:nvSpPr>
        <p:spPr>
          <a:xfrm>
            <a:off x="0" y="5088636"/>
            <a:ext cx="9144000" cy="54864"/>
          </a:xfrm>
          <a:prstGeom prst="rect">
            <a:avLst/>
          </a:prstGeom>
          <a:solidFill>
            <a:srgbClr val="1E2761"/>
          </a:solidFill>
          <a:ln/>
        </p:spPr>
        <p:txBody>
          <a:bodyPr/>
          <a:p/>
        </p:txBody>
      </p:sp>
      <p:sp>
        <p:nvSpPr>
          <p:cNvPr id="4" name="Shape 2"/>
          <p:cNvSpPr/>
          <p:nvPr/>
        </p:nvSpPr>
        <p:spPr>
          <a:xfrm>
            <a:off x="457200" y="228600"/>
            <a:ext cx="1463040" cy="292608"/>
          </a:xfrm>
          <a:prstGeom prst="rect">
            <a:avLst>
              <a:gd name="adj" fmla="val 12500"/>
            </a:avLst>
          </a:prstGeom>
          <a:solidFill>
            <a:srgbClr val="FFE8DD"/>
          </a:solidFill>
          <a:ln/>
        </p:spPr>
        <p:txBody>
          <a:bodyPr/>
          <a:p/>
        </p:txBody>
      </p:sp>
      <p:sp>
        <p:nvSpPr>
          <p:cNvPr id="5" name="Text 3"/>
          <p:cNvSpPr/>
          <p:nvPr/>
        </p:nvSpPr>
        <p:spPr>
          <a:xfrm>
            <a:off x="457200" y="228600"/>
            <a:ext cx="1463040" cy="292608"/>
          </a:xfrm>
          <a:prstGeom prst="rect">
            <a:avLst/>
          </a:prstGeom>
          <a:noFill/>
          <a:ln/>
        </p:spPr>
        <p:txBody>
          <a:bodyPr wrap="square" rtlCol="0" anchor="ctr">
            <a:normAutofit/>
          </a:bodyPr>
          <a:lstStyle/>
          <a:p>
            <a:pPr algn="ctr" indent="0" marL="0">
              <a:buNone/>
            </a:pPr>
            <a:r>
              <a:rPr lang="en-US" sz="1000" b="1" dirty="0">
                <a:solidFill>
                  <a:srgbClr val="FF6B35"/>
                </a:solidFill>
                <a:latin typeface="微软雅黑" pitchFamily="34" charset="0"/>
                <a:ea typeface="Calibri" pitchFamily="34" charset="-122"/>
                <a:cs typeface="Calibri" pitchFamily="34" charset="-120"/>
              </a:rPr>
              <a:t>体测流程6步</a:t>
            </a:r>
            <a:endParaRPr lang="en-US" sz="1000" dirty="0"/>
          </a:p>
        </p:txBody>
      </p:sp>
      <p:sp>
        <p:nvSpPr>
          <p:cNvPr id="6" name="Text 4"/>
          <p:cNvSpPr/>
          <p:nvPr/>
        </p:nvSpPr>
        <p:spPr>
          <a:xfrm>
            <a:off x="457200" y="182880"/>
            <a:ext cx="8229600" cy="502920"/>
          </a:xfrm>
          <a:prstGeom prst="rect">
            <a:avLst/>
          </a:prstGeom>
          <a:noFill/>
          <a:ln/>
        </p:spPr>
        <p:txBody>
          <a:bodyPr wrap="square" rtlCol="0" anchor="b">
            <a:normAutofit/>
          </a:bodyPr>
          <a:lstStyle/>
          <a:p>
            <a:pPr indent="0" marL="0">
              <a:buNone/>
            </a:pPr>
            <a:r>
              <a:rPr lang="en-US" sz="2600" dirty="0">
                <a:solidFill>
                  <a:srgbClr val="FFFFFF"/>
                </a:solidFill>
                <a:latin typeface="微软雅黑" pitchFamily="34" charset="0"/>
                <a:ea typeface="Arial Black" pitchFamily="34" charset="-122"/>
                <a:cs typeface="Arial Black" pitchFamily="34" charset="-120"/>
              </a:rPr>
              <a:t>Step 3：体测执行（20-30分钟）</a:t>
            </a:r>
            <a:endParaRPr lang="en-US" sz="2600" dirty="0"/>
          </a:p>
        </p:txBody>
      </p:sp>
      <p:sp>
        <p:nvSpPr>
          <p:cNvPr id="7" name="Text 5"/>
          <p:cNvSpPr/>
          <p:nvPr/>
        </p:nvSpPr>
        <p:spPr>
          <a:xfrm>
            <a:off x="457200" y="658368"/>
            <a:ext cx="8229600" cy="274320"/>
          </a:xfrm>
          <a:prstGeom prst="rect">
            <a:avLst/>
          </a:prstGeom>
          <a:noFill/>
          <a:ln/>
        </p:spPr>
        <p:txBody>
          <a:bodyPr wrap="square" rtlCol="0" anchor="ctr">
            <a:normAutofit/>
          </a:bodyPr>
          <a:lstStyle/>
          <a:p>
            <a:pPr indent="0" marL="0">
              <a:buNone/>
            </a:pPr>
            <a:r>
              <a:rPr lang="en-US" sz="1200" dirty="0">
                <a:solidFill>
                  <a:srgbClr val="FFFFFF"/>
                </a:solidFill>
                <a:latin typeface="微软雅黑" pitchFamily="34" charset="0"/>
                <a:ea typeface="Calibri" pitchFamily="34" charset="-122"/>
                <a:cs typeface="Calibri" pitchFamily="34" charset="-120"/>
              </a:rPr>
              <a:t>8大维度全面评估</a:t>
            </a:r>
            <a:endParaRPr lang="en-US" sz="1200" dirty="0"/>
          </a:p>
        </p:txBody>
      </p:sp>
      <p:sp>
        <p:nvSpPr>
          <p:cNvPr id="8" name="Text 6"/>
          <p:cNvSpPr/>
          <p:nvPr/>
        </p:nvSpPr>
        <p:spPr>
          <a:xfrm>
            <a:off x="7955280" y="4777740"/>
            <a:ext cx="731520" cy="274320"/>
          </a:xfrm>
          <a:prstGeom prst="rect">
            <a:avLst/>
          </a:prstGeom>
          <a:noFill/>
          <a:ln/>
        </p:spPr>
        <p:txBody>
          <a:bodyPr wrap="square" rtlCol="0" anchor="ctr">
            <a:normAutofit/>
          </a:bodyPr>
          <a:lstStyle/>
          <a:p>
            <a:pPr algn="r" indent="0" marL="0">
              <a:buNone/>
            </a:pPr>
            <a:r>
              <a:rPr lang="en-US" sz="900" dirty="0">
                <a:solidFill>
                  <a:srgbClr val="FFFFFF"/>
                </a:solidFill>
                <a:latin typeface="微软雅黑" pitchFamily="34" charset="0"/>
                <a:ea typeface="Calibri" pitchFamily="34" charset="-122"/>
                <a:cs typeface="Calibri" pitchFamily="34" charset="-120"/>
              </a:rPr>
              <a:t>7 / 15</a:t>
            </a:r>
            <a:endParaRPr lang="en-US" sz="900" dirty="0"/>
          </a:p>
        </p:txBody>
      </p:sp>
      <p:sp>
        <p:nvSpPr>
          <p:cNvPr id="9" name="Shape 7"/>
          <p:cNvSpPr/>
          <p:nvPr/>
        </p:nvSpPr>
        <p:spPr>
          <a:xfrm>
            <a:off x="457200" y="182880"/>
            <a:ext cx="411480" cy="411480"/>
          </a:xfrm>
          <a:prstGeom prst="ellipse">
            <a:avLst/>
          </a:prstGeom>
          <a:solidFill>
            <a:srgbClr val="FF6B35"/>
          </a:solidFill>
          <a:ln/>
        </p:spPr>
        <p:txBody>
          <a:bodyPr/>
          <a:p/>
        </p:txBody>
      </p:sp>
      <p:sp>
        <p:nvSpPr>
          <p:cNvPr id="10" name="Text 8"/>
          <p:cNvSpPr/>
          <p:nvPr/>
        </p:nvSpPr>
        <p:spPr>
          <a:xfrm>
            <a:off x="457200" y="182880"/>
            <a:ext cx="411480" cy="411480"/>
          </a:xfrm>
          <a:prstGeom prst="rect">
            <a:avLst/>
          </a:prstGeom>
          <a:noFill/>
          <a:ln/>
        </p:spPr>
        <p:txBody>
          <a:bodyPr wrap="square" rtlCol="0" anchor="ctr">
            <a:normAutofit/>
          </a:bodyPr>
          <a:lstStyle/>
          <a:p>
            <a:pPr algn="ctr" indent="0" marL="0">
              <a:buNone/>
            </a:pPr>
            <a:r>
              <a:rPr lang="en-US" sz="1600" dirty="0">
                <a:solidFill>
                  <a:srgbClr val="FFFFFF"/>
                </a:solidFill>
                <a:latin typeface="微软雅黑" pitchFamily="34" charset="0"/>
                <a:ea typeface="Arial Black" pitchFamily="34" charset="-122"/>
                <a:cs typeface="Arial Black" pitchFamily="34" charset="-120"/>
              </a:rPr>
              <a:t>3</a:t>
            </a:r>
            <a:endParaRPr lang="en-US" sz="1600" dirty="0"/>
          </a:p>
        </p:txBody>
      </p:sp>
      <p:sp>
        <p:nvSpPr>
          <p:cNvPr id="11" name="Shape 9"/>
          <p:cNvSpPr/>
          <p:nvPr/>
        </p:nvSpPr>
        <p:spPr>
          <a:xfrm>
            <a:off x="457200" y="960120"/>
            <a:ext cx="8229600" cy="594360"/>
          </a:xfrm>
          <a:prstGeom prst="rect">
            <a:avLst>
              <a:gd name="adj" fmla="val 9231"/>
            </a:avLst>
          </a:prstGeom>
          <a:solidFill>
            <a:srgbClr val="1A2A50">
              <a:alpha val="70000"/>
            </a:srgbClr>
          </a:solidFill>
          <a:ln/>
          <a:effectLst>
            <a:outerShdw sx="100000" sy="100000" kx="0" ky="0" algn="bl" rotWithShape="0" blurRad="38100" dist="12700" dir="16200000">
              <a:srgbClr val="000000">
                <a:alpha val="5000"/>
              </a:srgbClr>
            </a:outerShdw>
          </a:effectLst>
        </p:spPr>
        <p:txBody>
          <a:bodyPr/>
          <a:p/>
        </p:txBody>
      </p:sp>
      <p:sp>
        <p:nvSpPr>
          <p:cNvPr id="12" name="Text 10"/>
          <p:cNvSpPr/>
          <p:nvPr/>
        </p:nvSpPr>
        <p:spPr>
          <a:xfrm>
            <a:off x="640080" y="960120"/>
            <a:ext cx="7863840" cy="594360"/>
          </a:xfrm>
          <a:prstGeom prst="rect">
            <a:avLst/>
          </a:prstGeom>
          <a:noFill/>
          <a:ln/>
        </p:spPr>
        <p:txBody>
          <a:bodyPr wrap="square" rtlCol="0" anchor="ctr">
            <a:normAutofit/>
          </a:bodyPr>
          <a:lstStyle/>
          <a:p>
            <a:pPr indent="0" marL="0">
              <a:buNone/>
            </a:pPr>
            <a:r>
              <a:rPr lang="en-US" sz="1000" b="1" dirty="0">
                <a:solidFill>
                  <a:srgbClr val="FF6B35"/>
                </a:solidFill>
                <a:latin typeface="微软雅黑" pitchFamily="34" charset="0"/>
                <a:ea typeface="Calibri" pitchFamily="34" charset="-122"/>
                <a:cs typeface="Calibri" pitchFamily="34" charset="-120"/>
              </a:rPr>
              <a:t>F 特性：</a:t>
            </a:r>
            <a:pPr indent="0" marL="0">
              <a:buNone/>
            </a:pPr>
            <a:r>
              <a:rPr lang="en-US" sz="1000" dirty="0">
                <a:solidFill>
                  <a:srgbClr val="FFFFFF"/>
                </a:solidFill>
                <a:latin typeface="微软雅黑" pitchFamily="34" charset="0"/>
                <a:ea typeface="Calibri" pitchFamily="34" charset="-122"/>
                <a:cs typeface="Calibri" pitchFamily="34" charset="-120"/>
              </a:rPr>
              <a:t>8项标准化测试  </a:t>
            </a:r>
            <a:pPr indent="0" marL="0">
              <a:buNone/>
            </a:pPr>
            <a:r>
              <a:rPr lang="en-US" sz="1000" b="1" dirty="0">
                <a:solidFill>
                  <a:srgbClr val="FFFFFF"/>
                </a:solidFill>
                <a:latin typeface="微软雅黑" pitchFamily="34" charset="0"/>
                <a:ea typeface="Calibri" pitchFamily="34" charset="-122"/>
                <a:cs typeface="Calibri" pitchFamily="34" charset="-120"/>
              </a:rPr>
              <a:t>A 优势：</a:t>
            </a:r>
            <a:pPr indent="0" marL="0">
              <a:buNone/>
            </a:pPr>
            <a:r>
              <a:rPr lang="en-US" sz="1000" dirty="0">
                <a:solidFill>
                  <a:srgbClr val="FFFFFF"/>
                </a:solidFill>
                <a:latin typeface="微软雅黑" pitchFamily="34" charset="0"/>
                <a:ea typeface="Calibri" pitchFamily="34" charset="-122"/>
                <a:cs typeface="Calibri" pitchFamily="34" charset="-120"/>
              </a:rPr>
              <a:t>科学评估体系  </a:t>
            </a:r>
            <a:pPr indent="0" marL="0">
              <a:buNone/>
            </a:pPr>
            <a:r>
              <a:rPr lang="en-US" sz="1000" b="1" dirty="0">
                <a:solidFill>
                  <a:srgbClr val="2ECC71"/>
                </a:solidFill>
                <a:latin typeface="微软雅黑" pitchFamily="34" charset="0"/>
                <a:ea typeface="Calibri" pitchFamily="34" charset="-122"/>
                <a:cs typeface="Calibri" pitchFamily="34" charset="-120"/>
              </a:rPr>
              <a:t>B 利益：</a:t>
            </a:r>
            <a:pPr indent="0" marL="0">
              <a:buNone/>
            </a:pPr>
            <a:r>
              <a:rPr lang="en-US" sz="1000" dirty="0">
                <a:solidFill>
                  <a:srgbClr val="FFFFFF"/>
                </a:solidFill>
                <a:latin typeface="微软雅黑" pitchFamily="34" charset="0"/>
                <a:ea typeface="Calibri" pitchFamily="34" charset="-122"/>
                <a:cs typeface="Calibri" pitchFamily="34" charset="-120"/>
              </a:rPr>
              <a:t>数据驱动成交</a:t>
            </a:r>
            <a:endParaRPr lang="en-US" sz="1000" dirty="0"/>
          </a:p>
        </p:txBody>
      </p:sp>
      <p:sp>
        <p:nvSpPr>
          <p:cNvPr id="13" name="Shape 11"/>
          <p:cNvSpPr/>
          <p:nvPr/>
        </p:nvSpPr>
        <p:spPr>
          <a:xfrm>
            <a:off x="457200" y="1737360"/>
            <a:ext cx="1920240" cy="1325880"/>
          </a:xfrm>
          <a:prstGeom prst="rect">
            <a:avLst>
              <a:gd name="adj" fmla="val 4138"/>
            </a:avLst>
          </a:prstGeom>
          <a:solidFill>
            <a:srgbClr val="1A2A50">
              <a:alpha val="70000"/>
            </a:srgbClr>
          </a:solidFill>
          <a:ln/>
          <a:effectLst>
            <a:outerShdw sx="100000" sy="100000" kx="0" ky="0" algn="bl" rotWithShape="0" blurRad="38100" dist="12700" dir="16200000">
              <a:srgbClr val="000000">
                <a:alpha val="5000"/>
              </a:srgbClr>
            </a:outerShdw>
          </a:effectLst>
        </p:spPr>
        <p:txBody>
          <a:bodyPr/>
          <a:p/>
        </p:txBody>
      </p:sp>
      <p:sp>
        <p:nvSpPr>
          <p:cNvPr id="14" name="Shape 12"/>
          <p:cNvSpPr/>
          <p:nvPr/>
        </p:nvSpPr>
        <p:spPr>
          <a:xfrm>
            <a:off x="457200" y="1737360"/>
            <a:ext cx="54864" cy="1325880"/>
          </a:xfrm>
          <a:prstGeom prst="rect">
            <a:avLst>
              <a:gd name="adj" fmla="val 50000"/>
            </a:avLst>
          </a:prstGeom>
          <a:solidFill>
            <a:srgbClr val="FF6B35"/>
          </a:solidFill>
          <a:ln/>
        </p:spPr>
        <p:txBody>
          <a:bodyPr/>
          <a:p/>
        </p:txBody>
      </p:sp>
      <p:sp>
        <p:nvSpPr>
          <p:cNvPr id="15" name="Text 13"/>
          <p:cNvSpPr/>
          <p:nvPr/>
        </p:nvSpPr>
        <p:spPr>
          <a:xfrm>
            <a:off x="621792" y="1847088"/>
            <a:ext cx="1600200" cy="320040"/>
          </a:xfrm>
          <a:prstGeom prst="rect">
            <a:avLst/>
          </a:prstGeom>
          <a:noFill/>
          <a:ln/>
        </p:spPr>
        <p:txBody>
          <a:bodyPr wrap="square" rtlCol="0" anchor="ctr">
            <a:normAutofit/>
          </a:bodyPr>
          <a:lstStyle/>
          <a:p>
            <a:pPr indent="0" marL="0">
              <a:buNone/>
            </a:pPr>
            <a:r>
              <a:rPr lang="en-US" sz="1300" dirty="0">
                <a:solidFill>
                  <a:srgbClr val="FFFFFF"/>
                </a:solidFill>
                <a:latin typeface="微软雅黑" pitchFamily="34" charset="0"/>
                <a:ea typeface="Arial Black" pitchFamily="34" charset="-122"/>
                <a:cs typeface="Arial Black" pitchFamily="34" charset="-120"/>
              </a:rPr>
              <a:t>身高体重</a:t>
            </a:r>
            <a:endParaRPr lang="en-US" sz="1300" dirty="0"/>
          </a:p>
        </p:txBody>
      </p:sp>
      <p:sp>
        <p:nvSpPr>
          <p:cNvPr id="16" name="Text 14"/>
          <p:cNvSpPr/>
          <p:nvPr/>
        </p:nvSpPr>
        <p:spPr>
          <a:xfrm>
            <a:off x="621792" y="2240280"/>
            <a:ext cx="1600200" cy="640080"/>
          </a:xfrm>
          <a:prstGeom prst="rect">
            <a:avLst/>
          </a:prstGeom>
          <a:noFill/>
          <a:ln/>
        </p:spPr>
        <p:txBody>
          <a:bodyPr wrap="square" rtlCol="0" anchor="t">
            <a:normAutofit/>
          </a:bodyPr>
          <a:lstStyle/>
          <a:p>
            <a:pPr indent="0" marL="0">
              <a:buNone/>
            </a:pPr>
            <a:r>
              <a:rPr lang="en-US" sz="1000" dirty="0">
                <a:solidFill>
                  <a:srgbClr val="FFFFFF"/>
                </a:solidFill>
                <a:latin typeface="微软雅黑" pitchFamily="34" charset="0"/>
                <a:ea typeface="Calibri" pitchFamily="34" charset="-122"/>
                <a:cs typeface="Calibri" pitchFamily="34" charset="-120"/>
              </a:rPr>
              <a:t>BMI指数评估</a:t>
            </a:r>
            <a:endParaRPr lang="en-US" sz="1000" dirty="0"/>
          </a:p>
        </p:txBody>
      </p:sp>
      <p:sp>
        <p:nvSpPr>
          <p:cNvPr id="17" name="Shape 15"/>
          <p:cNvSpPr/>
          <p:nvPr/>
        </p:nvSpPr>
        <p:spPr>
          <a:xfrm>
            <a:off x="2542032" y="1737360"/>
            <a:ext cx="1920240" cy="1325880"/>
          </a:xfrm>
          <a:prstGeom prst="rect">
            <a:avLst>
              <a:gd name="adj" fmla="val 4138"/>
            </a:avLst>
          </a:prstGeom>
          <a:solidFill>
            <a:srgbClr val="1A2A50">
              <a:alpha val="70000"/>
            </a:srgbClr>
          </a:solidFill>
          <a:ln/>
          <a:effectLst>
            <a:outerShdw sx="100000" sy="100000" kx="0" ky="0" algn="bl" rotWithShape="0" blurRad="38100" dist="12700" dir="16200000">
              <a:srgbClr val="000000">
                <a:alpha val="5000"/>
              </a:srgbClr>
            </a:outerShdw>
          </a:effectLst>
        </p:spPr>
        <p:txBody>
          <a:bodyPr/>
          <a:p/>
        </p:txBody>
      </p:sp>
      <p:sp>
        <p:nvSpPr>
          <p:cNvPr id="18" name="Shape 16"/>
          <p:cNvSpPr/>
          <p:nvPr/>
        </p:nvSpPr>
        <p:spPr>
          <a:xfrm>
            <a:off x="2542032" y="1737360"/>
            <a:ext cx="54864" cy="1325880"/>
          </a:xfrm>
          <a:prstGeom prst="rect">
            <a:avLst>
              <a:gd name="adj" fmla="val 50000"/>
            </a:avLst>
          </a:prstGeom>
          <a:solidFill>
            <a:srgbClr val="E67E22"/>
          </a:solidFill>
          <a:ln/>
        </p:spPr>
        <p:txBody>
          <a:bodyPr/>
          <a:p/>
        </p:txBody>
      </p:sp>
      <p:sp>
        <p:nvSpPr>
          <p:cNvPr id="19" name="Text 17"/>
          <p:cNvSpPr/>
          <p:nvPr/>
        </p:nvSpPr>
        <p:spPr>
          <a:xfrm>
            <a:off x="2706624" y="1847088"/>
            <a:ext cx="1600200" cy="320040"/>
          </a:xfrm>
          <a:prstGeom prst="rect">
            <a:avLst/>
          </a:prstGeom>
          <a:noFill/>
          <a:ln/>
        </p:spPr>
        <p:txBody>
          <a:bodyPr wrap="square" rtlCol="0" anchor="ctr">
            <a:normAutofit/>
          </a:bodyPr>
          <a:lstStyle/>
          <a:p>
            <a:pPr indent="0" marL="0">
              <a:buNone/>
            </a:pPr>
            <a:r>
              <a:rPr lang="en-US" sz="1300" dirty="0">
                <a:solidFill>
                  <a:srgbClr val="FFFFFF"/>
                </a:solidFill>
                <a:latin typeface="微软雅黑" pitchFamily="34" charset="0"/>
                <a:ea typeface="Arial Black" pitchFamily="34" charset="-122"/>
                <a:cs typeface="Arial Black" pitchFamily="34" charset="-120"/>
              </a:rPr>
              <a:t>柔韧性</a:t>
            </a:r>
            <a:endParaRPr lang="en-US" sz="1300" dirty="0"/>
          </a:p>
        </p:txBody>
      </p:sp>
      <p:sp>
        <p:nvSpPr>
          <p:cNvPr id="20" name="Text 18"/>
          <p:cNvSpPr/>
          <p:nvPr/>
        </p:nvSpPr>
        <p:spPr>
          <a:xfrm>
            <a:off x="2706624" y="2240280"/>
            <a:ext cx="1600200" cy="640080"/>
          </a:xfrm>
          <a:prstGeom prst="rect">
            <a:avLst/>
          </a:prstGeom>
          <a:noFill/>
          <a:ln/>
        </p:spPr>
        <p:txBody>
          <a:bodyPr wrap="square" rtlCol="0" anchor="t">
            <a:normAutofit/>
          </a:bodyPr>
          <a:lstStyle/>
          <a:p>
            <a:pPr indent="0" marL="0">
              <a:buNone/>
            </a:pPr>
            <a:r>
              <a:rPr lang="en-US" sz="1000" dirty="0">
                <a:solidFill>
                  <a:srgbClr val="FFFFFF"/>
                </a:solidFill>
                <a:latin typeface="微软雅黑" pitchFamily="34" charset="0"/>
                <a:ea typeface="Calibri" pitchFamily="34" charset="-122"/>
                <a:cs typeface="Calibri" pitchFamily="34" charset="-120"/>
              </a:rPr>
              <a:t>坐位体前屈</a:t>
            </a:r>
            <a:endParaRPr lang="en-US" sz="1000" dirty="0"/>
          </a:p>
        </p:txBody>
      </p:sp>
      <p:sp>
        <p:nvSpPr>
          <p:cNvPr id="21" name="Shape 19"/>
          <p:cNvSpPr/>
          <p:nvPr/>
        </p:nvSpPr>
        <p:spPr>
          <a:xfrm>
            <a:off x="4626864" y="1737360"/>
            <a:ext cx="1920240" cy="1325880"/>
          </a:xfrm>
          <a:prstGeom prst="rect">
            <a:avLst>
              <a:gd name="adj" fmla="val 4138"/>
            </a:avLst>
          </a:prstGeom>
          <a:solidFill>
            <a:srgbClr val="1A2A50">
              <a:alpha val="70000"/>
            </a:srgbClr>
          </a:solidFill>
          <a:ln/>
          <a:effectLst>
            <a:outerShdw sx="100000" sy="100000" kx="0" ky="0" algn="bl" rotWithShape="0" blurRad="38100" dist="12700" dir="16200000">
              <a:srgbClr val="000000">
                <a:alpha val="5000"/>
              </a:srgbClr>
            </a:outerShdw>
          </a:effectLst>
        </p:spPr>
        <p:txBody>
          <a:bodyPr/>
          <a:p/>
        </p:txBody>
      </p:sp>
      <p:sp>
        <p:nvSpPr>
          <p:cNvPr id="22" name="Shape 20"/>
          <p:cNvSpPr/>
          <p:nvPr/>
        </p:nvSpPr>
        <p:spPr>
          <a:xfrm>
            <a:off x="4626864" y="1737360"/>
            <a:ext cx="54864" cy="1325880"/>
          </a:xfrm>
          <a:prstGeom prst="rect">
            <a:avLst>
              <a:gd name="adj" fmla="val 50000"/>
            </a:avLst>
          </a:prstGeom>
          <a:solidFill>
            <a:srgbClr val="1E2761"/>
          </a:solidFill>
          <a:ln/>
        </p:spPr>
        <p:txBody>
          <a:bodyPr/>
          <a:p/>
        </p:txBody>
      </p:sp>
      <p:sp>
        <p:nvSpPr>
          <p:cNvPr id="23" name="Text 21"/>
          <p:cNvSpPr/>
          <p:nvPr/>
        </p:nvSpPr>
        <p:spPr>
          <a:xfrm>
            <a:off x="4791456" y="1847088"/>
            <a:ext cx="1600200" cy="320040"/>
          </a:xfrm>
          <a:prstGeom prst="rect">
            <a:avLst/>
          </a:prstGeom>
          <a:noFill/>
          <a:ln/>
        </p:spPr>
        <p:txBody>
          <a:bodyPr wrap="square" rtlCol="0" anchor="ctr">
            <a:normAutofit/>
          </a:bodyPr>
          <a:lstStyle/>
          <a:p>
            <a:pPr indent="0" marL="0">
              <a:buNone/>
            </a:pPr>
            <a:r>
              <a:rPr lang="en-US" sz="1300" dirty="0">
                <a:solidFill>
                  <a:srgbClr val="FFFFFF"/>
                </a:solidFill>
                <a:latin typeface="微软雅黑" pitchFamily="34" charset="0"/>
                <a:ea typeface="Arial Black" pitchFamily="34" charset="-122"/>
                <a:cs typeface="Arial Black" pitchFamily="34" charset="-120"/>
              </a:rPr>
              <a:t>力量</a:t>
            </a:r>
            <a:endParaRPr lang="en-US" sz="1300" dirty="0"/>
          </a:p>
        </p:txBody>
      </p:sp>
      <p:sp>
        <p:nvSpPr>
          <p:cNvPr id="24" name="Text 22"/>
          <p:cNvSpPr/>
          <p:nvPr/>
        </p:nvSpPr>
        <p:spPr>
          <a:xfrm>
            <a:off x="4791456" y="2240280"/>
            <a:ext cx="1600200" cy="640080"/>
          </a:xfrm>
          <a:prstGeom prst="rect">
            <a:avLst/>
          </a:prstGeom>
          <a:noFill/>
          <a:ln/>
        </p:spPr>
        <p:txBody>
          <a:bodyPr wrap="square" rtlCol="0" anchor="t">
            <a:normAutofit/>
          </a:bodyPr>
          <a:lstStyle/>
          <a:p>
            <a:pPr indent="0" marL="0">
              <a:buNone/>
            </a:pPr>
            <a:r>
              <a:rPr lang="en-US" sz="1000" dirty="0">
                <a:solidFill>
                  <a:srgbClr val="FFFFFF"/>
                </a:solidFill>
                <a:latin typeface="微软雅黑" pitchFamily="34" charset="0"/>
                <a:ea typeface="Calibri" pitchFamily="34" charset="-122"/>
                <a:cs typeface="Calibri" pitchFamily="34" charset="-120"/>
              </a:rPr>
              <a:t>立定跳远/握力</a:t>
            </a:r>
            <a:endParaRPr lang="en-US" sz="1000" dirty="0"/>
          </a:p>
        </p:txBody>
      </p:sp>
      <p:sp>
        <p:nvSpPr>
          <p:cNvPr id="25" name="Shape 23"/>
          <p:cNvSpPr/>
          <p:nvPr/>
        </p:nvSpPr>
        <p:spPr>
          <a:xfrm>
            <a:off x="6711696" y="1737360"/>
            <a:ext cx="1920240" cy="1325880"/>
          </a:xfrm>
          <a:prstGeom prst="rect">
            <a:avLst>
              <a:gd name="adj" fmla="val 4138"/>
            </a:avLst>
          </a:prstGeom>
          <a:solidFill>
            <a:srgbClr val="1A2A50">
              <a:alpha val="70000"/>
            </a:srgbClr>
          </a:solidFill>
          <a:ln/>
          <a:effectLst>
            <a:outerShdw sx="100000" sy="100000" kx="0" ky="0" algn="bl" rotWithShape="0" blurRad="38100" dist="12700" dir="16200000">
              <a:srgbClr val="000000">
                <a:alpha val="5000"/>
              </a:srgbClr>
            </a:outerShdw>
          </a:effectLst>
        </p:spPr>
        <p:txBody>
          <a:bodyPr/>
          <a:p/>
        </p:txBody>
      </p:sp>
      <p:sp>
        <p:nvSpPr>
          <p:cNvPr id="26" name="Shape 24"/>
          <p:cNvSpPr/>
          <p:nvPr/>
        </p:nvSpPr>
        <p:spPr>
          <a:xfrm>
            <a:off x="6711696" y="1737360"/>
            <a:ext cx="54864" cy="1325880"/>
          </a:xfrm>
          <a:prstGeom prst="rect">
            <a:avLst>
              <a:gd name="adj" fmla="val 50000"/>
            </a:avLst>
          </a:prstGeom>
          <a:solidFill>
            <a:srgbClr val="8E44AD"/>
          </a:solidFill>
          <a:ln/>
        </p:spPr>
        <p:txBody>
          <a:bodyPr/>
          <a:p/>
        </p:txBody>
      </p:sp>
      <p:sp>
        <p:nvSpPr>
          <p:cNvPr id="27" name="Text 25"/>
          <p:cNvSpPr/>
          <p:nvPr/>
        </p:nvSpPr>
        <p:spPr>
          <a:xfrm>
            <a:off x="6876288" y="1847088"/>
            <a:ext cx="1600200" cy="320040"/>
          </a:xfrm>
          <a:prstGeom prst="rect">
            <a:avLst/>
          </a:prstGeom>
          <a:noFill/>
          <a:ln/>
        </p:spPr>
        <p:txBody>
          <a:bodyPr wrap="square" rtlCol="0" anchor="ctr">
            <a:normAutofit/>
          </a:bodyPr>
          <a:lstStyle/>
          <a:p>
            <a:pPr indent="0" marL="0">
              <a:buNone/>
            </a:pPr>
            <a:r>
              <a:rPr lang="en-US" sz="1300" dirty="0">
                <a:solidFill>
                  <a:srgbClr val="FFFFFF"/>
                </a:solidFill>
                <a:latin typeface="微软雅黑" pitchFamily="34" charset="0"/>
                <a:ea typeface="Arial Black" pitchFamily="34" charset="-122"/>
                <a:cs typeface="Arial Black" pitchFamily="34" charset="-120"/>
              </a:rPr>
              <a:t>灵敏度</a:t>
            </a:r>
            <a:endParaRPr lang="en-US" sz="1300" dirty="0"/>
          </a:p>
        </p:txBody>
      </p:sp>
      <p:sp>
        <p:nvSpPr>
          <p:cNvPr id="28" name="Text 26"/>
          <p:cNvSpPr/>
          <p:nvPr/>
        </p:nvSpPr>
        <p:spPr>
          <a:xfrm>
            <a:off x="6876288" y="2240280"/>
            <a:ext cx="1600200" cy="640080"/>
          </a:xfrm>
          <a:prstGeom prst="rect">
            <a:avLst/>
          </a:prstGeom>
          <a:noFill/>
          <a:ln/>
        </p:spPr>
        <p:txBody>
          <a:bodyPr wrap="square" rtlCol="0" anchor="t">
            <a:normAutofit/>
          </a:bodyPr>
          <a:lstStyle/>
          <a:p>
            <a:pPr indent="0" marL="0">
              <a:buNone/>
            </a:pPr>
            <a:r>
              <a:rPr lang="en-US" sz="1000" dirty="0">
                <a:solidFill>
                  <a:srgbClr val="FFFFFF"/>
                </a:solidFill>
                <a:latin typeface="微软雅黑" pitchFamily="34" charset="0"/>
                <a:ea typeface="Calibri" pitchFamily="34" charset="-122"/>
                <a:cs typeface="Calibri" pitchFamily="34" charset="-120"/>
              </a:rPr>
              <a:t>往返跑/折返</a:t>
            </a:r>
            <a:endParaRPr lang="en-US" sz="1000" dirty="0"/>
          </a:p>
        </p:txBody>
      </p:sp>
      <p:sp>
        <p:nvSpPr>
          <p:cNvPr id="29" name="Shape 27"/>
          <p:cNvSpPr/>
          <p:nvPr/>
        </p:nvSpPr>
        <p:spPr>
          <a:xfrm>
            <a:off x="457200" y="3246120"/>
            <a:ext cx="1920240" cy="1325880"/>
          </a:xfrm>
          <a:prstGeom prst="rect">
            <a:avLst>
              <a:gd name="adj" fmla="val 4138"/>
            </a:avLst>
          </a:prstGeom>
          <a:solidFill>
            <a:srgbClr val="1A2A50">
              <a:alpha val="70000"/>
            </a:srgbClr>
          </a:solidFill>
          <a:ln/>
          <a:effectLst>
            <a:outerShdw sx="100000" sy="100000" kx="0" ky="0" algn="bl" rotWithShape="0" blurRad="38100" dist="12700" dir="16200000">
              <a:srgbClr val="000000">
                <a:alpha val="5000"/>
              </a:srgbClr>
            </a:outerShdw>
          </a:effectLst>
        </p:spPr>
        <p:txBody>
          <a:bodyPr/>
          <a:p/>
        </p:txBody>
      </p:sp>
      <p:sp>
        <p:nvSpPr>
          <p:cNvPr id="30" name="Shape 28"/>
          <p:cNvSpPr/>
          <p:nvPr/>
        </p:nvSpPr>
        <p:spPr>
          <a:xfrm>
            <a:off x="457200" y="3246120"/>
            <a:ext cx="54864" cy="1325880"/>
          </a:xfrm>
          <a:prstGeom prst="rect">
            <a:avLst>
              <a:gd name="adj" fmla="val 50000"/>
            </a:avLst>
          </a:prstGeom>
          <a:solidFill>
            <a:srgbClr val="27AE60"/>
          </a:solidFill>
          <a:ln/>
        </p:spPr>
        <p:txBody>
          <a:bodyPr/>
          <a:p/>
        </p:txBody>
      </p:sp>
      <p:sp>
        <p:nvSpPr>
          <p:cNvPr id="31" name="Text 29"/>
          <p:cNvSpPr/>
          <p:nvPr/>
        </p:nvSpPr>
        <p:spPr>
          <a:xfrm>
            <a:off x="621792" y="3355848"/>
            <a:ext cx="1600200" cy="320040"/>
          </a:xfrm>
          <a:prstGeom prst="rect">
            <a:avLst/>
          </a:prstGeom>
          <a:noFill/>
          <a:ln/>
        </p:spPr>
        <p:txBody>
          <a:bodyPr wrap="square" rtlCol="0" anchor="ctr">
            <a:normAutofit/>
          </a:bodyPr>
          <a:lstStyle/>
          <a:p>
            <a:pPr indent="0" marL="0">
              <a:buNone/>
            </a:pPr>
            <a:r>
              <a:rPr lang="en-US" sz="1300" dirty="0">
                <a:solidFill>
                  <a:srgbClr val="FFFFFF"/>
                </a:solidFill>
                <a:latin typeface="微软雅黑" pitchFamily="34" charset="0"/>
                <a:ea typeface="Arial Black" pitchFamily="34" charset="-122"/>
                <a:cs typeface="Arial Black" pitchFamily="34" charset="-120"/>
              </a:rPr>
              <a:t>平衡力</a:t>
            </a:r>
            <a:endParaRPr lang="en-US" sz="1300" dirty="0"/>
          </a:p>
        </p:txBody>
      </p:sp>
      <p:sp>
        <p:nvSpPr>
          <p:cNvPr id="32" name="Text 30"/>
          <p:cNvSpPr/>
          <p:nvPr/>
        </p:nvSpPr>
        <p:spPr>
          <a:xfrm>
            <a:off x="621792" y="3749040"/>
            <a:ext cx="1600200" cy="640080"/>
          </a:xfrm>
          <a:prstGeom prst="rect">
            <a:avLst/>
          </a:prstGeom>
          <a:noFill/>
          <a:ln/>
        </p:spPr>
        <p:txBody>
          <a:bodyPr wrap="square" rtlCol="0" anchor="t">
            <a:normAutofit/>
          </a:bodyPr>
          <a:lstStyle/>
          <a:p>
            <a:pPr indent="0" marL="0">
              <a:buNone/>
            </a:pPr>
            <a:r>
              <a:rPr lang="en-US" sz="1000" dirty="0">
                <a:solidFill>
                  <a:srgbClr val="FFFFFF"/>
                </a:solidFill>
                <a:latin typeface="微软雅黑" pitchFamily="34" charset="0"/>
                <a:ea typeface="Calibri" pitchFamily="34" charset="-122"/>
                <a:cs typeface="Calibri" pitchFamily="34" charset="-120"/>
              </a:rPr>
              <a:t>单脚站立测试</a:t>
            </a:r>
            <a:endParaRPr lang="en-US" sz="1000" dirty="0"/>
          </a:p>
        </p:txBody>
      </p:sp>
      <p:sp>
        <p:nvSpPr>
          <p:cNvPr id="33" name="Shape 31"/>
          <p:cNvSpPr/>
          <p:nvPr/>
        </p:nvSpPr>
        <p:spPr>
          <a:xfrm>
            <a:off x="2542032" y="3246120"/>
            <a:ext cx="1920240" cy="1325880"/>
          </a:xfrm>
          <a:prstGeom prst="rect">
            <a:avLst>
              <a:gd name="adj" fmla="val 4138"/>
            </a:avLst>
          </a:prstGeom>
          <a:solidFill>
            <a:srgbClr val="1A2A50">
              <a:alpha val="70000"/>
            </a:srgbClr>
          </a:solidFill>
          <a:ln/>
          <a:effectLst>
            <a:outerShdw sx="100000" sy="100000" kx="0" ky="0" algn="bl" rotWithShape="0" blurRad="38100" dist="12700" dir="16200000">
              <a:srgbClr val="000000">
                <a:alpha val="5000"/>
              </a:srgbClr>
            </a:outerShdw>
          </a:effectLst>
        </p:spPr>
        <p:txBody>
          <a:bodyPr/>
          <a:p/>
        </p:txBody>
      </p:sp>
      <p:sp>
        <p:nvSpPr>
          <p:cNvPr id="34" name="Shape 32"/>
          <p:cNvSpPr/>
          <p:nvPr/>
        </p:nvSpPr>
        <p:spPr>
          <a:xfrm>
            <a:off x="2542032" y="3246120"/>
            <a:ext cx="54864" cy="1325880"/>
          </a:xfrm>
          <a:prstGeom prst="rect">
            <a:avLst>
              <a:gd name="adj" fmla="val 50000"/>
            </a:avLst>
          </a:prstGeom>
          <a:solidFill>
            <a:srgbClr val="2980B9"/>
          </a:solidFill>
          <a:ln/>
        </p:spPr>
        <p:txBody>
          <a:bodyPr/>
          <a:p/>
        </p:txBody>
      </p:sp>
      <p:sp>
        <p:nvSpPr>
          <p:cNvPr id="35" name="Text 33"/>
          <p:cNvSpPr/>
          <p:nvPr/>
        </p:nvSpPr>
        <p:spPr>
          <a:xfrm>
            <a:off x="2706624" y="3355848"/>
            <a:ext cx="1600200" cy="320040"/>
          </a:xfrm>
          <a:prstGeom prst="rect">
            <a:avLst/>
          </a:prstGeom>
          <a:noFill/>
          <a:ln/>
        </p:spPr>
        <p:txBody>
          <a:bodyPr wrap="square" rtlCol="0" anchor="ctr">
            <a:normAutofit/>
          </a:bodyPr>
          <a:lstStyle/>
          <a:p>
            <a:pPr indent="0" marL="0">
              <a:buNone/>
            </a:pPr>
            <a:r>
              <a:rPr lang="en-US" sz="1300" dirty="0">
                <a:solidFill>
                  <a:srgbClr val="FFFFFF"/>
                </a:solidFill>
                <a:latin typeface="微软雅黑" pitchFamily="34" charset="0"/>
                <a:ea typeface="Arial Black" pitchFamily="34" charset="-122"/>
                <a:cs typeface="Arial Black" pitchFamily="34" charset="-120"/>
              </a:rPr>
              <a:t>心肺功能</a:t>
            </a:r>
            <a:endParaRPr lang="en-US" sz="1300" dirty="0"/>
          </a:p>
        </p:txBody>
      </p:sp>
      <p:sp>
        <p:nvSpPr>
          <p:cNvPr id="36" name="Text 34"/>
          <p:cNvSpPr/>
          <p:nvPr/>
        </p:nvSpPr>
        <p:spPr>
          <a:xfrm>
            <a:off x="2706624" y="3749040"/>
            <a:ext cx="1600200" cy="640080"/>
          </a:xfrm>
          <a:prstGeom prst="rect">
            <a:avLst/>
          </a:prstGeom>
          <a:noFill/>
          <a:ln/>
        </p:spPr>
        <p:txBody>
          <a:bodyPr wrap="square" rtlCol="0" anchor="t">
            <a:normAutofit/>
          </a:bodyPr>
          <a:lstStyle/>
          <a:p>
            <a:pPr indent="0" marL="0">
              <a:buNone/>
            </a:pPr>
            <a:r>
              <a:rPr lang="en-US" sz="1000" dirty="0">
                <a:solidFill>
                  <a:srgbClr val="FFFFFF"/>
                </a:solidFill>
                <a:latin typeface="微软雅黑" pitchFamily="34" charset="0"/>
                <a:ea typeface="Calibri" pitchFamily="34" charset="-122"/>
                <a:cs typeface="Calibri" pitchFamily="34" charset="-120"/>
              </a:rPr>
              <a:t>折返跑/台阶</a:t>
            </a:r>
            <a:endParaRPr lang="en-US" sz="1000" dirty="0"/>
          </a:p>
        </p:txBody>
      </p:sp>
      <p:sp>
        <p:nvSpPr>
          <p:cNvPr id="37" name="Shape 35"/>
          <p:cNvSpPr/>
          <p:nvPr/>
        </p:nvSpPr>
        <p:spPr>
          <a:xfrm>
            <a:off x="4626864" y="3246120"/>
            <a:ext cx="1920240" cy="1325880"/>
          </a:xfrm>
          <a:prstGeom prst="rect">
            <a:avLst>
              <a:gd name="adj" fmla="val 4138"/>
            </a:avLst>
          </a:prstGeom>
          <a:solidFill>
            <a:srgbClr val="1A2A50">
              <a:alpha val="70000"/>
            </a:srgbClr>
          </a:solidFill>
          <a:ln/>
          <a:effectLst>
            <a:outerShdw sx="100000" sy="100000" kx="0" ky="0" algn="bl" rotWithShape="0" blurRad="38100" dist="12700" dir="16200000">
              <a:srgbClr val="000000">
                <a:alpha val="5000"/>
              </a:srgbClr>
            </a:outerShdw>
          </a:effectLst>
        </p:spPr>
        <p:txBody>
          <a:bodyPr/>
          <a:p/>
        </p:txBody>
      </p:sp>
      <p:sp>
        <p:nvSpPr>
          <p:cNvPr id="38" name="Shape 36"/>
          <p:cNvSpPr/>
          <p:nvPr/>
        </p:nvSpPr>
        <p:spPr>
          <a:xfrm>
            <a:off x="4626864" y="3246120"/>
            <a:ext cx="54864" cy="1325880"/>
          </a:xfrm>
          <a:prstGeom prst="rect">
            <a:avLst>
              <a:gd name="adj" fmla="val 50000"/>
            </a:avLst>
          </a:prstGeom>
          <a:solidFill>
            <a:srgbClr val="C0392B"/>
          </a:solidFill>
          <a:ln/>
        </p:spPr>
        <p:txBody>
          <a:bodyPr/>
          <a:p/>
        </p:txBody>
      </p:sp>
      <p:sp>
        <p:nvSpPr>
          <p:cNvPr id="39" name="Text 37"/>
          <p:cNvSpPr/>
          <p:nvPr/>
        </p:nvSpPr>
        <p:spPr>
          <a:xfrm>
            <a:off x="4791456" y="3355848"/>
            <a:ext cx="1600200" cy="320040"/>
          </a:xfrm>
          <a:prstGeom prst="rect">
            <a:avLst/>
          </a:prstGeom>
          <a:noFill/>
          <a:ln/>
        </p:spPr>
        <p:txBody>
          <a:bodyPr wrap="square" rtlCol="0" anchor="ctr">
            <a:normAutofit/>
          </a:bodyPr>
          <a:lstStyle/>
          <a:p>
            <a:pPr indent="0" marL="0">
              <a:buNone/>
            </a:pPr>
            <a:r>
              <a:rPr lang="en-US" sz="1300" dirty="0">
                <a:solidFill>
                  <a:srgbClr val="FFFFFF"/>
                </a:solidFill>
                <a:latin typeface="微软雅黑" pitchFamily="34" charset="0"/>
                <a:ea typeface="Arial Black" pitchFamily="34" charset="-122"/>
                <a:cs typeface="Arial Black" pitchFamily="34" charset="-120"/>
              </a:rPr>
              <a:t>核心力量</a:t>
            </a:r>
            <a:endParaRPr lang="en-US" sz="1300" dirty="0"/>
          </a:p>
        </p:txBody>
      </p:sp>
      <p:sp>
        <p:nvSpPr>
          <p:cNvPr id="40" name="Text 38"/>
          <p:cNvSpPr/>
          <p:nvPr/>
        </p:nvSpPr>
        <p:spPr>
          <a:xfrm>
            <a:off x="4791456" y="3749040"/>
            <a:ext cx="1600200" cy="640080"/>
          </a:xfrm>
          <a:prstGeom prst="rect">
            <a:avLst/>
          </a:prstGeom>
          <a:noFill/>
          <a:ln/>
        </p:spPr>
        <p:txBody>
          <a:bodyPr wrap="square" rtlCol="0" anchor="t">
            <a:normAutofit/>
          </a:bodyPr>
          <a:lstStyle/>
          <a:p>
            <a:pPr indent="0" marL="0">
              <a:buNone/>
            </a:pPr>
            <a:r>
              <a:rPr lang="en-US" sz="1000" dirty="0">
                <a:solidFill>
                  <a:srgbClr val="FFFFFF"/>
                </a:solidFill>
                <a:latin typeface="微软雅黑" pitchFamily="34" charset="0"/>
                <a:ea typeface="Calibri" pitchFamily="34" charset="-122"/>
                <a:cs typeface="Calibri" pitchFamily="34" charset="-120"/>
              </a:rPr>
              <a:t>平板支撑/仰卧</a:t>
            </a:r>
            <a:endParaRPr lang="en-US" sz="1000" dirty="0"/>
          </a:p>
        </p:txBody>
      </p:sp>
      <p:sp>
        <p:nvSpPr>
          <p:cNvPr id="41" name="Shape 39"/>
          <p:cNvSpPr/>
          <p:nvPr/>
        </p:nvSpPr>
        <p:spPr>
          <a:xfrm>
            <a:off x="6711696" y="3246120"/>
            <a:ext cx="1920240" cy="1325880"/>
          </a:xfrm>
          <a:prstGeom prst="rect">
            <a:avLst>
              <a:gd name="adj" fmla="val 4138"/>
            </a:avLst>
          </a:prstGeom>
          <a:solidFill>
            <a:srgbClr val="1A2A50">
              <a:alpha val="70000"/>
            </a:srgbClr>
          </a:solidFill>
          <a:ln/>
          <a:effectLst>
            <a:outerShdw sx="100000" sy="100000" kx="0" ky="0" algn="bl" rotWithShape="0" blurRad="38100" dist="12700" dir="16200000">
              <a:srgbClr val="000000">
                <a:alpha val="5000"/>
              </a:srgbClr>
            </a:outerShdw>
          </a:effectLst>
        </p:spPr>
        <p:txBody>
          <a:bodyPr/>
          <a:p/>
        </p:txBody>
      </p:sp>
      <p:sp>
        <p:nvSpPr>
          <p:cNvPr id="42" name="Shape 40"/>
          <p:cNvSpPr/>
          <p:nvPr/>
        </p:nvSpPr>
        <p:spPr>
          <a:xfrm>
            <a:off x="6711696" y="3246120"/>
            <a:ext cx="54864" cy="1325880"/>
          </a:xfrm>
          <a:prstGeom prst="rect">
            <a:avLst>
              <a:gd name="adj" fmla="val 50000"/>
            </a:avLst>
          </a:prstGeom>
          <a:solidFill>
            <a:srgbClr val="FF6B35"/>
          </a:solidFill>
          <a:ln/>
        </p:spPr>
        <p:txBody>
          <a:bodyPr/>
          <a:p/>
        </p:txBody>
      </p:sp>
      <p:sp>
        <p:nvSpPr>
          <p:cNvPr id="43" name="Text 41"/>
          <p:cNvSpPr/>
          <p:nvPr/>
        </p:nvSpPr>
        <p:spPr>
          <a:xfrm>
            <a:off x="6876288" y="3355848"/>
            <a:ext cx="1600200" cy="320040"/>
          </a:xfrm>
          <a:prstGeom prst="rect">
            <a:avLst/>
          </a:prstGeom>
          <a:noFill/>
          <a:ln/>
        </p:spPr>
        <p:txBody>
          <a:bodyPr wrap="square" rtlCol="0" anchor="ctr">
            <a:normAutofit/>
          </a:bodyPr>
          <a:lstStyle/>
          <a:p>
            <a:pPr indent="0" marL="0">
              <a:buNone/>
            </a:pPr>
            <a:r>
              <a:rPr lang="en-US" sz="1300" dirty="0">
                <a:solidFill>
                  <a:srgbClr val="FFFFFF"/>
                </a:solidFill>
                <a:latin typeface="微软雅黑" pitchFamily="34" charset="0"/>
                <a:ea typeface="Arial Black" pitchFamily="34" charset="-122"/>
                <a:cs typeface="Arial Black" pitchFamily="34" charset="-120"/>
              </a:rPr>
              <a:t>综合评级</a:t>
            </a:r>
            <a:endParaRPr lang="en-US" sz="1300" dirty="0"/>
          </a:p>
        </p:txBody>
      </p:sp>
      <p:sp>
        <p:nvSpPr>
          <p:cNvPr id="44" name="Text 42"/>
          <p:cNvSpPr/>
          <p:nvPr/>
        </p:nvSpPr>
        <p:spPr>
          <a:xfrm>
            <a:off x="6876288" y="3749040"/>
            <a:ext cx="1600200" cy="640080"/>
          </a:xfrm>
          <a:prstGeom prst="rect">
            <a:avLst/>
          </a:prstGeom>
          <a:noFill/>
          <a:ln/>
        </p:spPr>
        <p:txBody>
          <a:bodyPr wrap="square" rtlCol="0" anchor="t">
            <a:normAutofit/>
          </a:bodyPr>
          <a:lstStyle/>
          <a:p>
            <a:pPr indent="0" marL="0">
              <a:buNone/>
            </a:pPr>
            <a:r>
              <a:rPr lang="en-US" sz="1000" dirty="0">
                <a:solidFill>
                  <a:srgbClr val="FFFFFF"/>
                </a:solidFill>
                <a:latin typeface="微软雅黑" pitchFamily="34" charset="0"/>
                <a:ea typeface="Calibri" pitchFamily="34" charset="-122"/>
                <a:cs typeface="Calibri" pitchFamily="34" charset="-120"/>
              </a:rPr>
              <a:t>雷达图总评</a:t>
            </a:r>
            <a:endParaRPr lang="en-US" sz="1000" dirty="0"/>
          </a:p>
        </p:txBody>
      </p:sp>
      <p:sp>
        <p:nvSpPr>
          <p:cNvPr id="45" name="Rectangle 44"/>
          <p:cNvSpPr/>
          <p:nvPr/>
        </p:nvSpPr>
        <p:spPr>
          <a:xfrm>
            <a:off x="0" y="0"/>
            <a:ext cx="9144000" cy="4114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371975"/>
            <a:ext cx="9144000" cy="771525"/>
          </a:xfrm>
          <a:prstGeom prst="rect">
            <a:avLst/>
          </a:prstGeom>
          <a:solidFill>
            <a:srgbClr val="14244D">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6B35"/>
          </a:solidFill>
          <a:ln/>
        </p:spPr>
        <p:txBody>
          <a:bodyPr/>
          <a:p/>
        </p:txBody>
      </p:sp>
      <p:sp>
        <p:nvSpPr>
          <p:cNvPr id="3" name="Shape 1"/>
          <p:cNvSpPr/>
          <p:nvPr/>
        </p:nvSpPr>
        <p:spPr>
          <a:xfrm>
            <a:off x="0" y="5088636"/>
            <a:ext cx="9144000" cy="54864"/>
          </a:xfrm>
          <a:prstGeom prst="rect">
            <a:avLst/>
          </a:prstGeom>
          <a:solidFill>
            <a:srgbClr val="1E2761"/>
          </a:solidFill>
          <a:ln/>
        </p:spPr>
        <p:txBody>
          <a:bodyPr/>
          <a:p/>
        </p:txBody>
      </p:sp>
      <p:sp>
        <p:nvSpPr>
          <p:cNvPr id="4" name="Shape 2"/>
          <p:cNvSpPr/>
          <p:nvPr/>
        </p:nvSpPr>
        <p:spPr>
          <a:xfrm>
            <a:off x="457200" y="228600"/>
            <a:ext cx="1463040" cy="292608"/>
          </a:xfrm>
          <a:prstGeom prst="rect">
            <a:avLst>
              <a:gd name="adj" fmla="val 12500"/>
            </a:avLst>
          </a:prstGeom>
          <a:solidFill>
            <a:srgbClr val="FFE8DD"/>
          </a:solidFill>
          <a:ln/>
        </p:spPr>
        <p:txBody>
          <a:bodyPr/>
          <a:p/>
        </p:txBody>
      </p:sp>
      <p:sp>
        <p:nvSpPr>
          <p:cNvPr id="5" name="Text 3"/>
          <p:cNvSpPr/>
          <p:nvPr/>
        </p:nvSpPr>
        <p:spPr>
          <a:xfrm>
            <a:off x="457200" y="228600"/>
            <a:ext cx="1463040" cy="292608"/>
          </a:xfrm>
          <a:prstGeom prst="rect">
            <a:avLst/>
          </a:prstGeom>
          <a:noFill/>
          <a:ln/>
        </p:spPr>
        <p:txBody>
          <a:bodyPr wrap="square" rtlCol="0" anchor="ctr">
            <a:normAutofit/>
          </a:bodyPr>
          <a:lstStyle/>
          <a:p>
            <a:pPr algn="ctr" indent="0" marL="0">
              <a:buNone/>
            </a:pPr>
            <a:r>
              <a:rPr lang="en-US" sz="1000" b="1" dirty="0">
                <a:solidFill>
                  <a:srgbClr val="FF6B35"/>
                </a:solidFill>
                <a:latin typeface="微软雅黑" pitchFamily="34" charset="0"/>
                <a:ea typeface="Calibri" pitchFamily="34" charset="-122"/>
                <a:cs typeface="Calibri" pitchFamily="34" charset="-120"/>
              </a:rPr>
              <a:t>体测流程6步</a:t>
            </a:r>
            <a:endParaRPr lang="en-US" sz="1000" dirty="0"/>
          </a:p>
        </p:txBody>
      </p:sp>
      <p:sp>
        <p:nvSpPr>
          <p:cNvPr id="6" name="Text 4"/>
          <p:cNvSpPr/>
          <p:nvPr/>
        </p:nvSpPr>
        <p:spPr>
          <a:xfrm>
            <a:off x="457200" y="182880"/>
            <a:ext cx="8229600" cy="502920"/>
          </a:xfrm>
          <a:prstGeom prst="rect">
            <a:avLst/>
          </a:prstGeom>
          <a:noFill/>
          <a:ln/>
        </p:spPr>
        <p:txBody>
          <a:bodyPr wrap="square" rtlCol="0" anchor="b">
            <a:normAutofit/>
          </a:bodyPr>
          <a:lstStyle/>
          <a:p>
            <a:pPr indent="0" marL="0">
              <a:buNone/>
            </a:pPr>
            <a:r>
              <a:rPr lang="en-US" sz="2600" dirty="0">
                <a:solidFill>
                  <a:srgbClr val="FFFFFF"/>
                </a:solidFill>
                <a:latin typeface="微软雅黑" pitchFamily="34" charset="0"/>
                <a:ea typeface="Arial Black" pitchFamily="34" charset="-122"/>
                <a:cs typeface="Arial Black" pitchFamily="34" charset="-120"/>
              </a:rPr>
              <a:t>Step 4：录入系统</a:t>
            </a:r>
            <a:endParaRPr lang="en-US" sz="2600" dirty="0"/>
          </a:p>
        </p:txBody>
      </p:sp>
      <p:sp>
        <p:nvSpPr>
          <p:cNvPr id="7" name="Text 5"/>
          <p:cNvSpPr/>
          <p:nvPr/>
        </p:nvSpPr>
        <p:spPr>
          <a:xfrm>
            <a:off x="457200" y="658368"/>
            <a:ext cx="8229600" cy="274320"/>
          </a:xfrm>
          <a:prstGeom prst="rect">
            <a:avLst/>
          </a:prstGeom>
          <a:noFill/>
          <a:ln/>
        </p:spPr>
        <p:txBody>
          <a:bodyPr wrap="square" rtlCol="0" anchor="ctr">
            <a:normAutofit/>
          </a:bodyPr>
          <a:lstStyle/>
          <a:p>
            <a:pPr indent="0" marL="0">
              <a:buNone/>
            </a:pPr>
            <a:r>
              <a:rPr lang="en-US" sz="1200" dirty="0">
                <a:solidFill>
                  <a:srgbClr val="FFFFFF"/>
                </a:solidFill>
                <a:latin typeface="微软雅黑" pitchFamily="34" charset="0"/>
                <a:ea typeface="Calibri" pitchFamily="34" charset="-122"/>
                <a:cs typeface="Calibri" pitchFamily="34" charset="-120"/>
              </a:rPr>
              <a:t>GYMGO系统录入，生成专业报告</a:t>
            </a:r>
            <a:endParaRPr lang="en-US" sz="1200" dirty="0"/>
          </a:p>
        </p:txBody>
      </p:sp>
      <p:sp>
        <p:nvSpPr>
          <p:cNvPr id="8" name="Text 6"/>
          <p:cNvSpPr/>
          <p:nvPr/>
        </p:nvSpPr>
        <p:spPr>
          <a:xfrm>
            <a:off x="7955280" y="4777740"/>
            <a:ext cx="731520" cy="274320"/>
          </a:xfrm>
          <a:prstGeom prst="rect">
            <a:avLst/>
          </a:prstGeom>
          <a:noFill/>
          <a:ln/>
        </p:spPr>
        <p:txBody>
          <a:bodyPr wrap="square" rtlCol="0" anchor="ctr">
            <a:normAutofit/>
          </a:bodyPr>
          <a:lstStyle/>
          <a:p>
            <a:pPr algn="r" indent="0" marL="0">
              <a:buNone/>
            </a:pPr>
            <a:r>
              <a:rPr lang="en-US" sz="900" dirty="0">
                <a:solidFill>
                  <a:srgbClr val="FFFFFF"/>
                </a:solidFill>
                <a:latin typeface="微软雅黑" pitchFamily="34" charset="0"/>
                <a:ea typeface="Calibri" pitchFamily="34" charset="-122"/>
                <a:cs typeface="Calibri" pitchFamily="34" charset="-120"/>
              </a:rPr>
              <a:t>8 / 15</a:t>
            </a:r>
            <a:endParaRPr lang="en-US" sz="900" dirty="0"/>
          </a:p>
        </p:txBody>
      </p:sp>
      <p:sp>
        <p:nvSpPr>
          <p:cNvPr id="9" name="Shape 7"/>
          <p:cNvSpPr/>
          <p:nvPr/>
        </p:nvSpPr>
        <p:spPr>
          <a:xfrm>
            <a:off x="457200" y="182880"/>
            <a:ext cx="411480" cy="411480"/>
          </a:xfrm>
          <a:prstGeom prst="ellipse">
            <a:avLst/>
          </a:prstGeom>
          <a:solidFill>
            <a:srgbClr val="FF6B35"/>
          </a:solidFill>
          <a:ln/>
        </p:spPr>
        <p:txBody>
          <a:bodyPr/>
          <a:p/>
        </p:txBody>
      </p:sp>
      <p:sp>
        <p:nvSpPr>
          <p:cNvPr id="10" name="Text 8"/>
          <p:cNvSpPr/>
          <p:nvPr/>
        </p:nvSpPr>
        <p:spPr>
          <a:xfrm>
            <a:off x="457200" y="182880"/>
            <a:ext cx="411480" cy="411480"/>
          </a:xfrm>
          <a:prstGeom prst="rect">
            <a:avLst/>
          </a:prstGeom>
          <a:noFill/>
          <a:ln/>
        </p:spPr>
        <p:txBody>
          <a:bodyPr wrap="square" rtlCol="0" anchor="ctr">
            <a:normAutofit/>
          </a:bodyPr>
          <a:lstStyle/>
          <a:p>
            <a:pPr algn="ctr" indent="0" marL="0">
              <a:buNone/>
            </a:pPr>
            <a:r>
              <a:rPr lang="en-US" sz="1600" dirty="0">
                <a:solidFill>
                  <a:srgbClr val="FFFFFF"/>
                </a:solidFill>
                <a:latin typeface="微软雅黑" pitchFamily="34" charset="0"/>
                <a:ea typeface="Arial Black" pitchFamily="34" charset="-122"/>
                <a:cs typeface="Arial Black" pitchFamily="34" charset="-120"/>
              </a:rPr>
              <a:t>4</a:t>
            </a:r>
            <a:endParaRPr lang="en-US" sz="1600" dirty="0"/>
          </a:p>
        </p:txBody>
      </p:sp>
      <p:sp>
        <p:nvSpPr>
          <p:cNvPr id="11" name="Shape 9"/>
          <p:cNvSpPr/>
          <p:nvPr/>
        </p:nvSpPr>
        <p:spPr>
          <a:xfrm>
            <a:off x="457200" y="1143000"/>
            <a:ext cx="411480" cy="411480"/>
          </a:xfrm>
          <a:prstGeom prst="ellipse">
            <a:avLst/>
          </a:prstGeom>
          <a:solidFill>
            <a:srgbClr val="FF6B35"/>
          </a:solidFill>
          <a:ln/>
        </p:spPr>
        <p:txBody>
          <a:bodyPr/>
          <a:p/>
        </p:txBody>
      </p:sp>
      <p:sp>
        <p:nvSpPr>
          <p:cNvPr id="12" name="Text 10"/>
          <p:cNvSpPr/>
          <p:nvPr/>
        </p:nvSpPr>
        <p:spPr>
          <a:xfrm>
            <a:off x="457200" y="1143000"/>
            <a:ext cx="411480" cy="411480"/>
          </a:xfrm>
          <a:prstGeom prst="rect">
            <a:avLst/>
          </a:prstGeom>
          <a:noFill/>
          <a:ln/>
        </p:spPr>
        <p:txBody>
          <a:bodyPr wrap="square" rtlCol="0" anchor="ctr">
            <a:normAutofit/>
          </a:bodyPr>
          <a:lstStyle/>
          <a:p>
            <a:pPr algn="ctr" indent="0" marL="0">
              <a:buNone/>
            </a:pPr>
            <a:r>
              <a:rPr lang="en-US" sz="1600" dirty="0">
                <a:solidFill>
                  <a:srgbClr val="FFFFFF"/>
                </a:solidFill>
                <a:latin typeface="微软雅黑" pitchFamily="34" charset="0"/>
                <a:ea typeface="Arial Black" pitchFamily="34" charset="-122"/>
                <a:cs typeface="Arial Black" pitchFamily="34" charset="-120"/>
              </a:rPr>
              <a:t>1</a:t>
            </a:r>
            <a:endParaRPr lang="en-US" sz="1600" dirty="0"/>
          </a:p>
        </p:txBody>
      </p:sp>
      <p:sp>
        <p:nvSpPr>
          <p:cNvPr id="13" name="Shape 11"/>
          <p:cNvSpPr/>
          <p:nvPr/>
        </p:nvSpPr>
        <p:spPr>
          <a:xfrm>
            <a:off x="640080" y="1554480"/>
            <a:ext cx="36576" cy="457200"/>
          </a:xfrm>
          <a:prstGeom prst="rect">
            <a:avLst/>
          </a:prstGeom>
          <a:solidFill>
            <a:srgbClr val="DDDDDD"/>
          </a:solidFill>
          <a:ln/>
        </p:spPr>
        <p:txBody>
          <a:bodyPr/>
          <a:p/>
        </p:txBody>
      </p:sp>
      <p:sp>
        <p:nvSpPr>
          <p:cNvPr id="14" name="Shape 12"/>
          <p:cNvSpPr/>
          <p:nvPr/>
        </p:nvSpPr>
        <p:spPr>
          <a:xfrm>
            <a:off x="1097280" y="1097280"/>
            <a:ext cx="7589520" cy="640080"/>
          </a:xfrm>
          <a:prstGeom prst="rect">
            <a:avLst>
              <a:gd name="adj" fmla="val 8571"/>
            </a:avLst>
          </a:prstGeom>
          <a:solidFill>
            <a:srgbClr val="1A2A50">
              <a:alpha val="70000"/>
            </a:srgbClr>
          </a:solidFill>
          <a:ln/>
          <a:effectLst>
            <a:outerShdw sx="100000" sy="100000" kx="0" ky="0" algn="bl" rotWithShape="0" blurRad="38100" dist="12700" dir="16200000">
              <a:srgbClr val="000000">
                <a:alpha val="4000"/>
              </a:srgbClr>
            </a:outerShdw>
          </a:effectLst>
        </p:spPr>
        <p:txBody>
          <a:bodyPr/>
          <a:p/>
        </p:txBody>
      </p:sp>
      <p:sp>
        <p:nvSpPr>
          <p:cNvPr id="15" name="Text 13"/>
          <p:cNvSpPr/>
          <p:nvPr/>
        </p:nvSpPr>
        <p:spPr>
          <a:xfrm>
            <a:off x="1280160" y="1143000"/>
            <a:ext cx="3657600" cy="274320"/>
          </a:xfrm>
          <a:prstGeom prst="rect">
            <a:avLst/>
          </a:prstGeom>
          <a:noFill/>
          <a:ln/>
        </p:spPr>
        <p:txBody>
          <a:bodyPr wrap="square" rtlCol="0" anchor="ctr">
            <a:normAutofit/>
          </a:bodyPr>
          <a:lstStyle/>
          <a:p>
            <a:pPr indent="0" marL="0">
              <a:buNone/>
            </a:pPr>
            <a:r>
              <a:rPr lang="en-US" sz="1400" dirty="0">
                <a:solidFill>
                  <a:srgbClr val="FFFFFF"/>
                </a:solidFill>
                <a:latin typeface="微软雅黑" pitchFamily="34" charset="0"/>
                <a:ea typeface="Arial Black" pitchFamily="34" charset="-122"/>
                <a:cs typeface="Arial Black" pitchFamily="34" charset="-120"/>
              </a:rPr>
              <a:t>数据整理</a:t>
            </a:r>
            <a:endParaRPr lang="en-US" sz="1400" dirty="0"/>
          </a:p>
        </p:txBody>
      </p:sp>
      <p:sp>
        <p:nvSpPr>
          <p:cNvPr id="16" name="Text 14"/>
          <p:cNvSpPr/>
          <p:nvPr/>
        </p:nvSpPr>
        <p:spPr>
          <a:xfrm>
            <a:off x="1280160" y="1417320"/>
            <a:ext cx="6858000" cy="274320"/>
          </a:xfrm>
          <a:prstGeom prst="rect">
            <a:avLst/>
          </a:prstGeom>
          <a:noFill/>
          <a:ln/>
        </p:spPr>
        <p:txBody>
          <a:bodyPr wrap="square" rtlCol="0" anchor="ctr">
            <a:normAutofit/>
          </a:bodyPr>
          <a:lstStyle/>
          <a:p>
            <a:pPr indent="0" marL="0">
              <a:buNone/>
            </a:pPr>
            <a:r>
              <a:rPr lang="en-US" sz="1050" dirty="0">
                <a:solidFill>
                  <a:srgbClr val="FFFFFF"/>
                </a:solidFill>
                <a:latin typeface="微软雅黑" pitchFamily="34" charset="0"/>
                <a:ea typeface="Calibri" pitchFamily="34" charset="-122"/>
                <a:cs typeface="Calibri" pitchFamily="34" charset="-120"/>
              </a:rPr>
              <a:t>将8项测试数据整理到体测表格，确保每项数据准确无误</a:t>
            </a:r>
            <a:endParaRPr lang="en-US" sz="1050" dirty="0"/>
          </a:p>
        </p:txBody>
      </p:sp>
      <p:sp>
        <p:nvSpPr>
          <p:cNvPr id="17" name="Shape 15"/>
          <p:cNvSpPr/>
          <p:nvPr/>
        </p:nvSpPr>
        <p:spPr>
          <a:xfrm>
            <a:off x="457200" y="2011680"/>
            <a:ext cx="411480" cy="411480"/>
          </a:xfrm>
          <a:prstGeom prst="ellipse">
            <a:avLst/>
          </a:prstGeom>
          <a:solidFill>
            <a:srgbClr val="1E2761"/>
          </a:solidFill>
          <a:ln/>
        </p:spPr>
        <p:txBody>
          <a:bodyPr/>
          <a:p/>
        </p:txBody>
      </p:sp>
      <p:sp>
        <p:nvSpPr>
          <p:cNvPr id="18" name="Text 16"/>
          <p:cNvSpPr/>
          <p:nvPr/>
        </p:nvSpPr>
        <p:spPr>
          <a:xfrm>
            <a:off x="457200" y="2011680"/>
            <a:ext cx="411480" cy="411480"/>
          </a:xfrm>
          <a:prstGeom prst="rect">
            <a:avLst/>
          </a:prstGeom>
          <a:noFill/>
          <a:ln/>
        </p:spPr>
        <p:txBody>
          <a:bodyPr wrap="square" rtlCol="0" anchor="ctr">
            <a:normAutofit/>
          </a:bodyPr>
          <a:lstStyle/>
          <a:p>
            <a:pPr algn="ctr" indent="0" marL="0">
              <a:buNone/>
            </a:pPr>
            <a:r>
              <a:rPr lang="en-US" sz="1600" dirty="0">
                <a:solidFill>
                  <a:srgbClr val="FFFFFF"/>
                </a:solidFill>
                <a:latin typeface="微软雅黑" pitchFamily="34" charset="0"/>
                <a:ea typeface="Arial Black" pitchFamily="34" charset="-122"/>
                <a:cs typeface="Arial Black" pitchFamily="34" charset="-120"/>
              </a:rPr>
              <a:t>2</a:t>
            </a:r>
            <a:endParaRPr lang="en-US" sz="1600" dirty="0"/>
          </a:p>
        </p:txBody>
      </p:sp>
      <p:sp>
        <p:nvSpPr>
          <p:cNvPr id="19" name="Shape 17"/>
          <p:cNvSpPr/>
          <p:nvPr/>
        </p:nvSpPr>
        <p:spPr>
          <a:xfrm>
            <a:off x="640080" y="2423160"/>
            <a:ext cx="36576" cy="457200"/>
          </a:xfrm>
          <a:prstGeom prst="rect">
            <a:avLst/>
          </a:prstGeom>
          <a:solidFill>
            <a:srgbClr val="DDDDDD"/>
          </a:solidFill>
          <a:ln/>
        </p:spPr>
        <p:txBody>
          <a:bodyPr/>
          <a:p/>
        </p:txBody>
      </p:sp>
      <p:sp>
        <p:nvSpPr>
          <p:cNvPr id="20" name="Shape 18"/>
          <p:cNvSpPr/>
          <p:nvPr/>
        </p:nvSpPr>
        <p:spPr>
          <a:xfrm>
            <a:off x="1097280" y="1965960"/>
            <a:ext cx="7589520" cy="640080"/>
          </a:xfrm>
          <a:prstGeom prst="rect">
            <a:avLst>
              <a:gd name="adj" fmla="val 8571"/>
            </a:avLst>
          </a:prstGeom>
          <a:solidFill>
            <a:srgbClr val="1A2A50">
              <a:alpha val="70000"/>
            </a:srgbClr>
          </a:solidFill>
          <a:ln/>
          <a:effectLst>
            <a:outerShdw sx="100000" sy="100000" kx="0" ky="0" algn="bl" rotWithShape="0" blurRad="38100" dist="12700" dir="16200000">
              <a:srgbClr val="000000">
                <a:alpha val="4000"/>
              </a:srgbClr>
            </a:outerShdw>
          </a:effectLst>
        </p:spPr>
        <p:txBody>
          <a:bodyPr/>
          <a:p/>
        </p:txBody>
      </p:sp>
      <p:sp>
        <p:nvSpPr>
          <p:cNvPr id="21" name="Text 19"/>
          <p:cNvSpPr/>
          <p:nvPr/>
        </p:nvSpPr>
        <p:spPr>
          <a:xfrm>
            <a:off x="1280160" y="2011680"/>
            <a:ext cx="3657600" cy="274320"/>
          </a:xfrm>
          <a:prstGeom prst="rect">
            <a:avLst/>
          </a:prstGeom>
          <a:noFill/>
          <a:ln/>
        </p:spPr>
        <p:txBody>
          <a:bodyPr wrap="square" rtlCol="0" anchor="ctr">
            <a:normAutofit/>
          </a:bodyPr>
          <a:lstStyle/>
          <a:p>
            <a:pPr indent="0" marL="0">
              <a:buNone/>
            </a:pPr>
            <a:r>
              <a:rPr lang="en-US" sz="1400" dirty="0">
                <a:solidFill>
                  <a:srgbClr val="FFFFFF"/>
                </a:solidFill>
                <a:latin typeface="微软雅黑" pitchFamily="34" charset="0"/>
                <a:ea typeface="Arial Black" pitchFamily="34" charset="-122"/>
                <a:cs typeface="Arial Black" pitchFamily="34" charset="-120"/>
              </a:rPr>
              <a:t>系统录入</a:t>
            </a:r>
            <a:endParaRPr lang="en-US" sz="1400" dirty="0"/>
          </a:p>
        </p:txBody>
      </p:sp>
      <p:sp>
        <p:nvSpPr>
          <p:cNvPr id="22" name="Text 20"/>
          <p:cNvSpPr/>
          <p:nvPr/>
        </p:nvSpPr>
        <p:spPr>
          <a:xfrm>
            <a:off x="1280160" y="2286000"/>
            <a:ext cx="6858000" cy="274320"/>
          </a:xfrm>
          <a:prstGeom prst="rect">
            <a:avLst/>
          </a:prstGeom>
          <a:noFill/>
          <a:ln/>
        </p:spPr>
        <p:txBody>
          <a:bodyPr wrap="square" rtlCol="0" anchor="ctr">
            <a:normAutofit/>
          </a:bodyPr>
          <a:lstStyle/>
          <a:p>
            <a:pPr indent="0" marL="0">
              <a:buNone/>
            </a:pPr>
            <a:r>
              <a:rPr lang="en-US" sz="1050" dirty="0">
                <a:solidFill>
                  <a:srgbClr val="FFFFFF"/>
                </a:solidFill>
                <a:latin typeface="微软雅黑" pitchFamily="34" charset="0"/>
                <a:ea typeface="Calibri" pitchFamily="34" charset="-122"/>
                <a:cs typeface="Calibri" pitchFamily="34" charset="-120"/>
              </a:rPr>
              <a:t>登录GYMGO系统，进入体测模块，逐项录入测试数据</a:t>
            </a:r>
            <a:endParaRPr lang="en-US" sz="1050" dirty="0"/>
          </a:p>
        </p:txBody>
      </p:sp>
      <p:sp>
        <p:nvSpPr>
          <p:cNvPr id="23" name="Shape 21"/>
          <p:cNvSpPr/>
          <p:nvPr/>
        </p:nvSpPr>
        <p:spPr>
          <a:xfrm>
            <a:off x="457200" y="2880360"/>
            <a:ext cx="411480" cy="411480"/>
          </a:xfrm>
          <a:prstGeom prst="ellipse">
            <a:avLst/>
          </a:prstGeom>
          <a:solidFill>
            <a:srgbClr val="FF6B35"/>
          </a:solidFill>
          <a:ln/>
        </p:spPr>
        <p:txBody>
          <a:bodyPr/>
          <a:p/>
        </p:txBody>
      </p:sp>
      <p:sp>
        <p:nvSpPr>
          <p:cNvPr id="24" name="Text 22"/>
          <p:cNvSpPr/>
          <p:nvPr/>
        </p:nvSpPr>
        <p:spPr>
          <a:xfrm>
            <a:off x="457200" y="2880360"/>
            <a:ext cx="411480" cy="411480"/>
          </a:xfrm>
          <a:prstGeom prst="rect">
            <a:avLst/>
          </a:prstGeom>
          <a:noFill/>
          <a:ln/>
        </p:spPr>
        <p:txBody>
          <a:bodyPr wrap="square" rtlCol="0" anchor="ctr">
            <a:normAutofit/>
          </a:bodyPr>
          <a:lstStyle/>
          <a:p>
            <a:pPr algn="ctr" indent="0" marL="0">
              <a:buNone/>
            </a:pPr>
            <a:r>
              <a:rPr lang="en-US" sz="1600" dirty="0">
                <a:solidFill>
                  <a:srgbClr val="FFFFFF"/>
                </a:solidFill>
                <a:latin typeface="微软雅黑" pitchFamily="34" charset="0"/>
                <a:ea typeface="Arial Black" pitchFamily="34" charset="-122"/>
                <a:cs typeface="Arial Black" pitchFamily="34" charset="-120"/>
              </a:rPr>
              <a:t>3</a:t>
            </a:r>
            <a:endParaRPr lang="en-US" sz="1600" dirty="0"/>
          </a:p>
        </p:txBody>
      </p:sp>
      <p:sp>
        <p:nvSpPr>
          <p:cNvPr id="25" name="Shape 23"/>
          <p:cNvSpPr/>
          <p:nvPr/>
        </p:nvSpPr>
        <p:spPr>
          <a:xfrm>
            <a:off x="640080" y="3291840"/>
            <a:ext cx="36576" cy="457200"/>
          </a:xfrm>
          <a:prstGeom prst="rect">
            <a:avLst/>
          </a:prstGeom>
          <a:solidFill>
            <a:srgbClr val="DDDDDD"/>
          </a:solidFill>
          <a:ln/>
        </p:spPr>
        <p:txBody>
          <a:bodyPr/>
          <a:p/>
        </p:txBody>
      </p:sp>
      <p:sp>
        <p:nvSpPr>
          <p:cNvPr id="26" name="Shape 24"/>
          <p:cNvSpPr/>
          <p:nvPr/>
        </p:nvSpPr>
        <p:spPr>
          <a:xfrm>
            <a:off x="1097280" y="2834640"/>
            <a:ext cx="7589520" cy="640080"/>
          </a:xfrm>
          <a:prstGeom prst="rect">
            <a:avLst>
              <a:gd name="adj" fmla="val 8571"/>
            </a:avLst>
          </a:prstGeom>
          <a:solidFill>
            <a:srgbClr val="1A2A50">
              <a:alpha val="70000"/>
            </a:srgbClr>
          </a:solidFill>
          <a:ln/>
          <a:effectLst>
            <a:outerShdw sx="100000" sy="100000" kx="0" ky="0" algn="bl" rotWithShape="0" blurRad="38100" dist="12700" dir="16200000">
              <a:srgbClr val="000000">
                <a:alpha val="4000"/>
              </a:srgbClr>
            </a:outerShdw>
          </a:effectLst>
        </p:spPr>
        <p:txBody>
          <a:bodyPr/>
          <a:p/>
        </p:txBody>
      </p:sp>
      <p:sp>
        <p:nvSpPr>
          <p:cNvPr id="27" name="Text 25"/>
          <p:cNvSpPr/>
          <p:nvPr/>
        </p:nvSpPr>
        <p:spPr>
          <a:xfrm>
            <a:off x="1280160" y="2880360"/>
            <a:ext cx="3657600" cy="274320"/>
          </a:xfrm>
          <a:prstGeom prst="rect">
            <a:avLst/>
          </a:prstGeom>
          <a:noFill/>
          <a:ln/>
        </p:spPr>
        <p:txBody>
          <a:bodyPr wrap="square" rtlCol="0" anchor="ctr">
            <a:normAutofit/>
          </a:bodyPr>
          <a:lstStyle/>
          <a:p>
            <a:pPr indent="0" marL="0">
              <a:buNone/>
            </a:pPr>
            <a:r>
              <a:rPr lang="en-US" sz="1400" dirty="0">
                <a:solidFill>
                  <a:srgbClr val="FFFFFF"/>
                </a:solidFill>
                <a:latin typeface="微软雅黑" pitchFamily="34" charset="0"/>
                <a:ea typeface="Arial Black" pitchFamily="34" charset="-122"/>
                <a:cs typeface="Arial Black" pitchFamily="34" charset="-120"/>
              </a:rPr>
              <a:t>生成报告</a:t>
            </a:r>
            <a:endParaRPr lang="en-US" sz="1400" dirty="0"/>
          </a:p>
        </p:txBody>
      </p:sp>
      <p:sp>
        <p:nvSpPr>
          <p:cNvPr id="28" name="Text 26"/>
          <p:cNvSpPr/>
          <p:nvPr/>
        </p:nvSpPr>
        <p:spPr>
          <a:xfrm>
            <a:off x="1280160" y="3154680"/>
            <a:ext cx="6858000" cy="274320"/>
          </a:xfrm>
          <a:prstGeom prst="rect">
            <a:avLst/>
          </a:prstGeom>
          <a:noFill/>
          <a:ln/>
        </p:spPr>
        <p:txBody>
          <a:bodyPr wrap="square" rtlCol="0" anchor="ctr">
            <a:normAutofit/>
          </a:bodyPr>
          <a:lstStyle/>
          <a:p>
            <a:pPr indent="0" marL="0">
              <a:buNone/>
            </a:pPr>
            <a:r>
              <a:rPr lang="en-US" sz="1050" dirty="0">
                <a:solidFill>
                  <a:srgbClr val="FFFFFF"/>
                </a:solidFill>
                <a:latin typeface="微软雅黑" pitchFamily="34" charset="0"/>
                <a:ea typeface="Calibri" pitchFamily="34" charset="-122"/>
                <a:cs typeface="Calibri" pitchFamily="34" charset="-120"/>
              </a:rPr>
              <a:t>系统自动生成雷达图、评分报告，一键导出PDF版本</a:t>
            </a:r>
            <a:endParaRPr lang="en-US" sz="1050" dirty="0"/>
          </a:p>
        </p:txBody>
      </p:sp>
      <p:sp>
        <p:nvSpPr>
          <p:cNvPr id="29" name="Shape 27"/>
          <p:cNvSpPr/>
          <p:nvPr/>
        </p:nvSpPr>
        <p:spPr>
          <a:xfrm>
            <a:off x="457200" y="3749040"/>
            <a:ext cx="411480" cy="411480"/>
          </a:xfrm>
          <a:prstGeom prst="ellipse">
            <a:avLst/>
          </a:prstGeom>
          <a:solidFill>
            <a:srgbClr val="1E2761"/>
          </a:solidFill>
          <a:ln/>
        </p:spPr>
        <p:txBody>
          <a:bodyPr/>
          <a:p/>
        </p:txBody>
      </p:sp>
      <p:sp>
        <p:nvSpPr>
          <p:cNvPr id="30" name="Text 28"/>
          <p:cNvSpPr/>
          <p:nvPr/>
        </p:nvSpPr>
        <p:spPr>
          <a:xfrm>
            <a:off x="457200" y="3749040"/>
            <a:ext cx="411480" cy="411480"/>
          </a:xfrm>
          <a:prstGeom prst="rect">
            <a:avLst/>
          </a:prstGeom>
          <a:noFill/>
          <a:ln/>
        </p:spPr>
        <p:txBody>
          <a:bodyPr wrap="square" rtlCol="0" anchor="ctr">
            <a:normAutofit/>
          </a:bodyPr>
          <a:lstStyle/>
          <a:p>
            <a:pPr algn="ctr" indent="0" marL="0">
              <a:buNone/>
            </a:pPr>
            <a:r>
              <a:rPr lang="en-US" sz="1600" dirty="0">
                <a:solidFill>
                  <a:srgbClr val="FFFFFF"/>
                </a:solidFill>
                <a:latin typeface="微软雅黑" pitchFamily="34" charset="0"/>
                <a:ea typeface="Arial Black" pitchFamily="34" charset="-122"/>
                <a:cs typeface="Arial Black" pitchFamily="34" charset="-120"/>
              </a:rPr>
              <a:t>4</a:t>
            </a:r>
            <a:endParaRPr lang="en-US" sz="1600" dirty="0"/>
          </a:p>
        </p:txBody>
      </p:sp>
      <p:sp>
        <p:nvSpPr>
          <p:cNvPr id="31" name="Shape 29"/>
          <p:cNvSpPr/>
          <p:nvPr/>
        </p:nvSpPr>
        <p:spPr>
          <a:xfrm>
            <a:off x="1097280" y="3703320"/>
            <a:ext cx="7589520" cy="640080"/>
          </a:xfrm>
          <a:prstGeom prst="rect">
            <a:avLst>
              <a:gd name="adj" fmla="val 8571"/>
            </a:avLst>
          </a:prstGeom>
          <a:solidFill>
            <a:srgbClr val="1A2A50">
              <a:alpha val="70000"/>
            </a:srgbClr>
          </a:solidFill>
          <a:ln/>
          <a:effectLst>
            <a:outerShdw sx="100000" sy="100000" kx="0" ky="0" algn="bl" rotWithShape="0" blurRad="38100" dist="12700" dir="16200000">
              <a:srgbClr val="000000">
                <a:alpha val="4000"/>
              </a:srgbClr>
            </a:outerShdw>
          </a:effectLst>
        </p:spPr>
        <p:txBody>
          <a:bodyPr/>
          <a:p/>
        </p:txBody>
      </p:sp>
      <p:sp>
        <p:nvSpPr>
          <p:cNvPr id="32" name="Text 30"/>
          <p:cNvSpPr/>
          <p:nvPr/>
        </p:nvSpPr>
        <p:spPr>
          <a:xfrm>
            <a:off x="1280160" y="3749040"/>
            <a:ext cx="3657600" cy="274320"/>
          </a:xfrm>
          <a:prstGeom prst="rect">
            <a:avLst/>
          </a:prstGeom>
          <a:noFill/>
          <a:ln/>
        </p:spPr>
        <p:txBody>
          <a:bodyPr wrap="square" rtlCol="0" anchor="ctr">
            <a:normAutofit/>
          </a:bodyPr>
          <a:lstStyle/>
          <a:p>
            <a:pPr indent="0" marL="0">
              <a:buNone/>
            </a:pPr>
            <a:r>
              <a:rPr lang="en-US" sz="1400" dirty="0">
                <a:solidFill>
                  <a:srgbClr val="FFFFFF"/>
                </a:solidFill>
                <a:latin typeface="微软雅黑" pitchFamily="34" charset="0"/>
                <a:ea typeface="Arial Black" pitchFamily="34" charset="-122"/>
                <a:cs typeface="Arial Black" pitchFamily="34" charset="-120"/>
              </a:rPr>
              <a:t>发送家长</a:t>
            </a:r>
            <a:endParaRPr lang="en-US" sz="1400" dirty="0"/>
          </a:p>
        </p:txBody>
      </p:sp>
      <p:sp>
        <p:nvSpPr>
          <p:cNvPr id="33" name="Text 31"/>
          <p:cNvSpPr/>
          <p:nvPr/>
        </p:nvSpPr>
        <p:spPr>
          <a:xfrm>
            <a:off x="1280160" y="4023360"/>
            <a:ext cx="6858000" cy="274320"/>
          </a:xfrm>
          <a:prstGeom prst="rect">
            <a:avLst/>
          </a:prstGeom>
          <a:noFill/>
          <a:ln/>
        </p:spPr>
        <p:txBody>
          <a:bodyPr wrap="square" rtlCol="0" anchor="ctr">
            <a:normAutofit/>
          </a:bodyPr>
          <a:lstStyle/>
          <a:p>
            <a:pPr indent="0" marL="0">
              <a:buNone/>
            </a:pPr>
            <a:r>
              <a:rPr lang="en-US" sz="1050" dirty="0">
                <a:solidFill>
                  <a:srgbClr val="FFFFFF"/>
                </a:solidFill>
                <a:latin typeface="微软雅黑" pitchFamily="34" charset="0"/>
                <a:ea typeface="Calibri" pitchFamily="34" charset="-122"/>
                <a:cs typeface="Calibri" pitchFamily="34" charset="-120"/>
              </a:rPr>
              <a:t>通过微信/邮件发送报告给家长，预约解读时间</a:t>
            </a:r>
            <a:endParaRPr lang="en-US" sz="1050" dirty="0"/>
          </a:p>
        </p:txBody>
      </p:sp>
      <p:sp>
        <p:nvSpPr>
          <p:cNvPr id="34" name="Shape 32"/>
          <p:cNvSpPr/>
          <p:nvPr/>
        </p:nvSpPr>
        <p:spPr>
          <a:xfrm>
            <a:off x="457200" y="4572000"/>
            <a:ext cx="8229600" cy="365760"/>
          </a:xfrm>
          <a:prstGeom prst="rect">
            <a:avLst>
              <a:gd name="adj" fmla="val 10000"/>
            </a:avLst>
          </a:prstGeom>
          <a:solidFill>
            <a:srgbClr val="FFE8DD"/>
          </a:solidFill>
          <a:ln/>
        </p:spPr>
        <p:txBody>
          <a:bodyPr/>
          <a:p/>
        </p:txBody>
      </p:sp>
      <p:sp>
        <p:nvSpPr>
          <p:cNvPr id="35" name="Text 33"/>
          <p:cNvSpPr/>
          <p:nvPr/>
        </p:nvSpPr>
        <p:spPr>
          <a:xfrm>
            <a:off x="640080" y="4572000"/>
            <a:ext cx="7863840" cy="365760"/>
          </a:xfrm>
          <a:prstGeom prst="rect">
            <a:avLst/>
          </a:prstGeom>
          <a:noFill/>
          <a:ln/>
        </p:spPr>
        <p:txBody>
          <a:bodyPr wrap="square" rtlCol="0" anchor="ctr">
            <a:normAutofit/>
          </a:bodyPr>
          <a:lstStyle/>
          <a:p>
            <a:pPr indent="0" marL="0">
              <a:buNone/>
            </a:pPr>
            <a:r>
              <a:rPr lang="en-US" sz="1100" b="1" dirty="0">
                <a:solidFill>
                  <a:srgbClr val="FF6B35"/>
                </a:solidFill>
                <a:latin typeface="微软雅黑" pitchFamily="34" charset="0"/>
                <a:ea typeface="Calibri" pitchFamily="34" charset="-122"/>
                <a:cs typeface="Calibri" pitchFamily="34" charset="-120"/>
              </a:rPr>
              <a:t>关键要求：体测完成后当天完成系统录入，确保数据新鲜度</a:t>
            </a:r>
            <a:endParaRPr lang="en-US" sz="1100" dirty="0"/>
          </a:p>
        </p:txBody>
      </p:sp>
      <p:sp>
        <p:nvSpPr>
          <p:cNvPr id="36" name="Rectangle 35"/>
          <p:cNvSpPr/>
          <p:nvPr/>
        </p:nvSpPr>
        <p:spPr>
          <a:xfrm>
            <a:off x="0" y="0"/>
            <a:ext cx="9144000" cy="4114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4371975"/>
            <a:ext cx="9144000" cy="771525"/>
          </a:xfrm>
          <a:prstGeom prst="rect">
            <a:avLst/>
          </a:prstGeom>
          <a:solidFill>
            <a:srgbClr val="14244D">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6B35"/>
          </a:solidFill>
          <a:ln/>
        </p:spPr>
        <p:txBody>
          <a:bodyPr/>
          <a:p/>
        </p:txBody>
      </p:sp>
      <p:sp>
        <p:nvSpPr>
          <p:cNvPr id="3" name="Shape 1"/>
          <p:cNvSpPr/>
          <p:nvPr/>
        </p:nvSpPr>
        <p:spPr>
          <a:xfrm>
            <a:off x="0" y="5088636"/>
            <a:ext cx="9144000" cy="54864"/>
          </a:xfrm>
          <a:prstGeom prst="rect">
            <a:avLst/>
          </a:prstGeom>
          <a:solidFill>
            <a:srgbClr val="1E2761"/>
          </a:solidFill>
          <a:ln/>
        </p:spPr>
        <p:txBody>
          <a:bodyPr/>
          <a:p/>
        </p:txBody>
      </p:sp>
      <p:sp>
        <p:nvSpPr>
          <p:cNvPr id="4" name="Shape 2"/>
          <p:cNvSpPr/>
          <p:nvPr/>
        </p:nvSpPr>
        <p:spPr>
          <a:xfrm>
            <a:off x="457200" y="228600"/>
            <a:ext cx="1463040" cy="292608"/>
          </a:xfrm>
          <a:prstGeom prst="rect">
            <a:avLst>
              <a:gd name="adj" fmla="val 12500"/>
            </a:avLst>
          </a:prstGeom>
          <a:solidFill>
            <a:srgbClr val="FFE8DD"/>
          </a:solidFill>
          <a:ln/>
        </p:spPr>
        <p:txBody>
          <a:bodyPr/>
          <a:p/>
        </p:txBody>
      </p:sp>
      <p:sp>
        <p:nvSpPr>
          <p:cNvPr id="5" name="Text 3"/>
          <p:cNvSpPr/>
          <p:nvPr/>
        </p:nvSpPr>
        <p:spPr>
          <a:xfrm>
            <a:off x="457200" y="228600"/>
            <a:ext cx="1463040" cy="292608"/>
          </a:xfrm>
          <a:prstGeom prst="rect">
            <a:avLst/>
          </a:prstGeom>
          <a:noFill/>
          <a:ln/>
        </p:spPr>
        <p:txBody>
          <a:bodyPr wrap="square" rtlCol="0" anchor="ctr">
            <a:normAutofit/>
          </a:bodyPr>
          <a:lstStyle/>
          <a:p>
            <a:pPr algn="ctr" indent="0" marL="0">
              <a:buNone/>
            </a:pPr>
            <a:r>
              <a:rPr lang="en-US" sz="1000" b="1" dirty="0">
                <a:solidFill>
                  <a:srgbClr val="FF6B35"/>
                </a:solidFill>
                <a:latin typeface="微软雅黑" pitchFamily="34" charset="0"/>
                <a:ea typeface="Calibri" pitchFamily="34" charset="-122"/>
                <a:cs typeface="Calibri" pitchFamily="34" charset="-120"/>
              </a:rPr>
              <a:t>体测流程6步</a:t>
            </a:r>
            <a:endParaRPr lang="en-US" sz="1000" dirty="0"/>
          </a:p>
        </p:txBody>
      </p:sp>
      <p:sp>
        <p:nvSpPr>
          <p:cNvPr id="6" name="Text 4"/>
          <p:cNvSpPr/>
          <p:nvPr/>
        </p:nvSpPr>
        <p:spPr>
          <a:xfrm>
            <a:off x="457200" y="182880"/>
            <a:ext cx="8229600" cy="502920"/>
          </a:xfrm>
          <a:prstGeom prst="rect">
            <a:avLst/>
          </a:prstGeom>
          <a:noFill/>
          <a:ln/>
        </p:spPr>
        <p:txBody>
          <a:bodyPr wrap="square" rtlCol="0" anchor="b">
            <a:normAutofit/>
          </a:bodyPr>
          <a:lstStyle/>
          <a:p>
            <a:pPr indent="0" marL="0">
              <a:buNone/>
            </a:pPr>
            <a:r>
              <a:rPr lang="en-US" sz="2600" dirty="0">
                <a:solidFill>
                  <a:srgbClr val="FFFFFF"/>
                </a:solidFill>
                <a:latin typeface="微软雅黑" pitchFamily="34" charset="0"/>
                <a:ea typeface="Arial Black" pitchFamily="34" charset="-122"/>
                <a:cs typeface="Arial Black" pitchFamily="34" charset="-120"/>
              </a:rPr>
              <a:t>Step 5：体测解读（新客24h / 会员48h内）</a:t>
            </a:r>
            <a:endParaRPr lang="en-US" sz="2600" dirty="0"/>
          </a:p>
        </p:txBody>
      </p:sp>
      <p:sp>
        <p:nvSpPr>
          <p:cNvPr id="7" name="Text 5"/>
          <p:cNvSpPr/>
          <p:nvPr/>
        </p:nvSpPr>
        <p:spPr>
          <a:xfrm>
            <a:off x="457200" y="658368"/>
            <a:ext cx="8229600" cy="274320"/>
          </a:xfrm>
          <a:prstGeom prst="rect">
            <a:avLst/>
          </a:prstGeom>
          <a:noFill/>
          <a:ln/>
        </p:spPr>
        <p:txBody>
          <a:bodyPr wrap="square" rtlCol="0" anchor="ctr">
            <a:normAutofit/>
          </a:bodyPr>
          <a:lstStyle/>
          <a:p>
            <a:pPr indent="0" marL="0">
              <a:buNone/>
            </a:pPr>
            <a:r>
              <a:rPr lang="en-US" sz="1200" dirty="0">
                <a:solidFill>
                  <a:srgbClr val="FFFFFF"/>
                </a:solidFill>
                <a:latin typeface="微软雅黑" pitchFamily="34" charset="0"/>
                <a:ea typeface="Calibri" pitchFamily="34" charset="-122"/>
                <a:cs typeface="Calibri" pitchFamily="34" charset="-120"/>
              </a:rPr>
              <a:t>核心解读逻辑6步法</a:t>
            </a:r>
            <a:endParaRPr lang="en-US" sz="1200" dirty="0"/>
          </a:p>
        </p:txBody>
      </p:sp>
      <p:sp>
        <p:nvSpPr>
          <p:cNvPr id="8" name="Text 6"/>
          <p:cNvSpPr/>
          <p:nvPr/>
        </p:nvSpPr>
        <p:spPr>
          <a:xfrm>
            <a:off x="7955280" y="4777740"/>
            <a:ext cx="731520" cy="274320"/>
          </a:xfrm>
          <a:prstGeom prst="rect">
            <a:avLst/>
          </a:prstGeom>
          <a:noFill/>
          <a:ln/>
        </p:spPr>
        <p:txBody>
          <a:bodyPr wrap="square" rtlCol="0" anchor="ctr">
            <a:normAutofit/>
          </a:bodyPr>
          <a:lstStyle/>
          <a:p>
            <a:pPr algn="r" indent="0" marL="0">
              <a:buNone/>
            </a:pPr>
            <a:r>
              <a:rPr lang="en-US" sz="900" dirty="0">
                <a:solidFill>
                  <a:srgbClr val="FFFFFF"/>
                </a:solidFill>
                <a:latin typeface="微软雅黑" pitchFamily="34" charset="0"/>
                <a:ea typeface="Calibri" pitchFamily="34" charset="-122"/>
                <a:cs typeface="Calibri" pitchFamily="34" charset="-120"/>
              </a:rPr>
              <a:t>9 / 15</a:t>
            </a:r>
            <a:endParaRPr lang="en-US" sz="900" dirty="0"/>
          </a:p>
        </p:txBody>
      </p:sp>
      <p:sp>
        <p:nvSpPr>
          <p:cNvPr id="9" name="Shape 7"/>
          <p:cNvSpPr/>
          <p:nvPr/>
        </p:nvSpPr>
        <p:spPr>
          <a:xfrm>
            <a:off x="457200" y="182880"/>
            <a:ext cx="411480" cy="411480"/>
          </a:xfrm>
          <a:prstGeom prst="ellipse">
            <a:avLst/>
          </a:prstGeom>
          <a:solidFill>
            <a:srgbClr val="FF6B35"/>
          </a:solidFill>
          <a:ln/>
        </p:spPr>
        <p:txBody>
          <a:bodyPr/>
          <a:p/>
        </p:txBody>
      </p:sp>
      <p:sp>
        <p:nvSpPr>
          <p:cNvPr id="10" name="Text 8"/>
          <p:cNvSpPr/>
          <p:nvPr/>
        </p:nvSpPr>
        <p:spPr>
          <a:xfrm>
            <a:off x="457200" y="182880"/>
            <a:ext cx="411480" cy="411480"/>
          </a:xfrm>
          <a:prstGeom prst="rect">
            <a:avLst/>
          </a:prstGeom>
          <a:noFill/>
          <a:ln/>
        </p:spPr>
        <p:txBody>
          <a:bodyPr wrap="square" rtlCol="0" anchor="ctr">
            <a:normAutofit/>
          </a:bodyPr>
          <a:lstStyle/>
          <a:p>
            <a:pPr algn="ctr" indent="0" marL="0">
              <a:buNone/>
            </a:pPr>
            <a:r>
              <a:rPr lang="en-US" sz="1600" dirty="0">
                <a:solidFill>
                  <a:srgbClr val="FFFFFF"/>
                </a:solidFill>
                <a:latin typeface="微软雅黑" pitchFamily="34" charset="0"/>
                <a:ea typeface="Arial Black" pitchFamily="34" charset="-122"/>
                <a:cs typeface="Arial Black" pitchFamily="34" charset="-120"/>
              </a:rPr>
              <a:t>5</a:t>
            </a:r>
            <a:endParaRPr lang="en-US" sz="1600" dirty="0"/>
          </a:p>
        </p:txBody>
      </p:sp>
      <p:sp>
        <p:nvSpPr>
          <p:cNvPr id="11" name="Shape 9"/>
          <p:cNvSpPr/>
          <p:nvPr/>
        </p:nvSpPr>
        <p:spPr>
          <a:xfrm>
            <a:off x="457200" y="960120"/>
            <a:ext cx="8229600" cy="502920"/>
          </a:xfrm>
          <a:prstGeom prst="rect">
            <a:avLst>
              <a:gd name="adj" fmla="val 10909"/>
            </a:avLst>
          </a:prstGeom>
          <a:solidFill>
            <a:srgbClr val="1A2A50">
              <a:alpha val="70000"/>
            </a:srgbClr>
          </a:solidFill>
          <a:ln/>
          <a:effectLst>
            <a:outerShdw sx="100000" sy="100000" kx="0" ky="0" algn="bl" rotWithShape="0" blurRad="38100" dist="12700" dir="16200000">
              <a:srgbClr val="000000">
                <a:alpha val="5000"/>
              </a:srgbClr>
            </a:outerShdw>
          </a:effectLst>
        </p:spPr>
        <p:txBody>
          <a:bodyPr/>
          <a:p/>
        </p:txBody>
      </p:sp>
      <p:sp>
        <p:nvSpPr>
          <p:cNvPr id="12" name="Text 10"/>
          <p:cNvSpPr/>
          <p:nvPr/>
        </p:nvSpPr>
        <p:spPr>
          <a:xfrm>
            <a:off x="640080" y="960120"/>
            <a:ext cx="7863840" cy="502920"/>
          </a:xfrm>
          <a:prstGeom prst="rect">
            <a:avLst/>
          </a:prstGeom>
          <a:noFill/>
          <a:ln/>
        </p:spPr>
        <p:txBody>
          <a:bodyPr wrap="square" rtlCol="0" anchor="ctr">
            <a:normAutofit/>
          </a:bodyPr>
          <a:lstStyle/>
          <a:p>
            <a:pPr indent="0" marL="0">
              <a:buNone/>
            </a:pPr>
            <a:r>
              <a:rPr lang="en-US" sz="1000" b="1" dirty="0">
                <a:solidFill>
                  <a:srgbClr val="FF6B35"/>
                </a:solidFill>
                <a:latin typeface="微软雅黑" pitchFamily="34" charset="0"/>
                <a:ea typeface="Calibri" pitchFamily="34" charset="-122"/>
                <a:cs typeface="Calibri" pitchFamily="34" charset="-120"/>
              </a:rPr>
              <a:t>F 特性：</a:t>
            </a:r>
            <a:pPr indent="0" marL="0">
              <a:buNone/>
            </a:pPr>
            <a:r>
              <a:rPr lang="en-US" sz="1000" dirty="0">
                <a:solidFill>
                  <a:srgbClr val="FFFFFF"/>
                </a:solidFill>
                <a:latin typeface="微软雅黑" pitchFamily="34" charset="0"/>
                <a:ea typeface="Calibri" pitchFamily="34" charset="-122"/>
                <a:cs typeface="Calibri" pitchFamily="34" charset="-120"/>
              </a:rPr>
              <a:t>6步标准化解读流程  </a:t>
            </a:r>
            <a:pPr indent="0" marL="0">
              <a:buNone/>
            </a:pPr>
            <a:r>
              <a:rPr lang="en-US" sz="1000" b="1" dirty="0">
                <a:solidFill>
                  <a:srgbClr val="FFFFFF"/>
                </a:solidFill>
                <a:latin typeface="微软雅黑" pitchFamily="34" charset="0"/>
                <a:ea typeface="Calibri" pitchFamily="34" charset="-122"/>
                <a:cs typeface="Calibri" pitchFamily="34" charset="-120"/>
              </a:rPr>
              <a:t>A 优势：</a:t>
            </a:r>
            <a:pPr indent="0" marL="0">
              <a:buNone/>
            </a:pPr>
            <a:r>
              <a:rPr lang="en-US" sz="1000" dirty="0">
                <a:solidFill>
                  <a:srgbClr val="FFFFFF"/>
                </a:solidFill>
                <a:latin typeface="微软雅黑" pitchFamily="34" charset="0"/>
                <a:ea typeface="Calibri" pitchFamily="34" charset="-122"/>
                <a:cs typeface="Calibri" pitchFamily="34" charset="-120"/>
              </a:rPr>
              <a:t>逻辑清晰有说服力  </a:t>
            </a:r>
            <a:pPr indent="0" marL="0">
              <a:buNone/>
            </a:pPr>
            <a:r>
              <a:rPr lang="en-US" sz="1000" b="1" dirty="0">
                <a:solidFill>
                  <a:srgbClr val="2ECC71"/>
                </a:solidFill>
                <a:latin typeface="微软雅黑" pitchFamily="34" charset="0"/>
                <a:ea typeface="Calibri" pitchFamily="34" charset="-122"/>
                <a:cs typeface="Calibri" pitchFamily="34" charset="-120"/>
              </a:rPr>
              <a:t>B 利益：</a:t>
            </a:r>
            <a:pPr indent="0" marL="0">
              <a:buNone/>
            </a:pPr>
            <a:r>
              <a:rPr lang="en-US" sz="1000" dirty="0">
                <a:solidFill>
                  <a:srgbClr val="FFFFFF"/>
                </a:solidFill>
                <a:latin typeface="微软雅黑" pitchFamily="34" charset="0"/>
                <a:ea typeface="Calibri" pitchFamily="34" charset="-122"/>
                <a:cs typeface="Calibri" pitchFamily="34" charset="-120"/>
              </a:rPr>
              <a:t>解读即关单，转化率&gt;=40%</a:t>
            </a:r>
            <a:endParaRPr lang="en-US" sz="1000" dirty="0"/>
          </a:p>
        </p:txBody>
      </p:sp>
      <p:sp>
        <p:nvSpPr>
          <p:cNvPr id="13" name="Shape 11"/>
          <p:cNvSpPr/>
          <p:nvPr/>
        </p:nvSpPr>
        <p:spPr>
          <a:xfrm>
            <a:off x="457200" y="1645920"/>
            <a:ext cx="2560320" cy="1371600"/>
          </a:xfrm>
          <a:prstGeom prst="rect">
            <a:avLst>
              <a:gd name="adj" fmla="val 4000"/>
            </a:avLst>
          </a:prstGeom>
          <a:solidFill>
            <a:srgbClr val="1A2A50">
              <a:alpha val="70000"/>
            </a:srgbClr>
          </a:solidFill>
          <a:ln/>
          <a:effectLst>
            <a:outerShdw sx="100000" sy="100000" kx="0" ky="0" algn="bl" rotWithShape="0" blurRad="38100" dist="12700" dir="16200000">
              <a:srgbClr val="000000">
                <a:alpha val="5000"/>
              </a:srgbClr>
            </a:outerShdw>
          </a:effectLst>
        </p:spPr>
        <p:txBody>
          <a:bodyPr/>
          <a:p/>
        </p:txBody>
      </p:sp>
      <p:sp>
        <p:nvSpPr>
          <p:cNvPr id="14" name="Shape 12"/>
          <p:cNvSpPr/>
          <p:nvPr/>
        </p:nvSpPr>
        <p:spPr>
          <a:xfrm>
            <a:off x="594360" y="1783080"/>
            <a:ext cx="365760" cy="365760"/>
          </a:xfrm>
          <a:prstGeom prst="ellipse">
            <a:avLst/>
          </a:prstGeom>
          <a:solidFill>
            <a:srgbClr val="FF6B35"/>
          </a:solidFill>
          <a:ln/>
        </p:spPr>
        <p:txBody>
          <a:bodyPr/>
          <a:p/>
        </p:txBody>
      </p:sp>
      <p:sp>
        <p:nvSpPr>
          <p:cNvPr id="15" name="Text 13"/>
          <p:cNvSpPr/>
          <p:nvPr/>
        </p:nvSpPr>
        <p:spPr>
          <a:xfrm>
            <a:off x="594360" y="1783080"/>
            <a:ext cx="365760" cy="365760"/>
          </a:xfrm>
          <a:prstGeom prst="rect">
            <a:avLst/>
          </a:prstGeom>
          <a:noFill/>
          <a:ln/>
        </p:spPr>
        <p:txBody>
          <a:bodyPr wrap="square" rtlCol="0" anchor="ctr">
            <a:normAutofit/>
          </a:bodyPr>
          <a:lstStyle/>
          <a:p>
            <a:pPr algn="ctr" indent="0" marL="0">
              <a:buNone/>
            </a:pPr>
            <a:r>
              <a:rPr lang="en-US" sz="1400" dirty="0">
                <a:solidFill>
                  <a:srgbClr val="FFFFFF"/>
                </a:solidFill>
                <a:latin typeface="微软雅黑" pitchFamily="34" charset="0"/>
                <a:ea typeface="Arial Black" pitchFamily="34" charset="-122"/>
                <a:cs typeface="Arial Black" pitchFamily="34" charset="-120"/>
              </a:rPr>
              <a:t>1</a:t>
            </a:r>
            <a:endParaRPr lang="en-US" sz="1400" dirty="0"/>
          </a:p>
        </p:txBody>
      </p:sp>
      <p:sp>
        <p:nvSpPr>
          <p:cNvPr id="16" name="Text 14"/>
          <p:cNvSpPr/>
          <p:nvPr/>
        </p:nvSpPr>
        <p:spPr>
          <a:xfrm>
            <a:off x="1051560" y="1783080"/>
            <a:ext cx="1783080" cy="365760"/>
          </a:xfrm>
          <a:prstGeom prst="rect">
            <a:avLst/>
          </a:prstGeom>
          <a:noFill/>
          <a:ln/>
        </p:spPr>
        <p:txBody>
          <a:bodyPr wrap="square" rtlCol="0" anchor="ctr">
            <a:normAutofit/>
          </a:bodyPr>
          <a:lstStyle/>
          <a:p>
            <a:pPr indent="0" marL="0">
              <a:buNone/>
            </a:pPr>
            <a:r>
              <a:rPr lang="en-US" sz="1400" dirty="0">
                <a:solidFill>
                  <a:srgbClr val="FFFFFF"/>
                </a:solidFill>
                <a:latin typeface="微软雅黑" pitchFamily="34" charset="0"/>
                <a:ea typeface="Arial Black" pitchFamily="34" charset="-122"/>
                <a:cs typeface="Arial Black" pitchFamily="34" charset="-120"/>
              </a:rPr>
              <a:t>问询</a:t>
            </a:r>
            <a:endParaRPr lang="en-US" sz="1400" dirty="0"/>
          </a:p>
        </p:txBody>
      </p:sp>
      <p:sp>
        <p:nvSpPr>
          <p:cNvPr id="17" name="Text 15"/>
          <p:cNvSpPr/>
          <p:nvPr/>
        </p:nvSpPr>
        <p:spPr>
          <a:xfrm>
            <a:off x="594360" y="2240280"/>
            <a:ext cx="2286000" cy="640080"/>
          </a:xfrm>
          <a:prstGeom prst="rect">
            <a:avLst/>
          </a:prstGeom>
          <a:noFill/>
          <a:ln/>
        </p:spPr>
        <p:txBody>
          <a:bodyPr wrap="square" rtlCol="0" anchor="t"/>
          <a:lstStyle/>
          <a:p>
            <a:pPr indent="0" marL="0">
              <a:buNone/>
            </a:pPr>
            <a:r>
              <a:rPr lang="en-US" sz="1050" dirty="0">
                <a:solidFill>
                  <a:srgbClr val="FFFFFF"/>
                </a:solidFill>
                <a:latin typeface="微软雅黑" pitchFamily="34" charset="0"/>
                <a:ea typeface="Calibri" pitchFamily="34" charset="-122"/>
                <a:cs typeface="Calibri" pitchFamily="34" charset="-120"/>
              </a:rPr>
              <a:t>了解家长对孩子身体情况的认知和担忧</a:t>
            </a:r>
            <a:endParaRPr lang="en-US" sz="1050" dirty="0"/>
          </a:p>
        </p:txBody>
      </p:sp>
      <p:sp>
        <p:nvSpPr>
          <p:cNvPr id="18" name="Shape 16"/>
          <p:cNvSpPr/>
          <p:nvPr/>
        </p:nvSpPr>
        <p:spPr>
          <a:xfrm>
            <a:off x="3246120" y="1645920"/>
            <a:ext cx="2560320" cy="1371600"/>
          </a:xfrm>
          <a:prstGeom prst="rect">
            <a:avLst>
              <a:gd name="adj" fmla="val 4000"/>
            </a:avLst>
          </a:prstGeom>
          <a:solidFill>
            <a:srgbClr val="1A2A50">
              <a:alpha val="70000"/>
            </a:srgbClr>
          </a:solidFill>
          <a:ln/>
          <a:effectLst>
            <a:outerShdw sx="100000" sy="100000" kx="0" ky="0" algn="bl" rotWithShape="0" blurRad="38100" dist="12700" dir="16200000">
              <a:srgbClr val="000000">
                <a:alpha val="5000"/>
              </a:srgbClr>
            </a:outerShdw>
          </a:effectLst>
        </p:spPr>
        <p:txBody>
          <a:bodyPr/>
          <a:p/>
        </p:txBody>
      </p:sp>
      <p:sp>
        <p:nvSpPr>
          <p:cNvPr id="19" name="Shape 17"/>
          <p:cNvSpPr/>
          <p:nvPr/>
        </p:nvSpPr>
        <p:spPr>
          <a:xfrm>
            <a:off x="3383280" y="1783080"/>
            <a:ext cx="365760" cy="365760"/>
          </a:xfrm>
          <a:prstGeom prst="ellipse">
            <a:avLst/>
          </a:prstGeom>
          <a:solidFill>
            <a:srgbClr val="E67E22"/>
          </a:solidFill>
          <a:ln/>
        </p:spPr>
        <p:txBody>
          <a:bodyPr/>
          <a:p/>
        </p:txBody>
      </p:sp>
      <p:sp>
        <p:nvSpPr>
          <p:cNvPr id="20" name="Text 18"/>
          <p:cNvSpPr/>
          <p:nvPr/>
        </p:nvSpPr>
        <p:spPr>
          <a:xfrm>
            <a:off x="3383280" y="1783080"/>
            <a:ext cx="365760" cy="365760"/>
          </a:xfrm>
          <a:prstGeom prst="rect">
            <a:avLst/>
          </a:prstGeom>
          <a:noFill/>
          <a:ln/>
        </p:spPr>
        <p:txBody>
          <a:bodyPr wrap="square" rtlCol="0" anchor="ctr">
            <a:normAutofit/>
          </a:bodyPr>
          <a:lstStyle/>
          <a:p>
            <a:pPr algn="ctr" indent="0" marL="0">
              <a:buNone/>
            </a:pPr>
            <a:r>
              <a:rPr lang="en-US" sz="1400" dirty="0">
                <a:solidFill>
                  <a:srgbClr val="FFFFFF"/>
                </a:solidFill>
                <a:latin typeface="微软雅黑" pitchFamily="34" charset="0"/>
                <a:ea typeface="Arial Black" pitchFamily="34" charset="-122"/>
                <a:cs typeface="Arial Black" pitchFamily="34" charset="-120"/>
              </a:rPr>
              <a:t>2</a:t>
            </a:r>
            <a:endParaRPr lang="en-US" sz="1400" dirty="0"/>
          </a:p>
        </p:txBody>
      </p:sp>
      <p:sp>
        <p:nvSpPr>
          <p:cNvPr id="21" name="Text 19"/>
          <p:cNvSpPr/>
          <p:nvPr/>
        </p:nvSpPr>
        <p:spPr>
          <a:xfrm>
            <a:off x="3840480" y="1783080"/>
            <a:ext cx="1783080" cy="365760"/>
          </a:xfrm>
          <a:prstGeom prst="rect">
            <a:avLst/>
          </a:prstGeom>
          <a:noFill/>
          <a:ln/>
        </p:spPr>
        <p:txBody>
          <a:bodyPr wrap="square" rtlCol="0" anchor="ctr">
            <a:normAutofit/>
          </a:bodyPr>
          <a:lstStyle/>
          <a:p>
            <a:pPr indent="0" marL="0">
              <a:buNone/>
            </a:pPr>
            <a:r>
              <a:rPr lang="en-US" sz="1400" dirty="0">
                <a:solidFill>
                  <a:srgbClr val="FFFFFF"/>
                </a:solidFill>
                <a:latin typeface="微软雅黑" pitchFamily="34" charset="0"/>
                <a:ea typeface="Arial Black" pitchFamily="34" charset="-122"/>
                <a:cs typeface="Arial Black" pitchFamily="34" charset="-120"/>
              </a:rPr>
              <a:t>分析原因</a:t>
            </a:r>
            <a:endParaRPr lang="en-US" sz="1400" dirty="0"/>
          </a:p>
        </p:txBody>
      </p:sp>
      <p:sp>
        <p:nvSpPr>
          <p:cNvPr id="22" name="Text 20"/>
          <p:cNvSpPr/>
          <p:nvPr/>
        </p:nvSpPr>
        <p:spPr>
          <a:xfrm>
            <a:off x="3383280" y="2240280"/>
            <a:ext cx="2286000" cy="640080"/>
          </a:xfrm>
          <a:prstGeom prst="rect">
            <a:avLst/>
          </a:prstGeom>
          <a:noFill/>
          <a:ln/>
        </p:spPr>
        <p:txBody>
          <a:bodyPr wrap="square" rtlCol="0" anchor="t"/>
          <a:lstStyle/>
          <a:p>
            <a:pPr indent="0" marL="0">
              <a:buNone/>
            </a:pPr>
            <a:r>
              <a:rPr lang="en-US" sz="1050" dirty="0">
                <a:solidFill>
                  <a:srgbClr val="FFFFFF"/>
                </a:solidFill>
                <a:latin typeface="微软雅黑" pitchFamily="34" charset="0"/>
                <a:ea typeface="Calibri" pitchFamily="34" charset="-122"/>
                <a:cs typeface="Calibri" pitchFamily="34" charset="-120"/>
              </a:rPr>
              <a:t>结合体测数据，分析孩子身体素质现状成因</a:t>
            </a:r>
            <a:endParaRPr lang="en-US" sz="1050" dirty="0"/>
          </a:p>
        </p:txBody>
      </p:sp>
      <p:sp>
        <p:nvSpPr>
          <p:cNvPr id="23" name="Shape 21"/>
          <p:cNvSpPr/>
          <p:nvPr/>
        </p:nvSpPr>
        <p:spPr>
          <a:xfrm>
            <a:off x="6035040" y="1645920"/>
            <a:ext cx="2560320" cy="1371600"/>
          </a:xfrm>
          <a:prstGeom prst="rect">
            <a:avLst>
              <a:gd name="adj" fmla="val 4000"/>
            </a:avLst>
          </a:prstGeom>
          <a:solidFill>
            <a:srgbClr val="1A2A50">
              <a:alpha val="70000"/>
            </a:srgbClr>
          </a:solidFill>
          <a:ln/>
          <a:effectLst>
            <a:outerShdw sx="100000" sy="100000" kx="0" ky="0" algn="bl" rotWithShape="0" blurRad="38100" dist="12700" dir="16200000">
              <a:srgbClr val="000000">
                <a:alpha val="5000"/>
              </a:srgbClr>
            </a:outerShdw>
          </a:effectLst>
        </p:spPr>
        <p:txBody>
          <a:bodyPr/>
          <a:p/>
        </p:txBody>
      </p:sp>
      <p:sp>
        <p:nvSpPr>
          <p:cNvPr id="24" name="Shape 22"/>
          <p:cNvSpPr/>
          <p:nvPr/>
        </p:nvSpPr>
        <p:spPr>
          <a:xfrm>
            <a:off x="6172200" y="1783080"/>
            <a:ext cx="365760" cy="365760"/>
          </a:xfrm>
          <a:prstGeom prst="ellipse">
            <a:avLst/>
          </a:prstGeom>
          <a:solidFill>
            <a:srgbClr val="1E2761"/>
          </a:solidFill>
          <a:ln/>
        </p:spPr>
        <p:txBody>
          <a:bodyPr/>
          <a:p/>
        </p:txBody>
      </p:sp>
      <p:sp>
        <p:nvSpPr>
          <p:cNvPr id="25" name="Text 23"/>
          <p:cNvSpPr/>
          <p:nvPr/>
        </p:nvSpPr>
        <p:spPr>
          <a:xfrm>
            <a:off x="6172200" y="1783080"/>
            <a:ext cx="365760" cy="365760"/>
          </a:xfrm>
          <a:prstGeom prst="rect">
            <a:avLst/>
          </a:prstGeom>
          <a:noFill/>
          <a:ln/>
        </p:spPr>
        <p:txBody>
          <a:bodyPr wrap="square" rtlCol="0" anchor="ctr">
            <a:normAutofit/>
          </a:bodyPr>
          <a:lstStyle/>
          <a:p>
            <a:pPr algn="ctr" indent="0" marL="0">
              <a:buNone/>
            </a:pPr>
            <a:r>
              <a:rPr lang="en-US" sz="1400" dirty="0">
                <a:solidFill>
                  <a:srgbClr val="FFFFFF"/>
                </a:solidFill>
                <a:latin typeface="微软雅黑" pitchFamily="34" charset="0"/>
                <a:ea typeface="Arial Black" pitchFamily="34" charset="-122"/>
                <a:cs typeface="Arial Black" pitchFamily="34" charset="-120"/>
              </a:rPr>
              <a:t>3</a:t>
            </a:r>
            <a:endParaRPr lang="en-US" sz="1400" dirty="0"/>
          </a:p>
        </p:txBody>
      </p:sp>
      <p:sp>
        <p:nvSpPr>
          <p:cNvPr id="26" name="Text 24"/>
          <p:cNvSpPr/>
          <p:nvPr/>
        </p:nvSpPr>
        <p:spPr>
          <a:xfrm>
            <a:off x="6629400" y="1783080"/>
            <a:ext cx="1783080" cy="365760"/>
          </a:xfrm>
          <a:prstGeom prst="rect">
            <a:avLst/>
          </a:prstGeom>
          <a:noFill/>
          <a:ln/>
        </p:spPr>
        <p:txBody>
          <a:bodyPr wrap="square" rtlCol="0" anchor="ctr">
            <a:normAutofit/>
          </a:bodyPr>
          <a:lstStyle/>
          <a:p>
            <a:pPr indent="0" marL="0">
              <a:buNone/>
            </a:pPr>
            <a:r>
              <a:rPr lang="en-US" sz="1400" dirty="0">
                <a:solidFill>
                  <a:srgbClr val="FFFFFF"/>
                </a:solidFill>
                <a:latin typeface="微软雅黑" pitchFamily="34" charset="0"/>
                <a:ea typeface="Arial Black" pitchFamily="34" charset="-122"/>
                <a:cs typeface="Arial Black" pitchFamily="34" charset="-120"/>
              </a:rPr>
              <a:t>给解决方案</a:t>
            </a:r>
            <a:endParaRPr lang="en-US" sz="1400" dirty="0"/>
          </a:p>
        </p:txBody>
      </p:sp>
      <p:sp>
        <p:nvSpPr>
          <p:cNvPr id="27" name="Text 25"/>
          <p:cNvSpPr/>
          <p:nvPr/>
        </p:nvSpPr>
        <p:spPr>
          <a:xfrm>
            <a:off x="6172200" y="2240280"/>
            <a:ext cx="2286000" cy="640080"/>
          </a:xfrm>
          <a:prstGeom prst="rect">
            <a:avLst/>
          </a:prstGeom>
          <a:noFill/>
          <a:ln/>
        </p:spPr>
        <p:txBody>
          <a:bodyPr wrap="square" rtlCol="0" anchor="t"/>
          <a:lstStyle/>
          <a:p>
            <a:pPr indent="0" marL="0">
              <a:buNone/>
            </a:pPr>
            <a:r>
              <a:rPr lang="en-US" sz="1050" dirty="0">
                <a:solidFill>
                  <a:srgbClr val="FFFFFF"/>
                </a:solidFill>
                <a:latin typeface="微软雅黑" pitchFamily="34" charset="0"/>
                <a:ea typeface="Calibri" pitchFamily="34" charset="-122"/>
                <a:cs typeface="Calibri" pitchFamily="34" charset="-120"/>
              </a:rPr>
              <a:t>针对性推荐课程方案，匹配孩子实际需求</a:t>
            </a:r>
            <a:endParaRPr lang="en-US" sz="1050" dirty="0"/>
          </a:p>
        </p:txBody>
      </p:sp>
      <p:sp>
        <p:nvSpPr>
          <p:cNvPr id="28" name="Shape 26"/>
          <p:cNvSpPr/>
          <p:nvPr/>
        </p:nvSpPr>
        <p:spPr>
          <a:xfrm>
            <a:off x="457200" y="3200400"/>
            <a:ext cx="2560320" cy="1371600"/>
          </a:xfrm>
          <a:prstGeom prst="rect">
            <a:avLst>
              <a:gd name="adj" fmla="val 4000"/>
            </a:avLst>
          </a:prstGeom>
          <a:solidFill>
            <a:srgbClr val="1A2A50">
              <a:alpha val="70000"/>
            </a:srgbClr>
          </a:solidFill>
          <a:ln/>
          <a:effectLst>
            <a:outerShdw sx="100000" sy="100000" kx="0" ky="0" algn="bl" rotWithShape="0" blurRad="38100" dist="12700" dir="16200000">
              <a:srgbClr val="000000">
                <a:alpha val="5000"/>
              </a:srgbClr>
            </a:outerShdw>
          </a:effectLst>
        </p:spPr>
        <p:txBody>
          <a:bodyPr/>
          <a:p/>
        </p:txBody>
      </p:sp>
      <p:sp>
        <p:nvSpPr>
          <p:cNvPr id="29" name="Shape 27"/>
          <p:cNvSpPr/>
          <p:nvPr/>
        </p:nvSpPr>
        <p:spPr>
          <a:xfrm>
            <a:off x="594360" y="3337560"/>
            <a:ext cx="365760" cy="365760"/>
          </a:xfrm>
          <a:prstGeom prst="ellipse">
            <a:avLst/>
          </a:prstGeom>
          <a:solidFill>
            <a:srgbClr val="8E44AD"/>
          </a:solidFill>
          <a:ln/>
        </p:spPr>
        <p:txBody>
          <a:bodyPr/>
          <a:p/>
        </p:txBody>
      </p:sp>
      <p:sp>
        <p:nvSpPr>
          <p:cNvPr id="30" name="Text 28"/>
          <p:cNvSpPr/>
          <p:nvPr/>
        </p:nvSpPr>
        <p:spPr>
          <a:xfrm>
            <a:off x="594360" y="3337560"/>
            <a:ext cx="365760" cy="365760"/>
          </a:xfrm>
          <a:prstGeom prst="rect">
            <a:avLst/>
          </a:prstGeom>
          <a:noFill/>
          <a:ln/>
        </p:spPr>
        <p:txBody>
          <a:bodyPr wrap="square" rtlCol="0" anchor="ctr">
            <a:normAutofit/>
          </a:bodyPr>
          <a:lstStyle/>
          <a:p>
            <a:pPr algn="ctr" indent="0" marL="0">
              <a:buNone/>
            </a:pPr>
            <a:r>
              <a:rPr lang="en-US" sz="1400" dirty="0">
                <a:solidFill>
                  <a:srgbClr val="FFFFFF"/>
                </a:solidFill>
                <a:latin typeface="微软雅黑" pitchFamily="34" charset="0"/>
                <a:ea typeface="Arial Black" pitchFamily="34" charset="-122"/>
                <a:cs typeface="Arial Black" pitchFamily="34" charset="-120"/>
              </a:rPr>
              <a:t>4</a:t>
            </a:r>
            <a:endParaRPr lang="en-US" sz="1400" dirty="0"/>
          </a:p>
        </p:txBody>
      </p:sp>
      <p:sp>
        <p:nvSpPr>
          <p:cNvPr id="31" name="Text 29"/>
          <p:cNvSpPr/>
          <p:nvPr/>
        </p:nvSpPr>
        <p:spPr>
          <a:xfrm>
            <a:off x="1051560" y="3337560"/>
            <a:ext cx="1783080" cy="365760"/>
          </a:xfrm>
          <a:prstGeom prst="rect">
            <a:avLst/>
          </a:prstGeom>
          <a:noFill/>
          <a:ln/>
        </p:spPr>
        <p:txBody>
          <a:bodyPr wrap="square" rtlCol="0" anchor="ctr">
            <a:normAutofit/>
          </a:bodyPr>
          <a:lstStyle/>
          <a:p>
            <a:pPr indent="0" marL="0">
              <a:buNone/>
            </a:pPr>
            <a:r>
              <a:rPr lang="en-US" sz="1400" dirty="0">
                <a:solidFill>
                  <a:srgbClr val="FFFFFF"/>
                </a:solidFill>
                <a:latin typeface="微软雅黑" pitchFamily="34" charset="0"/>
                <a:ea typeface="Arial Black" pitchFamily="34" charset="-122"/>
                <a:cs typeface="Arial Black" pitchFamily="34" charset="-120"/>
              </a:rPr>
              <a:t>成功案例</a:t>
            </a:r>
            <a:endParaRPr lang="en-US" sz="1400" dirty="0"/>
          </a:p>
        </p:txBody>
      </p:sp>
      <p:sp>
        <p:nvSpPr>
          <p:cNvPr id="32" name="Text 30"/>
          <p:cNvSpPr/>
          <p:nvPr/>
        </p:nvSpPr>
        <p:spPr>
          <a:xfrm>
            <a:off x="594360" y="3794760"/>
            <a:ext cx="2286000" cy="640080"/>
          </a:xfrm>
          <a:prstGeom prst="rect">
            <a:avLst/>
          </a:prstGeom>
          <a:noFill/>
          <a:ln/>
        </p:spPr>
        <p:txBody>
          <a:bodyPr wrap="square" rtlCol="0" anchor="t"/>
          <a:lstStyle/>
          <a:p>
            <a:pPr indent="0" marL="0">
              <a:buNone/>
            </a:pPr>
            <a:r>
              <a:rPr lang="en-US" sz="1050" dirty="0">
                <a:solidFill>
                  <a:srgbClr val="FFFFFF"/>
                </a:solidFill>
                <a:latin typeface="微软雅黑" pitchFamily="34" charset="0"/>
                <a:ea typeface="Calibri" pitchFamily="34" charset="-122"/>
                <a:cs typeface="Calibri" pitchFamily="34" charset="-120"/>
              </a:rPr>
              <a:t>分享同龄孩子的训练成果，增强家长信心</a:t>
            </a:r>
            <a:endParaRPr lang="en-US" sz="1050" dirty="0"/>
          </a:p>
        </p:txBody>
      </p:sp>
      <p:sp>
        <p:nvSpPr>
          <p:cNvPr id="33" name="Shape 31"/>
          <p:cNvSpPr/>
          <p:nvPr/>
        </p:nvSpPr>
        <p:spPr>
          <a:xfrm>
            <a:off x="3246120" y="3200400"/>
            <a:ext cx="2560320" cy="1371600"/>
          </a:xfrm>
          <a:prstGeom prst="rect">
            <a:avLst>
              <a:gd name="adj" fmla="val 4000"/>
            </a:avLst>
          </a:prstGeom>
          <a:solidFill>
            <a:srgbClr val="1A2A50">
              <a:alpha val="70000"/>
            </a:srgbClr>
          </a:solidFill>
          <a:ln/>
          <a:effectLst>
            <a:outerShdw sx="100000" sy="100000" kx="0" ky="0" algn="bl" rotWithShape="0" blurRad="38100" dist="12700" dir="16200000">
              <a:srgbClr val="000000">
                <a:alpha val="5000"/>
              </a:srgbClr>
            </a:outerShdw>
          </a:effectLst>
        </p:spPr>
        <p:txBody>
          <a:bodyPr/>
          <a:p/>
        </p:txBody>
      </p:sp>
      <p:sp>
        <p:nvSpPr>
          <p:cNvPr id="34" name="Shape 32"/>
          <p:cNvSpPr/>
          <p:nvPr/>
        </p:nvSpPr>
        <p:spPr>
          <a:xfrm>
            <a:off x="3383280" y="3337560"/>
            <a:ext cx="365760" cy="365760"/>
          </a:xfrm>
          <a:prstGeom prst="ellipse">
            <a:avLst/>
          </a:prstGeom>
          <a:solidFill>
            <a:srgbClr val="27AE60"/>
          </a:solidFill>
          <a:ln/>
        </p:spPr>
        <p:txBody>
          <a:bodyPr/>
          <a:p/>
        </p:txBody>
      </p:sp>
      <p:sp>
        <p:nvSpPr>
          <p:cNvPr id="35" name="Text 33"/>
          <p:cNvSpPr/>
          <p:nvPr/>
        </p:nvSpPr>
        <p:spPr>
          <a:xfrm>
            <a:off x="3383280" y="3337560"/>
            <a:ext cx="365760" cy="365760"/>
          </a:xfrm>
          <a:prstGeom prst="rect">
            <a:avLst/>
          </a:prstGeom>
          <a:noFill/>
          <a:ln/>
        </p:spPr>
        <p:txBody>
          <a:bodyPr wrap="square" rtlCol="0" anchor="ctr">
            <a:normAutofit/>
          </a:bodyPr>
          <a:lstStyle/>
          <a:p>
            <a:pPr algn="ctr" indent="0" marL="0">
              <a:buNone/>
            </a:pPr>
            <a:r>
              <a:rPr lang="en-US" sz="1400" dirty="0">
                <a:solidFill>
                  <a:srgbClr val="FFFFFF"/>
                </a:solidFill>
                <a:latin typeface="微软雅黑" pitchFamily="34" charset="0"/>
                <a:ea typeface="Arial Black" pitchFamily="34" charset="-122"/>
                <a:cs typeface="Arial Black" pitchFamily="34" charset="-120"/>
              </a:rPr>
              <a:t>5</a:t>
            </a:r>
            <a:endParaRPr lang="en-US" sz="1400" dirty="0"/>
          </a:p>
        </p:txBody>
      </p:sp>
      <p:sp>
        <p:nvSpPr>
          <p:cNvPr id="36" name="Text 34"/>
          <p:cNvSpPr/>
          <p:nvPr/>
        </p:nvSpPr>
        <p:spPr>
          <a:xfrm>
            <a:off x="3840480" y="3337560"/>
            <a:ext cx="1783080" cy="365760"/>
          </a:xfrm>
          <a:prstGeom prst="rect">
            <a:avLst/>
          </a:prstGeom>
          <a:noFill/>
          <a:ln/>
        </p:spPr>
        <p:txBody>
          <a:bodyPr wrap="square" rtlCol="0" anchor="ctr">
            <a:normAutofit/>
          </a:bodyPr>
          <a:lstStyle/>
          <a:p>
            <a:pPr indent="0" marL="0">
              <a:buNone/>
            </a:pPr>
            <a:r>
              <a:rPr lang="en-US" sz="1400" dirty="0">
                <a:solidFill>
                  <a:srgbClr val="FFFFFF"/>
                </a:solidFill>
                <a:latin typeface="微软雅黑" pitchFamily="34" charset="0"/>
                <a:ea typeface="Arial Black" pitchFamily="34" charset="-122"/>
                <a:cs typeface="Arial Black" pitchFamily="34" charset="-120"/>
              </a:rPr>
              <a:t>总结</a:t>
            </a:r>
            <a:endParaRPr lang="en-US" sz="1400" dirty="0"/>
          </a:p>
        </p:txBody>
      </p:sp>
      <p:sp>
        <p:nvSpPr>
          <p:cNvPr id="37" name="Text 35"/>
          <p:cNvSpPr/>
          <p:nvPr/>
        </p:nvSpPr>
        <p:spPr>
          <a:xfrm>
            <a:off x="3383280" y="3794760"/>
            <a:ext cx="2286000" cy="640080"/>
          </a:xfrm>
          <a:prstGeom prst="rect">
            <a:avLst/>
          </a:prstGeom>
          <a:noFill/>
          <a:ln/>
        </p:spPr>
        <p:txBody>
          <a:bodyPr wrap="square" rtlCol="0" anchor="t"/>
          <a:lstStyle/>
          <a:p>
            <a:pPr indent="0" marL="0">
              <a:buNone/>
            </a:pPr>
            <a:r>
              <a:rPr lang="en-US" sz="1050" dirty="0">
                <a:solidFill>
                  <a:srgbClr val="FFFFFF"/>
                </a:solidFill>
                <a:latin typeface="微软雅黑" pitchFamily="34" charset="0"/>
                <a:ea typeface="Calibri" pitchFamily="34" charset="-122"/>
                <a:cs typeface="Calibri" pitchFamily="34" charset="-120"/>
              </a:rPr>
              <a:t>回顾核心发现，强化训练的必要性和紧迫性</a:t>
            </a:r>
            <a:endParaRPr lang="en-US" sz="1050" dirty="0"/>
          </a:p>
        </p:txBody>
      </p:sp>
      <p:sp>
        <p:nvSpPr>
          <p:cNvPr id="38" name="Shape 36"/>
          <p:cNvSpPr/>
          <p:nvPr/>
        </p:nvSpPr>
        <p:spPr>
          <a:xfrm>
            <a:off x="6035040" y="3200400"/>
            <a:ext cx="2560320" cy="1371600"/>
          </a:xfrm>
          <a:prstGeom prst="rect">
            <a:avLst>
              <a:gd name="adj" fmla="val 4000"/>
            </a:avLst>
          </a:prstGeom>
          <a:solidFill>
            <a:srgbClr val="1A2A50">
              <a:alpha val="70000"/>
            </a:srgbClr>
          </a:solidFill>
          <a:ln/>
          <a:effectLst>
            <a:outerShdw sx="100000" sy="100000" kx="0" ky="0" algn="bl" rotWithShape="0" blurRad="38100" dist="12700" dir="16200000">
              <a:srgbClr val="000000">
                <a:alpha val="5000"/>
              </a:srgbClr>
            </a:outerShdw>
          </a:effectLst>
        </p:spPr>
        <p:txBody>
          <a:bodyPr/>
          <a:p/>
        </p:txBody>
      </p:sp>
      <p:sp>
        <p:nvSpPr>
          <p:cNvPr id="39" name="Shape 37"/>
          <p:cNvSpPr/>
          <p:nvPr/>
        </p:nvSpPr>
        <p:spPr>
          <a:xfrm>
            <a:off x="6172200" y="3337560"/>
            <a:ext cx="365760" cy="365760"/>
          </a:xfrm>
          <a:prstGeom prst="ellipse">
            <a:avLst/>
          </a:prstGeom>
          <a:solidFill>
            <a:srgbClr val="E74C3C"/>
          </a:solidFill>
          <a:ln/>
        </p:spPr>
        <p:txBody>
          <a:bodyPr/>
          <a:p/>
        </p:txBody>
      </p:sp>
      <p:sp>
        <p:nvSpPr>
          <p:cNvPr id="40" name="Text 38"/>
          <p:cNvSpPr/>
          <p:nvPr/>
        </p:nvSpPr>
        <p:spPr>
          <a:xfrm>
            <a:off x="6172200" y="3337560"/>
            <a:ext cx="365760" cy="365760"/>
          </a:xfrm>
          <a:prstGeom prst="rect">
            <a:avLst/>
          </a:prstGeom>
          <a:noFill/>
          <a:ln/>
        </p:spPr>
        <p:txBody>
          <a:bodyPr wrap="square" rtlCol="0" anchor="ctr">
            <a:normAutofit/>
          </a:bodyPr>
          <a:lstStyle/>
          <a:p>
            <a:pPr algn="ctr" indent="0" marL="0">
              <a:buNone/>
            </a:pPr>
            <a:r>
              <a:rPr lang="en-US" sz="1400" dirty="0">
                <a:solidFill>
                  <a:srgbClr val="FFFFFF"/>
                </a:solidFill>
                <a:latin typeface="微软雅黑" pitchFamily="34" charset="0"/>
                <a:ea typeface="Arial Black" pitchFamily="34" charset="-122"/>
                <a:cs typeface="Arial Black" pitchFamily="34" charset="-120"/>
              </a:rPr>
              <a:t>6</a:t>
            </a:r>
            <a:endParaRPr lang="en-US" sz="1400" dirty="0"/>
          </a:p>
        </p:txBody>
      </p:sp>
      <p:sp>
        <p:nvSpPr>
          <p:cNvPr id="41" name="Text 39"/>
          <p:cNvSpPr/>
          <p:nvPr/>
        </p:nvSpPr>
        <p:spPr>
          <a:xfrm>
            <a:off x="6629400" y="3337560"/>
            <a:ext cx="1783080" cy="365760"/>
          </a:xfrm>
          <a:prstGeom prst="rect">
            <a:avLst/>
          </a:prstGeom>
          <a:noFill/>
          <a:ln/>
        </p:spPr>
        <p:txBody>
          <a:bodyPr wrap="square" rtlCol="0" anchor="ctr">
            <a:normAutofit/>
          </a:bodyPr>
          <a:lstStyle/>
          <a:p>
            <a:pPr indent="0" marL="0">
              <a:buNone/>
            </a:pPr>
            <a:r>
              <a:rPr lang="en-US" sz="1400" dirty="0">
                <a:solidFill>
                  <a:srgbClr val="FFFFFF"/>
                </a:solidFill>
                <a:latin typeface="微软雅黑" pitchFamily="34" charset="0"/>
                <a:ea typeface="Arial Black" pitchFamily="34" charset="-122"/>
                <a:cs typeface="Arial Black" pitchFamily="34" charset="-120"/>
              </a:rPr>
              <a:t>关单</a:t>
            </a:r>
            <a:endParaRPr lang="en-US" sz="1400" dirty="0"/>
          </a:p>
        </p:txBody>
      </p:sp>
      <p:sp>
        <p:nvSpPr>
          <p:cNvPr id="42" name="Text 40"/>
          <p:cNvSpPr/>
          <p:nvPr/>
        </p:nvSpPr>
        <p:spPr>
          <a:xfrm>
            <a:off x="6172200" y="3794760"/>
            <a:ext cx="2286000" cy="640080"/>
          </a:xfrm>
          <a:prstGeom prst="rect">
            <a:avLst/>
          </a:prstGeom>
          <a:noFill/>
          <a:ln/>
        </p:spPr>
        <p:txBody>
          <a:bodyPr wrap="square" rtlCol="0" anchor="t"/>
          <a:lstStyle/>
          <a:p>
            <a:pPr indent="0" marL="0">
              <a:buNone/>
            </a:pPr>
            <a:r>
              <a:rPr lang="en-US" sz="1050" dirty="0">
                <a:solidFill>
                  <a:srgbClr val="FFFFFF"/>
                </a:solidFill>
                <a:latin typeface="微软雅黑" pitchFamily="34" charset="0"/>
                <a:ea typeface="Calibri" pitchFamily="34" charset="-122"/>
                <a:cs typeface="Calibri" pitchFamily="34" charset="-120"/>
              </a:rPr>
              <a:t>自然引导报名，提供限时优惠促成交</a:t>
            </a:r>
            <a:endParaRPr lang="en-US" sz="1050" dirty="0"/>
          </a:p>
        </p:txBody>
      </p:sp>
      <p:sp>
        <p:nvSpPr>
          <p:cNvPr id="43" name="Rectangle 42"/>
          <p:cNvSpPr/>
          <p:nvPr/>
        </p:nvSpPr>
        <p:spPr>
          <a:xfrm rot="20700000">
            <a:off x="182880" y="771525"/>
            <a:ext cx="731520" cy="19050"/>
          </a:xfrm>
          <a:prstGeom prst="rect">
            <a:avLst/>
          </a:prstGeom>
          <a:solidFill>
            <a:srgbClr val="00E676">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rot="20700000">
            <a:off x="457200" y="1183005"/>
            <a:ext cx="914400" cy="25400"/>
          </a:xfrm>
          <a:prstGeom prst="rect">
            <a:avLst/>
          </a:prstGeom>
          <a:solidFill>
            <a:srgbClr val="00E676">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0"/>
            <a:ext cx="9144000" cy="4114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6B35"/>
          </a:solidFill>
          <a:ln/>
        </p:spPr>
        <p:txBody>
          <a:bodyPr/>
          <a:p/>
        </p:txBody>
      </p:sp>
      <p:sp>
        <p:nvSpPr>
          <p:cNvPr id="3" name="Shape 1"/>
          <p:cNvSpPr/>
          <p:nvPr/>
        </p:nvSpPr>
        <p:spPr>
          <a:xfrm>
            <a:off x="0" y="5088636"/>
            <a:ext cx="9144000" cy="54864"/>
          </a:xfrm>
          <a:prstGeom prst="rect">
            <a:avLst/>
          </a:prstGeom>
          <a:solidFill>
            <a:srgbClr val="1E2761"/>
          </a:solidFill>
          <a:ln/>
        </p:spPr>
        <p:txBody>
          <a:bodyPr/>
          <a:p/>
        </p:txBody>
      </p:sp>
      <p:sp>
        <p:nvSpPr>
          <p:cNvPr id="4" name="Shape 2"/>
          <p:cNvSpPr/>
          <p:nvPr/>
        </p:nvSpPr>
        <p:spPr>
          <a:xfrm>
            <a:off x="457200" y="228600"/>
            <a:ext cx="1463040" cy="292608"/>
          </a:xfrm>
          <a:prstGeom prst="rect">
            <a:avLst>
              <a:gd name="adj" fmla="val 12500"/>
            </a:avLst>
          </a:prstGeom>
          <a:solidFill>
            <a:srgbClr val="FFE8DD"/>
          </a:solidFill>
          <a:ln/>
        </p:spPr>
        <p:txBody>
          <a:bodyPr/>
          <a:p/>
        </p:txBody>
      </p:sp>
      <p:sp>
        <p:nvSpPr>
          <p:cNvPr id="5" name="Text 3"/>
          <p:cNvSpPr/>
          <p:nvPr/>
        </p:nvSpPr>
        <p:spPr>
          <a:xfrm>
            <a:off x="457200" y="228600"/>
            <a:ext cx="1463040" cy="292608"/>
          </a:xfrm>
          <a:prstGeom prst="rect">
            <a:avLst/>
          </a:prstGeom>
          <a:noFill/>
          <a:ln/>
        </p:spPr>
        <p:txBody>
          <a:bodyPr wrap="square" rtlCol="0" anchor="ctr">
            <a:normAutofit/>
          </a:bodyPr>
          <a:lstStyle/>
          <a:p>
            <a:pPr algn="ctr" indent="0" marL="0">
              <a:buNone/>
            </a:pPr>
            <a:r>
              <a:rPr lang="en-US" sz="1000" b="1" dirty="0">
                <a:solidFill>
                  <a:srgbClr val="FF6B35"/>
                </a:solidFill>
                <a:latin typeface="微软雅黑" pitchFamily="34" charset="0"/>
                <a:ea typeface="Calibri" pitchFamily="34" charset="-122"/>
                <a:cs typeface="Calibri" pitchFamily="34" charset="-120"/>
              </a:rPr>
              <a:t>体测流程6步</a:t>
            </a:r>
            <a:endParaRPr lang="en-US" sz="1000" dirty="0"/>
          </a:p>
        </p:txBody>
      </p:sp>
      <p:sp>
        <p:nvSpPr>
          <p:cNvPr id="6" name="Text 4"/>
          <p:cNvSpPr/>
          <p:nvPr/>
        </p:nvSpPr>
        <p:spPr>
          <a:xfrm>
            <a:off x="457200" y="182880"/>
            <a:ext cx="8229600" cy="502920"/>
          </a:xfrm>
          <a:prstGeom prst="rect">
            <a:avLst/>
          </a:prstGeom>
          <a:noFill/>
          <a:ln/>
        </p:spPr>
        <p:txBody>
          <a:bodyPr wrap="square" rtlCol="0" anchor="b">
            <a:normAutofit/>
          </a:bodyPr>
          <a:lstStyle/>
          <a:p>
            <a:pPr indent="0" marL="0">
              <a:buNone/>
            </a:pPr>
            <a:r>
              <a:rPr lang="en-US" sz="2600" dirty="0">
                <a:solidFill>
                  <a:srgbClr val="FFFFFF"/>
                </a:solidFill>
                <a:latin typeface="微软雅黑" pitchFamily="34" charset="0"/>
                <a:ea typeface="Arial Black" pitchFamily="34" charset="-122"/>
                <a:cs typeface="Arial Black" pitchFamily="34" charset="-120"/>
              </a:rPr>
              <a:t>Step 6：跟进转化</a:t>
            </a:r>
            <a:endParaRPr lang="en-US" sz="2600" dirty="0"/>
          </a:p>
        </p:txBody>
      </p:sp>
      <p:sp>
        <p:nvSpPr>
          <p:cNvPr id="7" name="Text 5"/>
          <p:cNvSpPr/>
          <p:nvPr/>
        </p:nvSpPr>
        <p:spPr>
          <a:xfrm>
            <a:off x="457200" y="658368"/>
            <a:ext cx="8229600" cy="274320"/>
          </a:xfrm>
          <a:prstGeom prst="rect">
            <a:avLst/>
          </a:prstGeom>
          <a:noFill/>
          <a:ln/>
        </p:spPr>
        <p:txBody>
          <a:bodyPr wrap="square" rtlCol="0" anchor="ctr">
            <a:normAutofit/>
          </a:bodyPr>
          <a:lstStyle/>
          <a:p>
            <a:pPr indent="0" marL="0">
              <a:buNone/>
            </a:pPr>
            <a:r>
              <a:rPr lang="en-US" sz="1200" dirty="0">
                <a:solidFill>
                  <a:srgbClr val="FFFFFF"/>
                </a:solidFill>
                <a:latin typeface="微软雅黑" pitchFamily="34" charset="0"/>
                <a:ea typeface="Calibri" pitchFamily="34" charset="-122"/>
                <a:cs typeface="Calibri" pitchFamily="34" charset="-120"/>
              </a:rPr>
              <a:t>解读后新客24h / 会员48h内跟进，锁定成交</a:t>
            </a:r>
            <a:endParaRPr lang="en-US" sz="1200" dirty="0"/>
          </a:p>
        </p:txBody>
      </p:sp>
      <p:sp>
        <p:nvSpPr>
          <p:cNvPr id="8" name="Text 6"/>
          <p:cNvSpPr/>
          <p:nvPr/>
        </p:nvSpPr>
        <p:spPr>
          <a:xfrm>
            <a:off x="7955280" y="4777740"/>
            <a:ext cx="731520" cy="274320"/>
          </a:xfrm>
          <a:prstGeom prst="rect">
            <a:avLst/>
          </a:prstGeom>
          <a:noFill/>
          <a:ln/>
        </p:spPr>
        <p:txBody>
          <a:bodyPr wrap="square" rtlCol="0" anchor="ctr">
            <a:normAutofit/>
          </a:bodyPr>
          <a:lstStyle/>
          <a:p>
            <a:pPr algn="r" indent="0" marL="0">
              <a:buNone/>
            </a:pPr>
            <a:r>
              <a:rPr lang="en-US" sz="900" dirty="0">
                <a:solidFill>
                  <a:srgbClr val="FFFFFF"/>
                </a:solidFill>
                <a:latin typeface="微软雅黑" pitchFamily="34" charset="0"/>
                <a:ea typeface="Calibri" pitchFamily="34" charset="-122"/>
                <a:cs typeface="Calibri" pitchFamily="34" charset="-120"/>
              </a:rPr>
              <a:t>10 / 15</a:t>
            </a:r>
            <a:endParaRPr lang="en-US" sz="900" dirty="0"/>
          </a:p>
        </p:txBody>
      </p:sp>
      <p:sp>
        <p:nvSpPr>
          <p:cNvPr id="9" name="Shape 7"/>
          <p:cNvSpPr/>
          <p:nvPr/>
        </p:nvSpPr>
        <p:spPr>
          <a:xfrm>
            <a:off x="457200" y="182880"/>
            <a:ext cx="411480" cy="411480"/>
          </a:xfrm>
          <a:prstGeom prst="ellipse">
            <a:avLst/>
          </a:prstGeom>
          <a:solidFill>
            <a:srgbClr val="FF6B35"/>
          </a:solidFill>
          <a:ln/>
        </p:spPr>
        <p:txBody>
          <a:bodyPr/>
          <a:p/>
        </p:txBody>
      </p:sp>
      <p:sp>
        <p:nvSpPr>
          <p:cNvPr id="10" name="Text 8"/>
          <p:cNvSpPr/>
          <p:nvPr/>
        </p:nvSpPr>
        <p:spPr>
          <a:xfrm>
            <a:off x="457200" y="182880"/>
            <a:ext cx="411480" cy="411480"/>
          </a:xfrm>
          <a:prstGeom prst="rect">
            <a:avLst/>
          </a:prstGeom>
          <a:noFill/>
          <a:ln/>
        </p:spPr>
        <p:txBody>
          <a:bodyPr wrap="square" rtlCol="0" anchor="ctr">
            <a:normAutofit/>
          </a:bodyPr>
          <a:lstStyle/>
          <a:p>
            <a:pPr algn="ctr" indent="0" marL="0">
              <a:buNone/>
            </a:pPr>
            <a:r>
              <a:rPr lang="en-US" sz="1600" dirty="0">
                <a:solidFill>
                  <a:srgbClr val="FFFFFF"/>
                </a:solidFill>
                <a:latin typeface="微软雅黑" pitchFamily="34" charset="0"/>
                <a:ea typeface="Arial Black" pitchFamily="34" charset="-122"/>
                <a:cs typeface="Arial Black" pitchFamily="34" charset="-120"/>
              </a:rPr>
              <a:t>6</a:t>
            </a:r>
            <a:endParaRPr lang="en-US" sz="1600" dirty="0"/>
          </a:p>
        </p:txBody>
      </p:sp>
      <p:sp>
        <p:nvSpPr>
          <p:cNvPr id="11" name="Shape 9"/>
          <p:cNvSpPr/>
          <p:nvPr/>
        </p:nvSpPr>
        <p:spPr>
          <a:xfrm>
            <a:off x="457200" y="1051560"/>
            <a:ext cx="2560320" cy="1097280"/>
          </a:xfrm>
          <a:prstGeom prst="rect">
            <a:avLst>
              <a:gd name="adj" fmla="val 5000"/>
            </a:avLst>
          </a:prstGeom>
          <a:solidFill>
            <a:srgbClr val="1A2A50">
              <a:alpha val="70000"/>
            </a:srgbClr>
          </a:solidFill>
          <a:ln/>
          <a:effectLst>
            <a:outerShdw sx="100000" sy="100000" kx="0" ky="0" algn="bl" rotWithShape="0" blurRad="38100" dist="12700" dir="16200000">
              <a:srgbClr val="000000">
                <a:alpha val="5000"/>
              </a:srgbClr>
            </a:outerShdw>
          </a:effectLst>
        </p:spPr>
        <p:txBody>
          <a:bodyPr/>
          <a:p/>
        </p:txBody>
      </p:sp>
      <p:sp>
        <p:nvSpPr>
          <p:cNvPr id="12" name="Text 10"/>
          <p:cNvSpPr/>
          <p:nvPr/>
        </p:nvSpPr>
        <p:spPr>
          <a:xfrm>
            <a:off x="457200" y="1143000"/>
            <a:ext cx="2560320" cy="548640"/>
          </a:xfrm>
          <a:prstGeom prst="rect">
            <a:avLst/>
          </a:prstGeom>
          <a:noFill/>
          <a:ln/>
        </p:spPr>
        <p:txBody>
          <a:bodyPr wrap="square" rtlCol="0" anchor="ctr">
            <a:normAutofit/>
          </a:bodyPr>
          <a:lstStyle/>
          <a:p>
            <a:pPr algn="ctr" indent="0" marL="0">
              <a:buNone/>
            </a:pPr>
            <a:r>
              <a:rPr lang="en-US" sz="2800" dirty="0">
                <a:solidFill>
                  <a:srgbClr val="FF6B35"/>
                </a:solidFill>
                <a:latin typeface="微软雅黑" pitchFamily="34" charset="0"/>
                <a:ea typeface="Arial Black" pitchFamily="34" charset="-122"/>
                <a:cs typeface="Arial Black" pitchFamily="34" charset="-120"/>
              </a:rPr>
              <a:t>24h</a:t>
            </a:r>
            <a:endParaRPr lang="en-US" sz="2800" dirty="0"/>
          </a:p>
        </p:txBody>
      </p:sp>
      <p:sp>
        <p:nvSpPr>
          <p:cNvPr id="13" name="Text 11"/>
          <p:cNvSpPr/>
          <p:nvPr/>
        </p:nvSpPr>
        <p:spPr>
          <a:xfrm>
            <a:off x="457200" y="1691640"/>
            <a:ext cx="2560320" cy="320040"/>
          </a:xfrm>
          <a:prstGeom prst="rect">
            <a:avLst/>
          </a:prstGeom>
          <a:noFill/>
          <a:ln/>
        </p:spPr>
        <p:txBody>
          <a:bodyPr wrap="square" rtlCol="0" anchor="ctr">
            <a:normAutofit/>
          </a:bodyPr>
          <a:lstStyle/>
          <a:p>
            <a:pPr algn="ctr" indent="0" marL="0">
              <a:buNone/>
            </a:pPr>
            <a:r>
              <a:rPr lang="en-US" sz="1100" dirty="0">
                <a:solidFill>
                  <a:srgbClr val="FFFFFF"/>
                </a:solidFill>
                <a:latin typeface="微软雅黑" pitchFamily="34" charset="0"/>
                <a:ea typeface="Calibri" pitchFamily="34" charset="-122"/>
                <a:cs typeface="Calibri" pitchFamily="34" charset="-120"/>
              </a:rPr>
              <a:t>解读后跟进窗口</a:t>
            </a:r>
            <a:endParaRPr lang="en-US" sz="1100" dirty="0"/>
          </a:p>
        </p:txBody>
      </p:sp>
      <p:sp>
        <p:nvSpPr>
          <p:cNvPr id="14" name="Shape 12"/>
          <p:cNvSpPr/>
          <p:nvPr/>
        </p:nvSpPr>
        <p:spPr>
          <a:xfrm>
            <a:off x="3246120" y="1051560"/>
            <a:ext cx="2560320" cy="1097280"/>
          </a:xfrm>
          <a:prstGeom prst="rect">
            <a:avLst>
              <a:gd name="adj" fmla="val 5000"/>
            </a:avLst>
          </a:prstGeom>
          <a:solidFill>
            <a:srgbClr val="1A2A50">
              <a:alpha val="70000"/>
            </a:srgbClr>
          </a:solidFill>
          <a:ln/>
          <a:effectLst>
            <a:outerShdw sx="100000" sy="100000" kx="0" ky="0" algn="bl" rotWithShape="0" blurRad="38100" dist="12700" dir="16200000">
              <a:srgbClr val="000000">
                <a:alpha val="5000"/>
              </a:srgbClr>
            </a:outerShdw>
          </a:effectLst>
        </p:spPr>
        <p:txBody>
          <a:bodyPr/>
          <a:p/>
        </p:txBody>
      </p:sp>
      <p:sp>
        <p:nvSpPr>
          <p:cNvPr id="15" name="Text 13"/>
          <p:cNvSpPr/>
          <p:nvPr/>
        </p:nvSpPr>
        <p:spPr>
          <a:xfrm>
            <a:off x="3246120" y="1143000"/>
            <a:ext cx="2560320" cy="548640"/>
          </a:xfrm>
          <a:prstGeom prst="rect">
            <a:avLst/>
          </a:prstGeom>
          <a:noFill/>
          <a:ln/>
        </p:spPr>
        <p:txBody>
          <a:bodyPr wrap="square" rtlCol="0" anchor="ctr">
            <a:normAutofit/>
          </a:bodyPr>
          <a:lstStyle/>
          <a:p>
            <a:pPr algn="ctr" indent="0" marL="0">
              <a:buNone/>
            </a:pPr>
            <a:r>
              <a:rPr lang="en-US" sz="2800" dirty="0">
                <a:solidFill>
                  <a:srgbClr val="FFFFFF"/>
                </a:solidFill>
                <a:latin typeface="微软雅黑" pitchFamily="34" charset="0"/>
                <a:ea typeface="Arial Black" pitchFamily="34" charset="-122"/>
                <a:cs typeface="Arial Black" pitchFamily="34" charset="-120"/>
              </a:rPr>
              <a:t>&gt;=40%</a:t>
            </a:r>
            <a:endParaRPr lang="en-US" sz="2800" dirty="0"/>
          </a:p>
        </p:txBody>
      </p:sp>
      <p:sp>
        <p:nvSpPr>
          <p:cNvPr id="16" name="Text 14"/>
          <p:cNvSpPr/>
          <p:nvPr/>
        </p:nvSpPr>
        <p:spPr>
          <a:xfrm>
            <a:off x="3246120" y="1691640"/>
            <a:ext cx="2560320" cy="320040"/>
          </a:xfrm>
          <a:prstGeom prst="rect">
            <a:avLst/>
          </a:prstGeom>
          <a:noFill/>
          <a:ln/>
        </p:spPr>
        <p:txBody>
          <a:bodyPr wrap="square" rtlCol="0" anchor="ctr">
            <a:normAutofit/>
          </a:bodyPr>
          <a:lstStyle/>
          <a:p>
            <a:pPr algn="ctr" indent="0" marL="0">
              <a:buNone/>
            </a:pPr>
            <a:r>
              <a:rPr lang="en-US" sz="1100" dirty="0">
                <a:solidFill>
                  <a:srgbClr val="FFFFFF"/>
                </a:solidFill>
                <a:latin typeface="微软雅黑" pitchFamily="34" charset="0"/>
                <a:ea typeface="Calibri" pitchFamily="34" charset="-122"/>
                <a:cs typeface="Calibri" pitchFamily="34" charset="-120"/>
              </a:rPr>
              <a:t>体测转化率目标</a:t>
            </a:r>
            <a:endParaRPr lang="en-US" sz="1100" dirty="0"/>
          </a:p>
        </p:txBody>
      </p:sp>
      <p:sp>
        <p:nvSpPr>
          <p:cNvPr id="17" name="Shape 15"/>
          <p:cNvSpPr/>
          <p:nvPr/>
        </p:nvSpPr>
        <p:spPr>
          <a:xfrm>
            <a:off x="6035040" y="1051560"/>
            <a:ext cx="2560320" cy="1097280"/>
          </a:xfrm>
          <a:prstGeom prst="rect">
            <a:avLst>
              <a:gd name="adj" fmla="val 5000"/>
            </a:avLst>
          </a:prstGeom>
          <a:solidFill>
            <a:srgbClr val="1A2A50">
              <a:alpha val="70000"/>
            </a:srgbClr>
          </a:solidFill>
          <a:ln/>
          <a:effectLst>
            <a:outerShdw sx="100000" sy="100000" kx="0" ky="0" algn="bl" rotWithShape="0" blurRad="38100" dist="12700" dir="16200000">
              <a:srgbClr val="000000">
                <a:alpha val="5000"/>
              </a:srgbClr>
            </a:outerShdw>
          </a:effectLst>
        </p:spPr>
        <p:txBody>
          <a:bodyPr/>
          <a:p/>
        </p:txBody>
      </p:sp>
      <p:sp>
        <p:nvSpPr>
          <p:cNvPr id="18" name="Text 16"/>
          <p:cNvSpPr/>
          <p:nvPr/>
        </p:nvSpPr>
        <p:spPr>
          <a:xfrm>
            <a:off x="6035040" y="1143000"/>
            <a:ext cx="2560320" cy="548640"/>
          </a:xfrm>
          <a:prstGeom prst="rect">
            <a:avLst/>
          </a:prstGeom>
          <a:noFill/>
          <a:ln/>
        </p:spPr>
        <p:txBody>
          <a:bodyPr wrap="square" rtlCol="0" anchor="ctr">
            <a:normAutofit/>
          </a:bodyPr>
          <a:lstStyle/>
          <a:p>
            <a:pPr algn="ctr" indent="0" marL="0">
              <a:buNone/>
            </a:pPr>
            <a:r>
              <a:rPr lang="en-US" sz="2800" dirty="0">
                <a:solidFill>
                  <a:srgbClr val="2ECC71"/>
                </a:solidFill>
                <a:latin typeface="微软雅黑" pitchFamily="34" charset="0"/>
                <a:ea typeface="Arial Black" pitchFamily="34" charset="-122"/>
                <a:cs typeface="Arial Black" pitchFamily="34" charset="-120"/>
              </a:rPr>
              <a:t>3次</a:t>
            </a:r>
            <a:endParaRPr lang="en-US" sz="2800" dirty="0"/>
          </a:p>
        </p:txBody>
      </p:sp>
      <p:sp>
        <p:nvSpPr>
          <p:cNvPr id="19" name="Text 17"/>
          <p:cNvSpPr/>
          <p:nvPr/>
        </p:nvSpPr>
        <p:spPr>
          <a:xfrm>
            <a:off x="6035040" y="1691640"/>
            <a:ext cx="2560320" cy="320040"/>
          </a:xfrm>
          <a:prstGeom prst="rect">
            <a:avLst/>
          </a:prstGeom>
          <a:noFill/>
          <a:ln/>
        </p:spPr>
        <p:txBody>
          <a:bodyPr wrap="square" rtlCol="0" anchor="ctr">
            <a:normAutofit/>
          </a:bodyPr>
          <a:lstStyle/>
          <a:p>
            <a:pPr algn="ctr" indent="0" marL="0">
              <a:buNone/>
            </a:pPr>
            <a:r>
              <a:rPr lang="en-US" sz="1100" dirty="0">
                <a:solidFill>
                  <a:srgbClr val="FFFFFF"/>
                </a:solidFill>
                <a:latin typeface="微软雅黑" pitchFamily="34" charset="0"/>
                <a:ea typeface="Calibri" pitchFamily="34" charset="-122"/>
                <a:cs typeface="Calibri" pitchFamily="34" charset="-120"/>
              </a:rPr>
              <a:t>未成交最多跟进次数</a:t>
            </a:r>
            <a:endParaRPr lang="en-US" sz="1100" dirty="0"/>
          </a:p>
        </p:txBody>
      </p:sp>
      <p:sp>
        <p:nvSpPr>
          <p:cNvPr id="20" name="Shape 18"/>
          <p:cNvSpPr/>
          <p:nvPr/>
        </p:nvSpPr>
        <p:spPr>
          <a:xfrm>
            <a:off x="457200" y="2377440"/>
            <a:ext cx="1188720" cy="457200"/>
          </a:xfrm>
          <a:prstGeom prst="rect">
            <a:avLst>
              <a:gd name="adj" fmla="val 8000"/>
            </a:avLst>
          </a:prstGeom>
          <a:solidFill>
            <a:srgbClr val="FF6B35"/>
          </a:solidFill>
          <a:ln/>
        </p:spPr>
        <p:txBody>
          <a:bodyPr/>
          <a:p/>
        </p:txBody>
      </p:sp>
      <p:sp>
        <p:nvSpPr>
          <p:cNvPr id="21" name="Text 19"/>
          <p:cNvSpPr/>
          <p:nvPr/>
        </p:nvSpPr>
        <p:spPr>
          <a:xfrm>
            <a:off x="457200" y="2377440"/>
            <a:ext cx="1188720" cy="457200"/>
          </a:xfrm>
          <a:prstGeom prst="rect">
            <a:avLst/>
          </a:prstGeom>
          <a:noFill/>
          <a:ln/>
        </p:spPr>
        <p:txBody>
          <a:bodyPr wrap="square" rtlCol="0" anchor="ctr">
            <a:normAutofit/>
          </a:bodyPr>
          <a:lstStyle/>
          <a:p>
            <a:pPr algn="ctr" indent="0" marL="0">
              <a:buNone/>
            </a:pPr>
            <a:r>
              <a:rPr lang="en-US" sz="1000" dirty="0">
                <a:solidFill>
                  <a:srgbClr val="FFFFFF"/>
                </a:solidFill>
                <a:latin typeface="微软雅黑" pitchFamily="34" charset="0"/>
                <a:ea typeface="Arial Black" pitchFamily="34" charset="-122"/>
                <a:cs typeface="Arial Black" pitchFamily="34" charset="-120"/>
              </a:rPr>
              <a:t>解读当天</a:t>
            </a:r>
            <a:endParaRPr lang="en-US" sz="1000" dirty="0"/>
          </a:p>
        </p:txBody>
      </p:sp>
      <p:sp>
        <p:nvSpPr>
          <p:cNvPr id="22" name="Text 20"/>
          <p:cNvSpPr/>
          <p:nvPr/>
        </p:nvSpPr>
        <p:spPr>
          <a:xfrm>
            <a:off x="1828800" y="2377440"/>
            <a:ext cx="3657600" cy="457200"/>
          </a:xfrm>
          <a:prstGeom prst="rect">
            <a:avLst/>
          </a:prstGeom>
          <a:noFill/>
          <a:ln/>
        </p:spPr>
        <p:txBody>
          <a:bodyPr wrap="square" rtlCol="0" anchor="ctr">
            <a:normAutofit/>
          </a:bodyPr>
          <a:lstStyle/>
          <a:p>
            <a:pPr indent="0" marL="0">
              <a:buNone/>
            </a:pPr>
            <a:r>
              <a:rPr lang="en-US" sz="1100" b="1" dirty="0">
                <a:solidFill>
                  <a:srgbClr val="FFFFFF"/>
                </a:solidFill>
                <a:latin typeface="微软雅黑" pitchFamily="34" charset="0"/>
                <a:ea typeface="Calibri" pitchFamily="34" charset="-122"/>
                <a:cs typeface="Calibri" pitchFamily="34" charset="-120"/>
              </a:rPr>
              <a:t>发送体测报告PDF + 感谢微信</a:t>
            </a:r>
            <a:endParaRPr lang="en-US" sz="1100" dirty="0"/>
          </a:p>
        </p:txBody>
      </p:sp>
      <p:sp>
        <p:nvSpPr>
          <p:cNvPr id="23" name="Text 21"/>
          <p:cNvSpPr/>
          <p:nvPr/>
        </p:nvSpPr>
        <p:spPr>
          <a:xfrm>
            <a:off x="5760720" y="2377440"/>
            <a:ext cx="2743200" cy="457200"/>
          </a:xfrm>
          <a:prstGeom prst="rect">
            <a:avLst/>
          </a:prstGeom>
          <a:noFill/>
          <a:ln/>
        </p:spPr>
        <p:txBody>
          <a:bodyPr wrap="square" rtlCol="0" anchor="ctr">
            <a:normAutofit/>
          </a:bodyPr>
          <a:lstStyle/>
          <a:p>
            <a:pPr indent="0" marL="0">
              <a:buNone/>
            </a:pPr>
            <a:r>
              <a:rPr lang="en-US" sz="1000" dirty="0">
                <a:solidFill>
                  <a:srgbClr val="FFFFFF"/>
                </a:solidFill>
                <a:latin typeface="微软雅黑" pitchFamily="34" charset="0"/>
                <a:ea typeface="Calibri" pitchFamily="34" charset="-122"/>
                <a:cs typeface="Calibri" pitchFamily="34" charset="-120"/>
              </a:rPr>
              <a:t>附上关键发现一句话总结</a:t>
            </a:r>
            <a:endParaRPr lang="en-US" sz="1000" dirty="0"/>
          </a:p>
        </p:txBody>
      </p:sp>
      <p:sp>
        <p:nvSpPr>
          <p:cNvPr id="24" name="Shape 22"/>
          <p:cNvSpPr/>
          <p:nvPr/>
        </p:nvSpPr>
        <p:spPr>
          <a:xfrm>
            <a:off x="457200" y="2971800"/>
            <a:ext cx="1188720" cy="457200"/>
          </a:xfrm>
          <a:prstGeom prst="rect">
            <a:avLst>
              <a:gd name="adj" fmla="val 8000"/>
            </a:avLst>
          </a:prstGeom>
          <a:solidFill>
            <a:srgbClr val="1E2761"/>
          </a:solidFill>
          <a:ln/>
        </p:spPr>
        <p:txBody>
          <a:bodyPr/>
          <a:p/>
        </p:txBody>
      </p:sp>
      <p:sp>
        <p:nvSpPr>
          <p:cNvPr id="25" name="Text 23"/>
          <p:cNvSpPr/>
          <p:nvPr/>
        </p:nvSpPr>
        <p:spPr>
          <a:xfrm>
            <a:off x="457200" y="2971800"/>
            <a:ext cx="1188720" cy="457200"/>
          </a:xfrm>
          <a:prstGeom prst="rect">
            <a:avLst/>
          </a:prstGeom>
          <a:noFill/>
          <a:ln/>
        </p:spPr>
        <p:txBody>
          <a:bodyPr wrap="square" rtlCol="0" anchor="ctr">
            <a:normAutofit/>
          </a:bodyPr>
          <a:lstStyle/>
          <a:p>
            <a:pPr algn="ctr" indent="0" marL="0">
              <a:buNone/>
            </a:pPr>
            <a:r>
              <a:rPr lang="en-US" sz="1000" dirty="0">
                <a:solidFill>
                  <a:srgbClr val="FFFFFF"/>
                </a:solidFill>
                <a:latin typeface="微软雅黑" pitchFamily="34" charset="0"/>
                <a:ea typeface="Arial Black" pitchFamily="34" charset="-122"/>
                <a:cs typeface="Arial Black" pitchFamily="34" charset="-120"/>
              </a:rPr>
              <a:t>解读后24h</a:t>
            </a:r>
            <a:endParaRPr lang="en-US" sz="1000" dirty="0"/>
          </a:p>
        </p:txBody>
      </p:sp>
      <p:sp>
        <p:nvSpPr>
          <p:cNvPr id="26" name="Text 24"/>
          <p:cNvSpPr/>
          <p:nvPr/>
        </p:nvSpPr>
        <p:spPr>
          <a:xfrm>
            <a:off x="1828800" y="2971800"/>
            <a:ext cx="3657600" cy="457200"/>
          </a:xfrm>
          <a:prstGeom prst="rect">
            <a:avLst/>
          </a:prstGeom>
          <a:noFill/>
          <a:ln/>
        </p:spPr>
        <p:txBody>
          <a:bodyPr wrap="square" rtlCol="0" anchor="ctr">
            <a:normAutofit/>
          </a:bodyPr>
          <a:lstStyle/>
          <a:p>
            <a:pPr indent="0" marL="0">
              <a:buNone/>
            </a:pPr>
            <a:r>
              <a:rPr lang="en-US" sz="1100" b="1" dirty="0">
                <a:solidFill>
                  <a:srgbClr val="FFFFFF"/>
                </a:solidFill>
                <a:latin typeface="微软雅黑" pitchFamily="34" charset="0"/>
                <a:ea typeface="Calibri" pitchFamily="34" charset="-122"/>
                <a:cs typeface="Calibri" pitchFamily="34" charset="-120"/>
              </a:rPr>
              <a:t>电话/微信跟进，了解家长想法</a:t>
            </a:r>
            <a:endParaRPr lang="en-US" sz="1100" dirty="0"/>
          </a:p>
        </p:txBody>
      </p:sp>
      <p:sp>
        <p:nvSpPr>
          <p:cNvPr id="27" name="Text 25"/>
          <p:cNvSpPr/>
          <p:nvPr/>
        </p:nvSpPr>
        <p:spPr>
          <a:xfrm>
            <a:off x="5760720" y="2971800"/>
            <a:ext cx="2743200" cy="457200"/>
          </a:xfrm>
          <a:prstGeom prst="rect">
            <a:avLst/>
          </a:prstGeom>
          <a:noFill/>
          <a:ln/>
        </p:spPr>
        <p:txBody>
          <a:bodyPr wrap="square" rtlCol="0" anchor="ctr">
            <a:normAutofit/>
          </a:bodyPr>
          <a:lstStyle/>
          <a:p>
            <a:pPr indent="0" marL="0">
              <a:buNone/>
            </a:pPr>
            <a:r>
              <a:rPr lang="en-US" sz="1000" dirty="0">
                <a:solidFill>
                  <a:srgbClr val="FFFFFF"/>
                </a:solidFill>
                <a:latin typeface="微软雅黑" pitchFamily="34" charset="0"/>
                <a:ea typeface="Calibri" pitchFamily="34" charset="-122"/>
                <a:cs typeface="Calibri" pitchFamily="34" charset="-120"/>
              </a:rPr>
              <a:t>解答疑问，消除顾虑</a:t>
            </a:r>
            <a:endParaRPr lang="en-US" sz="1000" dirty="0"/>
          </a:p>
        </p:txBody>
      </p:sp>
      <p:sp>
        <p:nvSpPr>
          <p:cNvPr id="28" name="Shape 26"/>
          <p:cNvSpPr/>
          <p:nvPr/>
        </p:nvSpPr>
        <p:spPr>
          <a:xfrm>
            <a:off x="457200" y="3566160"/>
            <a:ext cx="1188720" cy="457200"/>
          </a:xfrm>
          <a:prstGeom prst="rect">
            <a:avLst>
              <a:gd name="adj" fmla="val 8000"/>
            </a:avLst>
          </a:prstGeom>
          <a:solidFill>
            <a:srgbClr val="EEEEEE"/>
          </a:solidFill>
          <a:ln/>
        </p:spPr>
        <p:txBody>
          <a:bodyPr/>
          <a:p/>
        </p:txBody>
      </p:sp>
      <p:sp>
        <p:nvSpPr>
          <p:cNvPr id="29" name="Text 27"/>
          <p:cNvSpPr/>
          <p:nvPr/>
        </p:nvSpPr>
        <p:spPr>
          <a:xfrm>
            <a:off x="457200" y="3566160"/>
            <a:ext cx="1188720" cy="457200"/>
          </a:xfrm>
          <a:prstGeom prst="rect">
            <a:avLst/>
          </a:prstGeom>
          <a:noFill/>
          <a:ln/>
        </p:spPr>
        <p:txBody>
          <a:bodyPr wrap="square" rtlCol="0" anchor="ctr">
            <a:normAutofit/>
          </a:bodyPr>
          <a:lstStyle/>
          <a:p>
            <a:pPr algn="ctr" indent="0" marL="0">
              <a:buNone/>
            </a:pPr>
            <a:r>
              <a:rPr lang="en-US" sz="1000" dirty="0">
                <a:solidFill>
                  <a:srgbClr val="FFFFFF"/>
                </a:solidFill>
                <a:latin typeface="微软雅黑" pitchFamily="34" charset="0"/>
                <a:ea typeface="Arial Black" pitchFamily="34" charset="-122"/>
                <a:cs typeface="Arial Black" pitchFamily="34" charset="-120"/>
              </a:rPr>
              <a:t>解读后3天</a:t>
            </a:r>
            <a:endParaRPr lang="en-US" sz="1000" dirty="0"/>
          </a:p>
        </p:txBody>
      </p:sp>
      <p:sp>
        <p:nvSpPr>
          <p:cNvPr id="30" name="Text 28"/>
          <p:cNvSpPr/>
          <p:nvPr/>
        </p:nvSpPr>
        <p:spPr>
          <a:xfrm>
            <a:off x="1828800" y="3566160"/>
            <a:ext cx="3657600" cy="457200"/>
          </a:xfrm>
          <a:prstGeom prst="rect">
            <a:avLst/>
          </a:prstGeom>
          <a:noFill/>
          <a:ln/>
        </p:spPr>
        <p:txBody>
          <a:bodyPr wrap="square" rtlCol="0" anchor="ctr">
            <a:normAutofit/>
          </a:bodyPr>
          <a:lstStyle/>
          <a:p>
            <a:pPr indent="0" marL="0">
              <a:buNone/>
            </a:pPr>
            <a:r>
              <a:rPr lang="en-US" sz="1100" b="1" dirty="0">
                <a:solidFill>
                  <a:srgbClr val="FFFFFF"/>
                </a:solidFill>
                <a:latin typeface="微软雅黑" pitchFamily="34" charset="0"/>
                <a:ea typeface="Calibri" pitchFamily="34" charset="-122"/>
                <a:cs typeface="Calibri" pitchFamily="34" charset="-120"/>
              </a:rPr>
              <a:t>发送成功案例/活动信息</a:t>
            </a:r>
            <a:endParaRPr lang="en-US" sz="1100" dirty="0"/>
          </a:p>
        </p:txBody>
      </p:sp>
      <p:sp>
        <p:nvSpPr>
          <p:cNvPr id="31" name="Text 29"/>
          <p:cNvSpPr/>
          <p:nvPr/>
        </p:nvSpPr>
        <p:spPr>
          <a:xfrm>
            <a:off x="5760720" y="3566160"/>
            <a:ext cx="2743200" cy="457200"/>
          </a:xfrm>
          <a:prstGeom prst="rect">
            <a:avLst/>
          </a:prstGeom>
          <a:noFill/>
          <a:ln/>
        </p:spPr>
        <p:txBody>
          <a:bodyPr wrap="square" rtlCol="0" anchor="ctr">
            <a:normAutofit/>
          </a:bodyPr>
          <a:lstStyle/>
          <a:p>
            <a:pPr indent="0" marL="0">
              <a:buNone/>
            </a:pPr>
            <a:r>
              <a:rPr lang="en-US" sz="1000" dirty="0">
                <a:solidFill>
                  <a:srgbClr val="FFFFFF"/>
                </a:solidFill>
                <a:latin typeface="微软雅黑" pitchFamily="34" charset="0"/>
                <a:ea typeface="Calibri" pitchFamily="34" charset="-122"/>
                <a:cs typeface="Calibri" pitchFamily="34" charset="-120"/>
              </a:rPr>
              <a:t>制造紧迫感，限时优惠</a:t>
            </a:r>
            <a:endParaRPr lang="en-US" sz="1000" dirty="0"/>
          </a:p>
        </p:txBody>
      </p:sp>
      <p:sp>
        <p:nvSpPr>
          <p:cNvPr id="32" name="Shape 30"/>
          <p:cNvSpPr/>
          <p:nvPr/>
        </p:nvSpPr>
        <p:spPr>
          <a:xfrm>
            <a:off x="457200" y="4160520"/>
            <a:ext cx="1188720" cy="457200"/>
          </a:xfrm>
          <a:prstGeom prst="rect">
            <a:avLst>
              <a:gd name="adj" fmla="val 8000"/>
            </a:avLst>
          </a:prstGeom>
          <a:solidFill>
            <a:srgbClr val="EEEEEE"/>
          </a:solidFill>
          <a:ln/>
        </p:spPr>
        <p:txBody>
          <a:bodyPr/>
          <a:p/>
        </p:txBody>
      </p:sp>
      <p:sp>
        <p:nvSpPr>
          <p:cNvPr id="33" name="Text 31"/>
          <p:cNvSpPr/>
          <p:nvPr/>
        </p:nvSpPr>
        <p:spPr>
          <a:xfrm>
            <a:off x="457200" y="4160520"/>
            <a:ext cx="1188720" cy="457200"/>
          </a:xfrm>
          <a:prstGeom prst="rect">
            <a:avLst/>
          </a:prstGeom>
          <a:noFill/>
          <a:ln/>
        </p:spPr>
        <p:txBody>
          <a:bodyPr wrap="square" rtlCol="0" anchor="ctr">
            <a:normAutofit/>
          </a:bodyPr>
          <a:lstStyle/>
          <a:p>
            <a:pPr algn="ctr" indent="0" marL="0">
              <a:buNone/>
            </a:pPr>
            <a:r>
              <a:rPr lang="en-US" sz="1000" dirty="0">
                <a:solidFill>
                  <a:srgbClr val="FFFFFF"/>
                </a:solidFill>
                <a:latin typeface="微软雅黑" pitchFamily="34" charset="0"/>
                <a:ea typeface="Arial Black" pitchFamily="34" charset="-122"/>
                <a:cs typeface="Arial Black" pitchFamily="34" charset="-120"/>
              </a:rPr>
              <a:t>解读后7天</a:t>
            </a:r>
            <a:endParaRPr lang="en-US" sz="1000" dirty="0"/>
          </a:p>
        </p:txBody>
      </p:sp>
      <p:sp>
        <p:nvSpPr>
          <p:cNvPr id="34" name="Text 32"/>
          <p:cNvSpPr/>
          <p:nvPr/>
        </p:nvSpPr>
        <p:spPr>
          <a:xfrm>
            <a:off x="1828800" y="4160520"/>
            <a:ext cx="3657600" cy="457200"/>
          </a:xfrm>
          <a:prstGeom prst="rect">
            <a:avLst/>
          </a:prstGeom>
          <a:noFill/>
          <a:ln/>
        </p:spPr>
        <p:txBody>
          <a:bodyPr wrap="square" rtlCol="0" anchor="ctr">
            <a:normAutofit/>
          </a:bodyPr>
          <a:lstStyle/>
          <a:p>
            <a:pPr indent="0" marL="0">
              <a:buNone/>
            </a:pPr>
            <a:r>
              <a:rPr lang="en-US" sz="1100" b="1" dirty="0">
                <a:solidFill>
                  <a:srgbClr val="FFFFFF"/>
                </a:solidFill>
                <a:latin typeface="微软雅黑" pitchFamily="34" charset="0"/>
                <a:ea typeface="Calibri" pitchFamily="34" charset="-122"/>
                <a:cs typeface="Calibri" pitchFamily="34" charset="-120"/>
              </a:rPr>
              <a:t>最后一次跟进，邀请体验课</a:t>
            </a:r>
            <a:endParaRPr lang="en-US" sz="1100" dirty="0"/>
          </a:p>
        </p:txBody>
      </p:sp>
      <p:sp>
        <p:nvSpPr>
          <p:cNvPr id="35" name="Text 33"/>
          <p:cNvSpPr/>
          <p:nvPr/>
        </p:nvSpPr>
        <p:spPr>
          <a:xfrm>
            <a:off x="5760720" y="4160520"/>
            <a:ext cx="2743200" cy="457200"/>
          </a:xfrm>
          <a:prstGeom prst="rect">
            <a:avLst/>
          </a:prstGeom>
          <a:noFill/>
          <a:ln/>
        </p:spPr>
        <p:txBody>
          <a:bodyPr wrap="square" rtlCol="0" anchor="ctr">
            <a:normAutofit/>
          </a:bodyPr>
          <a:lstStyle/>
          <a:p>
            <a:pPr indent="0" marL="0">
              <a:buNone/>
            </a:pPr>
            <a:r>
              <a:rPr lang="en-US" sz="1000" dirty="0">
                <a:solidFill>
                  <a:srgbClr val="FFFFFF"/>
                </a:solidFill>
                <a:latin typeface="微软雅黑" pitchFamily="34" charset="0"/>
                <a:ea typeface="Calibri" pitchFamily="34" charset="-122"/>
                <a:cs typeface="Calibri" pitchFamily="34" charset="-120"/>
              </a:rPr>
              <a:t>未成交则转入长期培育</a:t>
            </a:r>
            <a:endParaRPr lang="en-US" sz="1000" dirty="0"/>
          </a:p>
        </p:txBody>
      </p:sp>
      <p:sp>
        <p:nvSpPr>
          <p:cNvPr id="36" name="Rectangle 35"/>
          <p:cNvSpPr/>
          <p:nvPr/>
        </p:nvSpPr>
        <p:spPr>
          <a:xfrm rot="20700000">
            <a:off x="182880" y="771525"/>
            <a:ext cx="731520" cy="19050"/>
          </a:xfrm>
          <a:prstGeom prst="rect">
            <a:avLst/>
          </a:prstGeom>
          <a:solidFill>
            <a:srgbClr val="00E676">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rot="20700000">
            <a:off x="457200" y="1183005"/>
            <a:ext cx="914400" cy="25400"/>
          </a:xfrm>
          <a:prstGeom prst="rect">
            <a:avLst/>
          </a:prstGeom>
          <a:solidFill>
            <a:srgbClr val="00E676">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0"/>
            <a:ext cx="9144000" cy="4114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6B35"/>
          </a:solidFill>
          <a:ln/>
        </p:spPr>
        <p:txBody>
          <a:bodyPr/>
          <a:p/>
        </p:txBody>
      </p:sp>
      <p:sp>
        <p:nvSpPr>
          <p:cNvPr id="3" name="Shape 1"/>
          <p:cNvSpPr/>
          <p:nvPr/>
        </p:nvSpPr>
        <p:spPr>
          <a:xfrm>
            <a:off x="0" y="5088636"/>
            <a:ext cx="9144000" cy="54864"/>
          </a:xfrm>
          <a:prstGeom prst="rect">
            <a:avLst/>
          </a:prstGeom>
          <a:solidFill>
            <a:srgbClr val="1E2761"/>
          </a:solidFill>
          <a:ln/>
        </p:spPr>
        <p:txBody>
          <a:bodyPr/>
          <a:p/>
        </p:txBody>
      </p:sp>
      <p:sp>
        <p:nvSpPr>
          <p:cNvPr id="4" name="Shape 2"/>
          <p:cNvSpPr/>
          <p:nvPr/>
        </p:nvSpPr>
        <p:spPr>
          <a:xfrm>
            <a:off x="457200" y="228600"/>
            <a:ext cx="1463040" cy="292608"/>
          </a:xfrm>
          <a:prstGeom prst="rect">
            <a:avLst>
              <a:gd name="adj" fmla="val 12500"/>
            </a:avLst>
          </a:prstGeom>
          <a:solidFill>
            <a:srgbClr val="FFE8DD"/>
          </a:solidFill>
          <a:ln/>
        </p:spPr>
        <p:txBody>
          <a:bodyPr/>
          <a:p/>
        </p:txBody>
      </p:sp>
      <p:sp>
        <p:nvSpPr>
          <p:cNvPr id="5" name="Text 3"/>
          <p:cNvSpPr/>
          <p:nvPr/>
        </p:nvSpPr>
        <p:spPr>
          <a:xfrm>
            <a:off x="457200" y="228600"/>
            <a:ext cx="1463040" cy="292608"/>
          </a:xfrm>
          <a:prstGeom prst="rect">
            <a:avLst/>
          </a:prstGeom>
          <a:noFill/>
          <a:ln/>
        </p:spPr>
        <p:txBody>
          <a:bodyPr wrap="square" rtlCol="0" anchor="ctr">
            <a:normAutofit/>
          </a:bodyPr>
          <a:lstStyle/>
          <a:p>
            <a:pPr algn="ctr" indent="0" marL="0">
              <a:buNone/>
            </a:pPr>
            <a:r>
              <a:rPr lang="en-US" sz="1000" b="1" dirty="0">
                <a:solidFill>
                  <a:srgbClr val="FF6B35"/>
                </a:solidFill>
                <a:latin typeface="微软雅黑" pitchFamily="34" charset="0"/>
                <a:ea typeface="Calibri" pitchFamily="34" charset="-122"/>
                <a:cs typeface="Calibri" pitchFamily="34" charset="-120"/>
              </a:rPr>
              <a:t>体测解读与关单</a:t>
            </a:r>
            <a:endParaRPr lang="en-US" sz="1000" dirty="0"/>
          </a:p>
        </p:txBody>
      </p:sp>
      <p:sp>
        <p:nvSpPr>
          <p:cNvPr id="6" name="Text 4"/>
          <p:cNvSpPr/>
          <p:nvPr/>
        </p:nvSpPr>
        <p:spPr>
          <a:xfrm>
            <a:off x="457200" y="182880"/>
            <a:ext cx="8229600" cy="502920"/>
          </a:xfrm>
          <a:prstGeom prst="rect">
            <a:avLst/>
          </a:prstGeom>
          <a:noFill/>
          <a:ln/>
        </p:spPr>
        <p:txBody>
          <a:bodyPr wrap="square" rtlCol="0" anchor="b">
            <a:normAutofit/>
          </a:bodyPr>
          <a:lstStyle/>
          <a:p>
            <a:pPr indent="0" marL="0">
              <a:buNone/>
            </a:pPr>
            <a:r>
              <a:rPr lang="en-US" sz="2600" dirty="0">
                <a:solidFill>
                  <a:srgbClr val="FFFFFF"/>
                </a:solidFill>
                <a:latin typeface="微软雅黑" pitchFamily="34" charset="0"/>
                <a:ea typeface="Arial Black" pitchFamily="34" charset="-122"/>
                <a:cs typeface="Arial Black" pitchFamily="34" charset="-120"/>
              </a:rPr>
              <a:t>体测解读话术模板</a:t>
            </a:r>
            <a:endParaRPr lang="en-US" sz="2600" dirty="0"/>
          </a:p>
        </p:txBody>
      </p:sp>
      <p:sp>
        <p:nvSpPr>
          <p:cNvPr id="7" name="Text 5"/>
          <p:cNvSpPr/>
          <p:nvPr/>
        </p:nvSpPr>
        <p:spPr>
          <a:xfrm>
            <a:off x="457200" y="658368"/>
            <a:ext cx="8229600" cy="274320"/>
          </a:xfrm>
          <a:prstGeom prst="rect">
            <a:avLst/>
          </a:prstGeom>
          <a:noFill/>
          <a:ln/>
        </p:spPr>
        <p:txBody>
          <a:bodyPr wrap="square" rtlCol="0" anchor="ctr">
            <a:normAutofit/>
          </a:bodyPr>
          <a:lstStyle/>
          <a:p>
            <a:pPr indent="0" marL="0">
              <a:buNone/>
            </a:pPr>
            <a:r>
              <a:rPr lang="en-US" sz="1200" dirty="0">
                <a:solidFill>
                  <a:srgbClr val="FFFFFF"/>
                </a:solidFill>
                <a:latin typeface="微软雅黑" pitchFamily="34" charset="0"/>
                <a:ea typeface="Calibri" pitchFamily="34" charset="-122"/>
                <a:cs typeface="Calibri" pitchFamily="34" charset="-120"/>
              </a:rPr>
              <a:t>标准化话术，新手也能专业解读</a:t>
            </a:r>
            <a:endParaRPr lang="en-US" sz="1200" dirty="0"/>
          </a:p>
        </p:txBody>
      </p:sp>
      <p:sp>
        <p:nvSpPr>
          <p:cNvPr id="8" name="Text 6"/>
          <p:cNvSpPr/>
          <p:nvPr/>
        </p:nvSpPr>
        <p:spPr>
          <a:xfrm>
            <a:off x="7955280" y="4777740"/>
            <a:ext cx="731520" cy="274320"/>
          </a:xfrm>
          <a:prstGeom prst="rect">
            <a:avLst/>
          </a:prstGeom>
          <a:noFill/>
          <a:ln/>
        </p:spPr>
        <p:txBody>
          <a:bodyPr wrap="square" rtlCol="0" anchor="ctr">
            <a:normAutofit/>
          </a:bodyPr>
          <a:lstStyle/>
          <a:p>
            <a:pPr algn="r" indent="0" marL="0">
              <a:buNone/>
            </a:pPr>
            <a:r>
              <a:rPr lang="en-US" sz="900" dirty="0">
                <a:solidFill>
                  <a:srgbClr val="FFFFFF"/>
                </a:solidFill>
                <a:latin typeface="微软雅黑" pitchFamily="34" charset="0"/>
                <a:ea typeface="Calibri" pitchFamily="34" charset="-122"/>
                <a:cs typeface="Calibri" pitchFamily="34" charset="-120"/>
              </a:rPr>
              <a:t>11 / 15</a:t>
            </a:r>
            <a:endParaRPr lang="en-US" sz="900" dirty="0"/>
          </a:p>
        </p:txBody>
      </p:sp>
      <p:sp>
        <p:nvSpPr>
          <p:cNvPr id="9" name="Shape 7"/>
          <p:cNvSpPr/>
          <p:nvPr/>
        </p:nvSpPr>
        <p:spPr>
          <a:xfrm>
            <a:off x="457200" y="1005840"/>
            <a:ext cx="8229600" cy="3794760"/>
          </a:xfrm>
          <a:prstGeom prst="rect">
            <a:avLst>
              <a:gd name="adj" fmla="val 1928"/>
            </a:avLst>
          </a:prstGeom>
          <a:solidFill>
            <a:srgbClr val="1A2A50">
              <a:alpha val="70000"/>
            </a:srgbClr>
          </a:solidFill>
          <a:ln/>
          <a:effectLst>
            <a:outerShdw sx="100000" sy="100000" kx="0" ky="0" algn="bl" rotWithShape="0" blurRad="50800" dist="25400" dir="16200000">
              <a:srgbClr val="000000">
                <a:alpha val="6000"/>
              </a:srgbClr>
            </a:outerShdw>
          </a:effectLst>
        </p:spPr>
        <p:txBody>
          <a:bodyPr/>
          <a:p/>
        </p:txBody>
      </p:sp>
      <p:sp>
        <p:nvSpPr>
          <p:cNvPr id="10" name="Text 8"/>
          <p:cNvSpPr/>
          <p:nvPr/>
        </p:nvSpPr>
        <p:spPr>
          <a:xfrm>
            <a:off x="685800" y="1143000"/>
            <a:ext cx="7772400" cy="3520440"/>
          </a:xfrm>
          <a:prstGeom prst="rect">
            <a:avLst/>
          </a:prstGeom>
          <a:noFill/>
          <a:ln/>
        </p:spPr>
        <p:txBody>
          <a:bodyPr wrap="square" rtlCol="0" anchor="t"/>
          <a:lstStyle/>
          <a:p>
            <a:pPr indent="0" marL="0">
              <a:buNone/>
            </a:pPr>
            <a:r>
              <a:rPr lang="en-US" sz="1100" b="1" dirty="0">
                <a:solidFill>
                  <a:srgbClr val="FF6B35"/>
                </a:solidFill>
                <a:latin typeface="微软雅黑" pitchFamily="34" charset="0"/>
                <a:ea typeface="Calibri" pitchFamily="34" charset="-122"/>
                <a:cs typeface="Calibri" pitchFamily="34" charset="-120"/>
              </a:rPr>
              <a:t>开场白：</a:t>
            </a:r>
            <a:endParaRPr lang="en-US" sz="1100" dirty="0"/>
          </a:p>
          <a:p>
            <a:pPr indent="0" marL="0">
              <a:buNone/>
            </a:pPr>
            <a:r>
              <a:rPr lang="en-US" sz="1000" dirty="0">
                <a:solidFill>
                  <a:srgbClr val="FFFFFF"/>
                </a:solidFill>
                <a:latin typeface="微软雅黑" pitchFamily="34" charset="0"/>
                <a:ea typeface="Calibri" pitchFamily="34" charset="-122"/>
                <a:cs typeface="Calibri" pitchFamily="34" charset="-120"/>
              </a:rPr>
              <a:t>"妈妈您好，XX的体测报告出来了。整体来看，XX的身体素质在同龄孩子中处于中等水平，有几个亮点，也有一些需要关注的地方，我给您详细讲讲。"</a:t>
            </a:r>
            <a:endParaRPr lang="en-US" sz="1100" dirty="0"/>
          </a:p>
          <a:p>
            <a:pPr indent="0" marL="0">
              <a:buNone/>
            </a:pPr>
            <a:endParaRPr lang="en-US" sz="1100" dirty="0"/>
          </a:p>
          <a:p>
            <a:pPr indent="0" marL="0">
              <a:buNone/>
            </a:pPr>
            <a:r>
              <a:rPr lang="en-US" sz="1100" b="1" dirty="0">
                <a:solidFill>
                  <a:srgbClr val="2ECC71"/>
                </a:solidFill>
                <a:latin typeface="微软雅黑" pitchFamily="34" charset="0"/>
                <a:ea typeface="Calibri" pitchFamily="34" charset="-122"/>
                <a:cs typeface="Calibri" pitchFamily="34" charset="-120"/>
              </a:rPr>
              <a:t>亮点先行：</a:t>
            </a:r>
            <a:endParaRPr lang="en-US" sz="1100" dirty="0"/>
          </a:p>
          <a:p>
            <a:pPr indent="0" marL="0">
              <a:buNone/>
            </a:pPr>
            <a:r>
              <a:rPr lang="en-US" sz="1000" dirty="0">
                <a:solidFill>
                  <a:srgbClr val="FFFFFF"/>
                </a:solidFill>
                <a:latin typeface="微软雅黑" pitchFamily="34" charset="0"/>
                <a:ea typeface="Calibri" pitchFamily="34" charset="-122"/>
                <a:cs typeface="Calibri" pitchFamily="34" charset="-120"/>
              </a:rPr>
              <a:t>"XX的平衡能力测试得分很高，说明孩子的协调性不错，这在同龄孩子中是优势。"</a:t>
            </a:r>
            <a:endParaRPr lang="en-US" sz="1100" dirty="0"/>
          </a:p>
          <a:p>
            <a:pPr indent="0" marL="0">
              <a:buNone/>
            </a:pPr>
            <a:endParaRPr lang="en-US" sz="1100" dirty="0"/>
          </a:p>
          <a:p>
            <a:pPr indent="0" marL="0">
              <a:buNone/>
            </a:pPr>
            <a:r>
              <a:rPr lang="en-US" sz="1100" b="1" dirty="0">
                <a:solidFill>
                  <a:srgbClr val="E74C3C"/>
                </a:solidFill>
                <a:latin typeface="微软雅黑" pitchFamily="34" charset="0"/>
                <a:ea typeface="Calibri" pitchFamily="34" charset="-122"/>
                <a:cs typeface="Calibri" pitchFamily="34" charset="-120"/>
              </a:rPr>
              <a:t>问题揭示：</a:t>
            </a:r>
            <a:endParaRPr lang="en-US" sz="1100" dirty="0"/>
          </a:p>
          <a:p>
            <a:pPr indent="0" marL="0">
              <a:buNone/>
            </a:pPr>
            <a:r>
              <a:rPr lang="en-US" sz="1000" dirty="0">
                <a:solidFill>
                  <a:srgbClr val="FFFFFF"/>
                </a:solidFill>
                <a:latin typeface="微软雅黑" pitchFamily="34" charset="0"/>
                <a:ea typeface="Calibri" pitchFamily="34" charset="-122"/>
                <a:cs typeface="Calibri" pitchFamily="34" charset="-120"/>
              </a:rPr>
              <a:t>"不过我也注意到，XX的柔韧性和核心力量评分偏低。柔韧性不足可能影响运动表现，甚至增加运动受伤风险。核心力量弱的话，坐姿容易不端正，也影响专注力。"</a:t>
            </a:r>
            <a:endParaRPr lang="en-US" sz="1100" dirty="0"/>
          </a:p>
          <a:p>
            <a:pPr indent="0" marL="0">
              <a:buNone/>
            </a:pPr>
            <a:endParaRPr lang="en-US" sz="1100" dirty="0"/>
          </a:p>
          <a:p>
            <a:pPr indent="0" marL="0">
              <a:buNone/>
            </a:pPr>
            <a:r>
              <a:rPr lang="en-US" sz="1100" b="1" dirty="0">
                <a:solidFill>
                  <a:srgbClr val="FFFFFF"/>
                </a:solidFill>
                <a:latin typeface="微软雅黑" pitchFamily="34" charset="0"/>
                <a:ea typeface="Calibri" pitchFamily="34" charset="-122"/>
                <a:cs typeface="Calibri" pitchFamily="34" charset="-120"/>
              </a:rPr>
              <a:t>方案推荐：</a:t>
            </a:r>
            <a:endParaRPr lang="en-US" sz="1100" dirty="0"/>
          </a:p>
          <a:p>
            <a:pPr indent="0" marL="0">
              <a:buNone/>
            </a:pPr>
            <a:r>
              <a:rPr lang="en-US" sz="1000" dirty="0">
                <a:solidFill>
                  <a:srgbClr val="FFFFFF"/>
                </a:solidFill>
                <a:latin typeface="微软雅黑" pitchFamily="34" charset="0"/>
                <a:ea typeface="Calibri" pitchFamily="34" charset="-122"/>
                <a:cs typeface="Calibri" pitchFamily="34" charset="-120"/>
              </a:rPr>
              <a:t>"针对XX的情况，我建议报名我们的基础体能班，重点加强柔韧性和核心力量训练。像XX这样大的孩子，每周2-3次课，3个月就能看到明显改善。"</a:t>
            </a:r>
            <a:endParaRPr lang="en-US" sz="1100" dirty="0"/>
          </a:p>
          <a:p>
            <a:pPr indent="0" marL="0">
              <a:buNone/>
            </a:pPr>
            <a:endParaRPr lang="en-US" sz="1100" dirty="0"/>
          </a:p>
          <a:p>
            <a:pPr indent="0" marL="0">
              <a:buNone/>
            </a:pPr>
            <a:r>
              <a:rPr lang="en-US" sz="1100" b="1" dirty="0">
                <a:solidFill>
                  <a:srgbClr val="FF6B35"/>
                </a:solidFill>
                <a:latin typeface="微软雅黑" pitchFamily="34" charset="0"/>
                <a:ea typeface="Calibri" pitchFamily="34" charset="-122"/>
                <a:cs typeface="Calibri" pitchFamily="34" charset="-120"/>
              </a:rPr>
              <a:t>关单引导：</a:t>
            </a:r>
            <a:endParaRPr lang="en-US" sz="1100" dirty="0"/>
          </a:p>
          <a:p>
            <a:pPr indent="0" marL="0">
              <a:buNone/>
            </a:pPr>
            <a:r>
              <a:rPr lang="en-US" sz="1000" dirty="0">
                <a:solidFill>
                  <a:srgbClr val="FFFFFF"/>
                </a:solidFill>
                <a:latin typeface="微软雅黑" pitchFamily="34" charset="0"/>
                <a:ea typeface="Calibri" pitchFamily="34" charset="-122"/>
                <a:cs typeface="Calibri" pitchFamily="34" charset="-120"/>
              </a:rPr>
              <a:t>"这个月刚好有体测专属优惠，报名可以额外赠送2节课。您看是给孩子报周中的课还是周末的课？"</a:t>
            </a:r>
            <a:endParaRPr lang="en-US" sz="1100" dirty="0"/>
          </a:p>
        </p:txBody>
      </p:sp>
      <p:sp>
        <p:nvSpPr>
          <p:cNvPr id="11" name="Rectangle 10"/>
          <p:cNvSpPr/>
          <p:nvPr/>
        </p:nvSpPr>
        <p:spPr>
          <a:xfrm>
            <a:off x="0" y="0"/>
            <a:ext cx="9144000" cy="4114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4371975"/>
            <a:ext cx="9144000" cy="771525"/>
          </a:xfrm>
          <a:prstGeom prst="rect">
            <a:avLst/>
          </a:prstGeom>
          <a:solidFill>
            <a:srgbClr val="14244D">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6B35"/>
          </a:solidFill>
          <a:ln/>
        </p:spPr>
        <p:txBody>
          <a:bodyPr/>
          <a:p/>
        </p:txBody>
      </p:sp>
      <p:sp>
        <p:nvSpPr>
          <p:cNvPr id="3" name="Shape 1"/>
          <p:cNvSpPr/>
          <p:nvPr/>
        </p:nvSpPr>
        <p:spPr>
          <a:xfrm>
            <a:off x="0" y="5088636"/>
            <a:ext cx="9144000" cy="54864"/>
          </a:xfrm>
          <a:prstGeom prst="rect">
            <a:avLst/>
          </a:prstGeom>
          <a:solidFill>
            <a:srgbClr val="1E2761"/>
          </a:solidFill>
          <a:ln/>
        </p:spPr>
        <p:txBody>
          <a:bodyPr/>
          <a:p/>
        </p:txBody>
      </p:sp>
      <p:sp>
        <p:nvSpPr>
          <p:cNvPr id="4" name="Shape 2"/>
          <p:cNvSpPr/>
          <p:nvPr/>
        </p:nvSpPr>
        <p:spPr>
          <a:xfrm>
            <a:off x="457200" y="228600"/>
            <a:ext cx="1463040" cy="292608"/>
          </a:xfrm>
          <a:prstGeom prst="rect">
            <a:avLst>
              <a:gd name="adj" fmla="val 12500"/>
            </a:avLst>
          </a:prstGeom>
          <a:solidFill>
            <a:srgbClr val="FFE8DD"/>
          </a:solidFill>
          <a:ln/>
        </p:spPr>
        <p:txBody>
          <a:bodyPr/>
          <a:p/>
        </p:txBody>
      </p:sp>
      <p:sp>
        <p:nvSpPr>
          <p:cNvPr id="5" name="Text 3"/>
          <p:cNvSpPr/>
          <p:nvPr/>
        </p:nvSpPr>
        <p:spPr>
          <a:xfrm>
            <a:off x="457200" y="228600"/>
            <a:ext cx="1463040" cy="292608"/>
          </a:xfrm>
          <a:prstGeom prst="rect">
            <a:avLst/>
          </a:prstGeom>
          <a:noFill/>
          <a:ln/>
        </p:spPr>
        <p:txBody>
          <a:bodyPr wrap="square" rtlCol="0" anchor="ctr">
            <a:normAutofit/>
          </a:bodyPr>
          <a:lstStyle/>
          <a:p>
            <a:pPr algn="ctr" indent="0" marL="0">
              <a:buNone/>
            </a:pPr>
            <a:r>
              <a:rPr lang="en-US" sz="1000" b="1" dirty="0">
                <a:solidFill>
                  <a:srgbClr val="FF6B35"/>
                </a:solidFill>
                <a:latin typeface="微软雅黑" pitchFamily="34" charset="0"/>
                <a:ea typeface="Calibri" pitchFamily="34" charset="-122"/>
                <a:cs typeface="Calibri" pitchFamily="34" charset="-120"/>
              </a:rPr>
              <a:t>体测解读与关单</a:t>
            </a:r>
            <a:endParaRPr lang="en-US" sz="1000" dirty="0"/>
          </a:p>
        </p:txBody>
      </p:sp>
      <p:sp>
        <p:nvSpPr>
          <p:cNvPr id="6" name="Text 4"/>
          <p:cNvSpPr/>
          <p:nvPr/>
        </p:nvSpPr>
        <p:spPr>
          <a:xfrm>
            <a:off x="457200" y="182880"/>
            <a:ext cx="8229600" cy="502920"/>
          </a:xfrm>
          <a:prstGeom prst="rect">
            <a:avLst/>
          </a:prstGeom>
          <a:noFill/>
          <a:ln/>
        </p:spPr>
        <p:txBody>
          <a:bodyPr wrap="square" rtlCol="0" anchor="b">
            <a:normAutofit/>
          </a:bodyPr>
          <a:lstStyle/>
          <a:p>
            <a:pPr indent="0" marL="0">
              <a:buNone/>
            </a:pPr>
            <a:r>
              <a:rPr lang="en-US" sz="2600" dirty="0">
                <a:solidFill>
                  <a:srgbClr val="FFFFFF"/>
                </a:solidFill>
                <a:latin typeface="微软雅黑" pitchFamily="34" charset="0"/>
                <a:ea typeface="Arial Black" pitchFamily="34" charset="-122"/>
                <a:cs typeface="Arial Black" pitchFamily="34" charset="-120"/>
              </a:rPr>
              <a:t>体测单项分析要点</a:t>
            </a:r>
            <a:endParaRPr lang="en-US" sz="2600" dirty="0"/>
          </a:p>
        </p:txBody>
      </p:sp>
      <p:sp>
        <p:nvSpPr>
          <p:cNvPr id="7" name="Text 5"/>
          <p:cNvSpPr/>
          <p:nvPr/>
        </p:nvSpPr>
        <p:spPr>
          <a:xfrm>
            <a:off x="457200" y="658368"/>
            <a:ext cx="8229600" cy="274320"/>
          </a:xfrm>
          <a:prstGeom prst="rect">
            <a:avLst/>
          </a:prstGeom>
          <a:noFill/>
          <a:ln/>
        </p:spPr>
        <p:txBody>
          <a:bodyPr wrap="square" rtlCol="0" anchor="ctr">
            <a:normAutofit/>
          </a:bodyPr>
          <a:lstStyle/>
          <a:p>
            <a:pPr indent="0" marL="0">
              <a:buNone/>
            </a:pPr>
            <a:r>
              <a:rPr lang="en-US" sz="1200" dirty="0">
                <a:solidFill>
                  <a:srgbClr val="FFFFFF"/>
                </a:solidFill>
                <a:latin typeface="微软雅黑" pitchFamily="34" charset="0"/>
                <a:ea typeface="Calibri" pitchFamily="34" charset="-122"/>
                <a:cs typeface="Calibri" pitchFamily="34" charset="-120"/>
              </a:rPr>
              <a:t>8项指标一句话解读</a:t>
            </a:r>
            <a:endParaRPr lang="en-US" sz="1200" dirty="0"/>
          </a:p>
        </p:txBody>
      </p:sp>
      <p:sp>
        <p:nvSpPr>
          <p:cNvPr id="8" name="Text 6"/>
          <p:cNvSpPr/>
          <p:nvPr/>
        </p:nvSpPr>
        <p:spPr>
          <a:xfrm>
            <a:off x="7955280" y="4777740"/>
            <a:ext cx="731520" cy="274320"/>
          </a:xfrm>
          <a:prstGeom prst="rect">
            <a:avLst/>
          </a:prstGeom>
          <a:noFill/>
          <a:ln/>
        </p:spPr>
        <p:txBody>
          <a:bodyPr wrap="square" rtlCol="0" anchor="ctr">
            <a:normAutofit/>
          </a:bodyPr>
          <a:lstStyle/>
          <a:p>
            <a:pPr algn="r" indent="0" marL="0">
              <a:buNone/>
            </a:pPr>
            <a:r>
              <a:rPr lang="en-US" sz="900" dirty="0">
                <a:solidFill>
                  <a:srgbClr val="FFFFFF"/>
                </a:solidFill>
                <a:latin typeface="微软雅黑" pitchFamily="34" charset="0"/>
                <a:ea typeface="Calibri" pitchFamily="34" charset="-122"/>
                <a:cs typeface="Calibri" pitchFamily="34" charset="-120"/>
              </a:rPr>
              <a:t>12 / 15</a:t>
            </a:r>
            <a:endParaRPr lang="en-US" sz="900" dirty="0"/>
          </a:p>
        </p:txBody>
      </p:sp>
      <p:sp>
        <p:nvSpPr>
          <p:cNvPr id="9" name="Shape 7"/>
          <p:cNvSpPr/>
          <p:nvPr/>
        </p:nvSpPr>
        <p:spPr>
          <a:xfrm>
            <a:off x="457200" y="1005840"/>
            <a:ext cx="3977640" cy="731520"/>
          </a:xfrm>
          <a:prstGeom prst="rect">
            <a:avLst>
              <a:gd name="adj" fmla="val 7500"/>
            </a:avLst>
          </a:prstGeom>
          <a:solidFill>
            <a:srgbClr val="1A2A50">
              <a:alpha val="70000"/>
            </a:srgbClr>
          </a:solidFill>
          <a:ln/>
          <a:effectLst>
            <a:outerShdw sx="100000" sy="100000" kx="0" ky="0" algn="bl" rotWithShape="0" blurRad="25400" dist="12700" dir="16200000">
              <a:srgbClr val="000000">
                <a:alpha val="4000"/>
              </a:srgbClr>
            </a:outerShdw>
          </a:effectLst>
        </p:spPr>
        <p:txBody>
          <a:bodyPr/>
          <a:p/>
        </p:txBody>
      </p:sp>
      <p:sp>
        <p:nvSpPr>
          <p:cNvPr id="10" name="Shape 8"/>
          <p:cNvSpPr/>
          <p:nvPr/>
        </p:nvSpPr>
        <p:spPr>
          <a:xfrm>
            <a:off x="457200" y="1005840"/>
            <a:ext cx="54864" cy="731520"/>
          </a:xfrm>
          <a:prstGeom prst="rect">
            <a:avLst>
              <a:gd name="adj" fmla="val 50000"/>
            </a:avLst>
          </a:prstGeom>
          <a:solidFill>
            <a:srgbClr val="FF6B35"/>
          </a:solidFill>
          <a:ln/>
        </p:spPr>
        <p:txBody>
          <a:bodyPr/>
          <a:p/>
        </p:txBody>
      </p:sp>
      <p:sp>
        <p:nvSpPr>
          <p:cNvPr id="11" name="Text 9"/>
          <p:cNvSpPr/>
          <p:nvPr/>
        </p:nvSpPr>
        <p:spPr>
          <a:xfrm>
            <a:off x="621792" y="1051560"/>
            <a:ext cx="1097280" cy="640080"/>
          </a:xfrm>
          <a:prstGeom prst="rect">
            <a:avLst/>
          </a:prstGeom>
          <a:noFill/>
          <a:ln/>
        </p:spPr>
        <p:txBody>
          <a:bodyPr wrap="square" rtlCol="0" anchor="ctr">
            <a:normAutofit/>
          </a:bodyPr>
          <a:lstStyle/>
          <a:p>
            <a:pPr indent="0" marL="0">
              <a:buNone/>
            </a:pPr>
            <a:r>
              <a:rPr lang="en-US" sz="1200" dirty="0">
                <a:solidFill>
                  <a:srgbClr val="FFFFFF"/>
                </a:solidFill>
                <a:latin typeface="微软雅黑" pitchFamily="34" charset="0"/>
                <a:ea typeface="Arial Black" pitchFamily="34" charset="-122"/>
                <a:cs typeface="Arial Black" pitchFamily="34" charset="-120"/>
              </a:rPr>
              <a:t>身高体重</a:t>
            </a:r>
            <a:endParaRPr lang="en-US" sz="1200" dirty="0"/>
          </a:p>
        </p:txBody>
      </p:sp>
      <p:sp>
        <p:nvSpPr>
          <p:cNvPr id="12" name="Text 10"/>
          <p:cNvSpPr/>
          <p:nvPr/>
        </p:nvSpPr>
        <p:spPr>
          <a:xfrm>
            <a:off x="1737360" y="1051560"/>
            <a:ext cx="2514600" cy="640080"/>
          </a:xfrm>
          <a:prstGeom prst="rect">
            <a:avLst/>
          </a:prstGeom>
          <a:noFill/>
          <a:ln/>
        </p:spPr>
        <p:txBody>
          <a:bodyPr wrap="square" rtlCol="0" anchor="ctr"/>
          <a:lstStyle/>
          <a:p>
            <a:pPr indent="0" marL="0">
              <a:buNone/>
            </a:pPr>
            <a:r>
              <a:rPr lang="en-US" sz="1000" dirty="0">
                <a:solidFill>
                  <a:srgbClr val="FFFFFF"/>
                </a:solidFill>
                <a:latin typeface="微软雅黑" pitchFamily="34" charset="0"/>
                <a:ea typeface="Calibri" pitchFamily="34" charset="-122"/>
                <a:cs typeface="Calibri" pitchFamily="34" charset="-120"/>
              </a:rPr>
              <a:t>BMI偏离标准区间，影响骨骼发育和运动能力基础</a:t>
            </a:r>
            <a:endParaRPr lang="en-US" sz="1000" dirty="0"/>
          </a:p>
        </p:txBody>
      </p:sp>
      <p:sp>
        <p:nvSpPr>
          <p:cNvPr id="13" name="Shape 11"/>
          <p:cNvSpPr/>
          <p:nvPr/>
        </p:nvSpPr>
        <p:spPr>
          <a:xfrm>
            <a:off x="4617720" y="1005840"/>
            <a:ext cx="3977640" cy="731520"/>
          </a:xfrm>
          <a:prstGeom prst="rect">
            <a:avLst>
              <a:gd name="adj" fmla="val 7500"/>
            </a:avLst>
          </a:prstGeom>
          <a:solidFill>
            <a:srgbClr val="1A2A50">
              <a:alpha val="70000"/>
            </a:srgbClr>
          </a:solidFill>
          <a:ln/>
          <a:effectLst>
            <a:outerShdw sx="100000" sy="100000" kx="0" ky="0" algn="bl" rotWithShape="0" blurRad="25400" dist="12700" dir="16200000">
              <a:srgbClr val="000000">
                <a:alpha val="4000"/>
              </a:srgbClr>
            </a:outerShdw>
          </a:effectLst>
        </p:spPr>
        <p:txBody>
          <a:bodyPr/>
          <a:p/>
        </p:txBody>
      </p:sp>
      <p:sp>
        <p:nvSpPr>
          <p:cNvPr id="14" name="Shape 12"/>
          <p:cNvSpPr/>
          <p:nvPr/>
        </p:nvSpPr>
        <p:spPr>
          <a:xfrm>
            <a:off x="4617720" y="1005840"/>
            <a:ext cx="54864" cy="731520"/>
          </a:xfrm>
          <a:prstGeom prst="rect">
            <a:avLst>
              <a:gd name="adj" fmla="val 50000"/>
            </a:avLst>
          </a:prstGeom>
          <a:solidFill>
            <a:srgbClr val="E67E22"/>
          </a:solidFill>
          <a:ln/>
        </p:spPr>
        <p:txBody>
          <a:bodyPr/>
          <a:p/>
        </p:txBody>
      </p:sp>
      <p:sp>
        <p:nvSpPr>
          <p:cNvPr id="15" name="Text 13"/>
          <p:cNvSpPr/>
          <p:nvPr/>
        </p:nvSpPr>
        <p:spPr>
          <a:xfrm>
            <a:off x="4782312" y="1051560"/>
            <a:ext cx="1097280" cy="640080"/>
          </a:xfrm>
          <a:prstGeom prst="rect">
            <a:avLst/>
          </a:prstGeom>
          <a:noFill/>
          <a:ln/>
        </p:spPr>
        <p:txBody>
          <a:bodyPr wrap="square" rtlCol="0" anchor="ctr">
            <a:normAutofit/>
          </a:bodyPr>
          <a:lstStyle/>
          <a:p>
            <a:pPr indent="0" marL="0">
              <a:buNone/>
            </a:pPr>
            <a:r>
              <a:rPr lang="en-US" sz="1200" dirty="0">
                <a:solidFill>
                  <a:srgbClr val="FFFFFF"/>
                </a:solidFill>
                <a:latin typeface="微软雅黑" pitchFamily="34" charset="0"/>
                <a:ea typeface="Arial Black" pitchFamily="34" charset="-122"/>
                <a:cs typeface="Arial Black" pitchFamily="34" charset="-120"/>
              </a:rPr>
              <a:t>柔韧性</a:t>
            </a:r>
            <a:endParaRPr lang="en-US" sz="1200" dirty="0"/>
          </a:p>
        </p:txBody>
      </p:sp>
      <p:sp>
        <p:nvSpPr>
          <p:cNvPr id="16" name="Text 14"/>
          <p:cNvSpPr/>
          <p:nvPr/>
        </p:nvSpPr>
        <p:spPr>
          <a:xfrm>
            <a:off x="5897880" y="1051560"/>
            <a:ext cx="2514600" cy="640080"/>
          </a:xfrm>
          <a:prstGeom prst="rect">
            <a:avLst/>
          </a:prstGeom>
          <a:noFill/>
          <a:ln/>
        </p:spPr>
        <p:txBody>
          <a:bodyPr wrap="square" rtlCol="0" anchor="ctr"/>
          <a:lstStyle/>
          <a:p>
            <a:pPr indent="0" marL="0">
              <a:buNone/>
            </a:pPr>
            <a:r>
              <a:rPr lang="en-US" sz="1000" dirty="0">
                <a:solidFill>
                  <a:srgbClr val="FFFFFF"/>
                </a:solidFill>
                <a:latin typeface="微软雅黑" pitchFamily="34" charset="0"/>
                <a:ea typeface="Calibri" pitchFamily="34" charset="-122"/>
                <a:cs typeface="Calibri" pitchFamily="34" charset="-120"/>
              </a:rPr>
              <a:t>柔韧不足导致动作受限，增加运动损伤风险</a:t>
            </a:r>
            <a:endParaRPr lang="en-US" sz="1000" dirty="0"/>
          </a:p>
        </p:txBody>
      </p:sp>
      <p:sp>
        <p:nvSpPr>
          <p:cNvPr id="17" name="Shape 15"/>
          <p:cNvSpPr/>
          <p:nvPr/>
        </p:nvSpPr>
        <p:spPr>
          <a:xfrm>
            <a:off x="457200" y="1874520"/>
            <a:ext cx="3977640" cy="731520"/>
          </a:xfrm>
          <a:prstGeom prst="rect">
            <a:avLst>
              <a:gd name="adj" fmla="val 7500"/>
            </a:avLst>
          </a:prstGeom>
          <a:solidFill>
            <a:srgbClr val="1A2A50">
              <a:alpha val="70000"/>
            </a:srgbClr>
          </a:solidFill>
          <a:ln/>
          <a:effectLst>
            <a:outerShdw sx="100000" sy="100000" kx="0" ky="0" algn="bl" rotWithShape="0" blurRad="25400" dist="12700" dir="16200000">
              <a:srgbClr val="000000">
                <a:alpha val="4000"/>
              </a:srgbClr>
            </a:outerShdw>
          </a:effectLst>
        </p:spPr>
        <p:txBody>
          <a:bodyPr/>
          <a:p/>
        </p:txBody>
      </p:sp>
      <p:sp>
        <p:nvSpPr>
          <p:cNvPr id="18" name="Shape 16"/>
          <p:cNvSpPr/>
          <p:nvPr/>
        </p:nvSpPr>
        <p:spPr>
          <a:xfrm>
            <a:off x="457200" y="1874520"/>
            <a:ext cx="54864" cy="731520"/>
          </a:xfrm>
          <a:prstGeom prst="rect">
            <a:avLst>
              <a:gd name="adj" fmla="val 50000"/>
            </a:avLst>
          </a:prstGeom>
          <a:solidFill>
            <a:srgbClr val="1E2761"/>
          </a:solidFill>
          <a:ln/>
        </p:spPr>
        <p:txBody>
          <a:bodyPr/>
          <a:p/>
        </p:txBody>
      </p:sp>
      <p:sp>
        <p:nvSpPr>
          <p:cNvPr id="19" name="Text 17"/>
          <p:cNvSpPr/>
          <p:nvPr/>
        </p:nvSpPr>
        <p:spPr>
          <a:xfrm>
            <a:off x="621792" y="1920240"/>
            <a:ext cx="1097280" cy="640080"/>
          </a:xfrm>
          <a:prstGeom prst="rect">
            <a:avLst/>
          </a:prstGeom>
          <a:noFill/>
          <a:ln/>
        </p:spPr>
        <p:txBody>
          <a:bodyPr wrap="square" rtlCol="0" anchor="ctr">
            <a:normAutofit/>
          </a:bodyPr>
          <a:lstStyle/>
          <a:p>
            <a:pPr indent="0" marL="0">
              <a:buNone/>
            </a:pPr>
            <a:r>
              <a:rPr lang="en-US" sz="1200" dirty="0">
                <a:solidFill>
                  <a:srgbClr val="FFFFFF"/>
                </a:solidFill>
                <a:latin typeface="微软雅黑" pitchFamily="34" charset="0"/>
                <a:ea typeface="Arial Black" pitchFamily="34" charset="-122"/>
                <a:cs typeface="Arial Black" pitchFamily="34" charset="-120"/>
              </a:rPr>
              <a:t>力量</a:t>
            </a:r>
            <a:endParaRPr lang="en-US" sz="1200" dirty="0"/>
          </a:p>
        </p:txBody>
      </p:sp>
      <p:sp>
        <p:nvSpPr>
          <p:cNvPr id="20" name="Text 18"/>
          <p:cNvSpPr/>
          <p:nvPr/>
        </p:nvSpPr>
        <p:spPr>
          <a:xfrm>
            <a:off x="1737360" y="1920240"/>
            <a:ext cx="2514600" cy="640080"/>
          </a:xfrm>
          <a:prstGeom prst="rect">
            <a:avLst/>
          </a:prstGeom>
          <a:noFill/>
          <a:ln/>
        </p:spPr>
        <p:txBody>
          <a:bodyPr wrap="square" rtlCol="0" anchor="ctr"/>
          <a:lstStyle/>
          <a:p>
            <a:pPr indent="0" marL="0">
              <a:buNone/>
            </a:pPr>
            <a:r>
              <a:rPr lang="en-US" sz="1000" dirty="0">
                <a:solidFill>
                  <a:srgbClr val="FFFFFF"/>
                </a:solidFill>
                <a:latin typeface="微软雅黑" pitchFamily="34" charset="0"/>
                <a:ea typeface="Calibri" pitchFamily="34" charset="-122"/>
                <a:cs typeface="Calibri" pitchFamily="34" charset="-120"/>
              </a:rPr>
              <a:t>力量不足影响运动表现，降低孩子运动自信心</a:t>
            </a:r>
            <a:endParaRPr lang="en-US" sz="1000" dirty="0"/>
          </a:p>
        </p:txBody>
      </p:sp>
      <p:sp>
        <p:nvSpPr>
          <p:cNvPr id="21" name="Shape 19"/>
          <p:cNvSpPr/>
          <p:nvPr/>
        </p:nvSpPr>
        <p:spPr>
          <a:xfrm>
            <a:off x="4617720" y="1874520"/>
            <a:ext cx="3977640" cy="731520"/>
          </a:xfrm>
          <a:prstGeom prst="rect">
            <a:avLst>
              <a:gd name="adj" fmla="val 7500"/>
            </a:avLst>
          </a:prstGeom>
          <a:solidFill>
            <a:srgbClr val="1A2A50">
              <a:alpha val="70000"/>
            </a:srgbClr>
          </a:solidFill>
          <a:ln/>
          <a:effectLst>
            <a:outerShdw sx="100000" sy="100000" kx="0" ky="0" algn="bl" rotWithShape="0" blurRad="25400" dist="12700" dir="16200000">
              <a:srgbClr val="000000">
                <a:alpha val="4000"/>
              </a:srgbClr>
            </a:outerShdw>
          </a:effectLst>
        </p:spPr>
        <p:txBody>
          <a:bodyPr/>
          <a:p/>
        </p:txBody>
      </p:sp>
      <p:sp>
        <p:nvSpPr>
          <p:cNvPr id="22" name="Shape 20"/>
          <p:cNvSpPr/>
          <p:nvPr/>
        </p:nvSpPr>
        <p:spPr>
          <a:xfrm>
            <a:off x="4617720" y="1874520"/>
            <a:ext cx="54864" cy="731520"/>
          </a:xfrm>
          <a:prstGeom prst="rect">
            <a:avLst>
              <a:gd name="adj" fmla="val 50000"/>
            </a:avLst>
          </a:prstGeom>
          <a:solidFill>
            <a:srgbClr val="8E44AD"/>
          </a:solidFill>
          <a:ln/>
        </p:spPr>
        <p:txBody>
          <a:bodyPr/>
          <a:p/>
        </p:txBody>
      </p:sp>
      <p:sp>
        <p:nvSpPr>
          <p:cNvPr id="23" name="Text 21"/>
          <p:cNvSpPr/>
          <p:nvPr/>
        </p:nvSpPr>
        <p:spPr>
          <a:xfrm>
            <a:off x="4782312" y="1920240"/>
            <a:ext cx="1097280" cy="640080"/>
          </a:xfrm>
          <a:prstGeom prst="rect">
            <a:avLst/>
          </a:prstGeom>
          <a:noFill/>
          <a:ln/>
        </p:spPr>
        <p:txBody>
          <a:bodyPr wrap="square" rtlCol="0" anchor="ctr">
            <a:normAutofit/>
          </a:bodyPr>
          <a:lstStyle/>
          <a:p>
            <a:pPr indent="0" marL="0">
              <a:buNone/>
            </a:pPr>
            <a:r>
              <a:rPr lang="en-US" sz="1200" dirty="0">
                <a:solidFill>
                  <a:srgbClr val="FFFFFF"/>
                </a:solidFill>
                <a:latin typeface="微软雅黑" pitchFamily="34" charset="0"/>
                <a:ea typeface="Arial Black" pitchFamily="34" charset="-122"/>
                <a:cs typeface="Arial Black" pitchFamily="34" charset="-120"/>
              </a:rPr>
              <a:t>灵敏度</a:t>
            </a:r>
            <a:endParaRPr lang="en-US" sz="1200" dirty="0"/>
          </a:p>
        </p:txBody>
      </p:sp>
      <p:sp>
        <p:nvSpPr>
          <p:cNvPr id="24" name="Text 22"/>
          <p:cNvSpPr/>
          <p:nvPr/>
        </p:nvSpPr>
        <p:spPr>
          <a:xfrm>
            <a:off x="5897880" y="1920240"/>
            <a:ext cx="2514600" cy="640080"/>
          </a:xfrm>
          <a:prstGeom prst="rect">
            <a:avLst/>
          </a:prstGeom>
          <a:noFill/>
          <a:ln/>
        </p:spPr>
        <p:txBody>
          <a:bodyPr wrap="square" rtlCol="0" anchor="ctr"/>
          <a:lstStyle/>
          <a:p>
            <a:pPr indent="0" marL="0">
              <a:buNone/>
            </a:pPr>
            <a:r>
              <a:rPr lang="en-US" sz="1000" dirty="0">
                <a:solidFill>
                  <a:srgbClr val="FFFFFF"/>
                </a:solidFill>
                <a:latin typeface="微软雅黑" pitchFamily="34" charset="0"/>
                <a:ea typeface="Calibri" pitchFamily="34" charset="-122"/>
                <a:cs typeface="Calibri" pitchFamily="34" charset="-120"/>
              </a:rPr>
              <a:t>反应速度和变向能力弱，影响体育课表现和团队运动</a:t>
            </a:r>
            <a:endParaRPr lang="en-US" sz="1000" dirty="0"/>
          </a:p>
        </p:txBody>
      </p:sp>
      <p:sp>
        <p:nvSpPr>
          <p:cNvPr id="25" name="Shape 23"/>
          <p:cNvSpPr/>
          <p:nvPr/>
        </p:nvSpPr>
        <p:spPr>
          <a:xfrm>
            <a:off x="457200" y="2743200"/>
            <a:ext cx="3977640" cy="731520"/>
          </a:xfrm>
          <a:prstGeom prst="rect">
            <a:avLst>
              <a:gd name="adj" fmla="val 7500"/>
            </a:avLst>
          </a:prstGeom>
          <a:solidFill>
            <a:srgbClr val="1A2A50">
              <a:alpha val="70000"/>
            </a:srgbClr>
          </a:solidFill>
          <a:ln/>
          <a:effectLst>
            <a:outerShdw sx="100000" sy="100000" kx="0" ky="0" algn="bl" rotWithShape="0" blurRad="25400" dist="12700" dir="16200000">
              <a:srgbClr val="000000">
                <a:alpha val="4000"/>
              </a:srgbClr>
            </a:outerShdw>
          </a:effectLst>
        </p:spPr>
        <p:txBody>
          <a:bodyPr/>
          <a:p/>
        </p:txBody>
      </p:sp>
      <p:sp>
        <p:nvSpPr>
          <p:cNvPr id="26" name="Shape 24"/>
          <p:cNvSpPr/>
          <p:nvPr/>
        </p:nvSpPr>
        <p:spPr>
          <a:xfrm>
            <a:off x="457200" y="2743200"/>
            <a:ext cx="54864" cy="731520"/>
          </a:xfrm>
          <a:prstGeom prst="rect">
            <a:avLst>
              <a:gd name="adj" fmla="val 50000"/>
            </a:avLst>
          </a:prstGeom>
          <a:solidFill>
            <a:srgbClr val="27AE60"/>
          </a:solidFill>
          <a:ln/>
        </p:spPr>
        <p:txBody>
          <a:bodyPr/>
          <a:p/>
        </p:txBody>
      </p:sp>
      <p:sp>
        <p:nvSpPr>
          <p:cNvPr id="27" name="Text 25"/>
          <p:cNvSpPr/>
          <p:nvPr/>
        </p:nvSpPr>
        <p:spPr>
          <a:xfrm>
            <a:off x="621792" y="2788920"/>
            <a:ext cx="1097280" cy="640080"/>
          </a:xfrm>
          <a:prstGeom prst="rect">
            <a:avLst/>
          </a:prstGeom>
          <a:noFill/>
          <a:ln/>
        </p:spPr>
        <p:txBody>
          <a:bodyPr wrap="square" rtlCol="0" anchor="ctr">
            <a:normAutofit/>
          </a:bodyPr>
          <a:lstStyle/>
          <a:p>
            <a:pPr indent="0" marL="0">
              <a:buNone/>
            </a:pPr>
            <a:r>
              <a:rPr lang="en-US" sz="1200" dirty="0">
                <a:solidFill>
                  <a:srgbClr val="FFFFFF"/>
                </a:solidFill>
                <a:latin typeface="微软雅黑" pitchFamily="34" charset="0"/>
                <a:ea typeface="Arial Black" pitchFamily="34" charset="-122"/>
                <a:cs typeface="Arial Black" pitchFamily="34" charset="-120"/>
              </a:rPr>
              <a:t>平衡力</a:t>
            </a:r>
            <a:endParaRPr lang="en-US" sz="1200" dirty="0"/>
          </a:p>
        </p:txBody>
      </p:sp>
      <p:sp>
        <p:nvSpPr>
          <p:cNvPr id="28" name="Text 26"/>
          <p:cNvSpPr/>
          <p:nvPr/>
        </p:nvSpPr>
        <p:spPr>
          <a:xfrm>
            <a:off x="1737360" y="2788920"/>
            <a:ext cx="2514600" cy="640080"/>
          </a:xfrm>
          <a:prstGeom prst="rect">
            <a:avLst/>
          </a:prstGeom>
          <a:noFill/>
          <a:ln/>
        </p:spPr>
        <p:txBody>
          <a:bodyPr wrap="square" rtlCol="0" anchor="ctr"/>
          <a:lstStyle/>
          <a:p>
            <a:pPr indent="0" marL="0">
              <a:buNone/>
            </a:pPr>
            <a:r>
              <a:rPr lang="en-US" sz="1000" dirty="0">
                <a:solidFill>
                  <a:srgbClr val="FFFFFF"/>
                </a:solidFill>
                <a:latin typeface="微软雅黑" pitchFamily="34" charset="0"/>
                <a:ea typeface="Calibri" pitchFamily="34" charset="-122"/>
                <a:cs typeface="Calibri" pitchFamily="34" charset="-120"/>
              </a:rPr>
              <a:t>平衡能力弱容易摔倒，影响协调性发展和精细动作</a:t>
            </a:r>
            <a:endParaRPr lang="en-US" sz="1000" dirty="0"/>
          </a:p>
        </p:txBody>
      </p:sp>
      <p:sp>
        <p:nvSpPr>
          <p:cNvPr id="29" name="Shape 27"/>
          <p:cNvSpPr/>
          <p:nvPr/>
        </p:nvSpPr>
        <p:spPr>
          <a:xfrm>
            <a:off x="4617720" y="2743200"/>
            <a:ext cx="3977640" cy="731520"/>
          </a:xfrm>
          <a:prstGeom prst="rect">
            <a:avLst>
              <a:gd name="adj" fmla="val 7500"/>
            </a:avLst>
          </a:prstGeom>
          <a:solidFill>
            <a:srgbClr val="1A2A50">
              <a:alpha val="70000"/>
            </a:srgbClr>
          </a:solidFill>
          <a:ln/>
          <a:effectLst>
            <a:outerShdw sx="100000" sy="100000" kx="0" ky="0" algn="bl" rotWithShape="0" blurRad="25400" dist="12700" dir="16200000">
              <a:srgbClr val="000000">
                <a:alpha val="4000"/>
              </a:srgbClr>
            </a:outerShdw>
          </a:effectLst>
        </p:spPr>
        <p:txBody>
          <a:bodyPr/>
          <a:p/>
        </p:txBody>
      </p:sp>
      <p:sp>
        <p:nvSpPr>
          <p:cNvPr id="30" name="Shape 28"/>
          <p:cNvSpPr/>
          <p:nvPr/>
        </p:nvSpPr>
        <p:spPr>
          <a:xfrm>
            <a:off x="4617720" y="2743200"/>
            <a:ext cx="54864" cy="731520"/>
          </a:xfrm>
          <a:prstGeom prst="rect">
            <a:avLst>
              <a:gd name="adj" fmla="val 50000"/>
            </a:avLst>
          </a:prstGeom>
          <a:solidFill>
            <a:srgbClr val="2980B9"/>
          </a:solidFill>
          <a:ln/>
        </p:spPr>
        <p:txBody>
          <a:bodyPr/>
          <a:p/>
        </p:txBody>
      </p:sp>
      <p:sp>
        <p:nvSpPr>
          <p:cNvPr id="31" name="Text 29"/>
          <p:cNvSpPr/>
          <p:nvPr/>
        </p:nvSpPr>
        <p:spPr>
          <a:xfrm>
            <a:off x="4782312" y="2788920"/>
            <a:ext cx="1097280" cy="640080"/>
          </a:xfrm>
          <a:prstGeom prst="rect">
            <a:avLst/>
          </a:prstGeom>
          <a:noFill/>
          <a:ln/>
        </p:spPr>
        <p:txBody>
          <a:bodyPr wrap="square" rtlCol="0" anchor="ctr">
            <a:normAutofit/>
          </a:bodyPr>
          <a:lstStyle/>
          <a:p>
            <a:pPr indent="0" marL="0">
              <a:buNone/>
            </a:pPr>
            <a:r>
              <a:rPr lang="en-US" sz="1200" dirty="0">
                <a:solidFill>
                  <a:srgbClr val="FFFFFF"/>
                </a:solidFill>
                <a:latin typeface="微软雅黑" pitchFamily="34" charset="0"/>
                <a:ea typeface="Arial Black" pitchFamily="34" charset="-122"/>
                <a:cs typeface="Arial Black" pitchFamily="34" charset="-120"/>
              </a:rPr>
              <a:t>心肺功能</a:t>
            </a:r>
            <a:endParaRPr lang="en-US" sz="1200" dirty="0"/>
          </a:p>
        </p:txBody>
      </p:sp>
      <p:sp>
        <p:nvSpPr>
          <p:cNvPr id="32" name="Text 30"/>
          <p:cNvSpPr/>
          <p:nvPr/>
        </p:nvSpPr>
        <p:spPr>
          <a:xfrm>
            <a:off x="5897880" y="2788920"/>
            <a:ext cx="2514600" cy="640080"/>
          </a:xfrm>
          <a:prstGeom prst="rect">
            <a:avLst/>
          </a:prstGeom>
          <a:noFill/>
          <a:ln/>
        </p:spPr>
        <p:txBody>
          <a:bodyPr wrap="square" rtlCol="0" anchor="ctr"/>
          <a:lstStyle/>
          <a:p>
            <a:pPr indent="0" marL="0">
              <a:buNone/>
            </a:pPr>
            <a:r>
              <a:rPr lang="en-US" sz="1000" dirty="0">
                <a:solidFill>
                  <a:srgbClr val="FFFFFF"/>
                </a:solidFill>
                <a:latin typeface="微软雅黑" pitchFamily="34" charset="0"/>
                <a:ea typeface="Calibri" pitchFamily="34" charset="-122"/>
                <a:cs typeface="Calibri" pitchFamily="34" charset="-120"/>
              </a:rPr>
              <a:t>心肺耐力不足，容易疲劳，影响专注力和学习效率</a:t>
            </a:r>
            <a:endParaRPr lang="en-US" sz="1000" dirty="0"/>
          </a:p>
        </p:txBody>
      </p:sp>
      <p:sp>
        <p:nvSpPr>
          <p:cNvPr id="33" name="Shape 31"/>
          <p:cNvSpPr/>
          <p:nvPr/>
        </p:nvSpPr>
        <p:spPr>
          <a:xfrm>
            <a:off x="457200" y="3611880"/>
            <a:ext cx="3977640" cy="731520"/>
          </a:xfrm>
          <a:prstGeom prst="rect">
            <a:avLst>
              <a:gd name="adj" fmla="val 7500"/>
            </a:avLst>
          </a:prstGeom>
          <a:solidFill>
            <a:srgbClr val="1A2A50">
              <a:alpha val="70000"/>
            </a:srgbClr>
          </a:solidFill>
          <a:ln/>
          <a:effectLst>
            <a:outerShdw sx="100000" sy="100000" kx="0" ky="0" algn="bl" rotWithShape="0" blurRad="25400" dist="12700" dir="16200000">
              <a:srgbClr val="000000">
                <a:alpha val="4000"/>
              </a:srgbClr>
            </a:outerShdw>
          </a:effectLst>
        </p:spPr>
        <p:txBody>
          <a:bodyPr/>
          <a:p/>
        </p:txBody>
      </p:sp>
      <p:sp>
        <p:nvSpPr>
          <p:cNvPr id="34" name="Shape 32"/>
          <p:cNvSpPr/>
          <p:nvPr/>
        </p:nvSpPr>
        <p:spPr>
          <a:xfrm>
            <a:off x="457200" y="3611880"/>
            <a:ext cx="54864" cy="731520"/>
          </a:xfrm>
          <a:prstGeom prst="rect">
            <a:avLst>
              <a:gd name="adj" fmla="val 50000"/>
            </a:avLst>
          </a:prstGeom>
          <a:solidFill>
            <a:srgbClr val="C0392B"/>
          </a:solidFill>
          <a:ln/>
        </p:spPr>
        <p:txBody>
          <a:bodyPr/>
          <a:p/>
        </p:txBody>
      </p:sp>
      <p:sp>
        <p:nvSpPr>
          <p:cNvPr id="35" name="Text 33"/>
          <p:cNvSpPr/>
          <p:nvPr/>
        </p:nvSpPr>
        <p:spPr>
          <a:xfrm>
            <a:off x="621792" y="3657600"/>
            <a:ext cx="1097280" cy="640080"/>
          </a:xfrm>
          <a:prstGeom prst="rect">
            <a:avLst/>
          </a:prstGeom>
          <a:noFill/>
          <a:ln/>
        </p:spPr>
        <p:txBody>
          <a:bodyPr wrap="square" rtlCol="0" anchor="ctr">
            <a:normAutofit/>
          </a:bodyPr>
          <a:lstStyle/>
          <a:p>
            <a:pPr indent="0" marL="0">
              <a:buNone/>
            </a:pPr>
            <a:r>
              <a:rPr lang="en-US" sz="1200" dirty="0">
                <a:solidFill>
                  <a:srgbClr val="FFFFFF"/>
                </a:solidFill>
                <a:latin typeface="微软雅黑" pitchFamily="34" charset="0"/>
                <a:ea typeface="Arial Black" pitchFamily="34" charset="-122"/>
                <a:cs typeface="Arial Black" pitchFamily="34" charset="-120"/>
              </a:rPr>
              <a:t>核心力量</a:t>
            </a:r>
            <a:endParaRPr lang="en-US" sz="1200" dirty="0"/>
          </a:p>
        </p:txBody>
      </p:sp>
      <p:sp>
        <p:nvSpPr>
          <p:cNvPr id="36" name="Text 34"/>
          <p:cNvSpPr/>
          <p:nvPr/>
        </p:nvSpPr>
        <p:spPr>
          <a:xfrm>
            <a:off x="1737360" y="3657600"/>
            <a:ext cx="2514600" cy="640080"/>
          </a:xfrm>
          <a:prstGeom prst="rect">
            <a:avLst/>
          </a:prstGeom>
          <a:noFill/>
          <a:ln/>
        </p:spPr>
        <p:txBody>
          <a:bodyPr wrap="square" rtlCol="0" anchor="ctr"/>
          <a:lstStyle/>
          <a:p>
            <a:pPr indent="0" marL="0">
              <a:buNone/>
            </a:pPr>
            <a:r>
              <a:rPr lang="en-US" sz="1000" dirty="0">
                <a:solidFill>
                  <a:srgbClr val="FFFFFF"/>
                </a:solidFill>
                <a:latin typeface="微软雅黑" pitchFamily="34" charset="0"/>
                <a:ea typeface="Calibri" pitchFamily="34" charset="-122"/>
                <a:cs typeface="Calibri" pitchFamily="34" charset="-120"/>
              </a:rPr>
              <a:t>核心不稳导致坐姿不良，影响脊柱健康和课堂专注力</a:t>
            </a:r>
            <a:endParaRPr lang="en-US" sz="1000" dirty="0"/>
          </a:p>
        </p:txBody>
      </p:sp>
      <p:sp>
        <p:nvSpPr>
          <p:cNvPr id="37" name="Shape 35"/>
          <p:cNvSpPr/>
          <p:nvPr/>
        </p:nvSpPr>
        <p:spPr>
          <a:xfrm>
            <a:off x="4617720" y="3611880"/>
            <a:ext cx="3977640" cy="731520"/>
          </a:xfrm>
          <a:prstGeom prst="rect">
            <a:avLst>
              <a:gd name="adj" fmla="val 7500"/>
            </a:avLst>
          </a:prstGeom>
          <a:solidFill>
            <a:srgbClr val="1A2A50">
              <a:alpha val="70000"/>
            </a:srgbClr>
          </a:solidFill>
          <a:ln/>
          <a:effectLst>
            <a:outerShdw sx="100000" sy="100000" kx="0" ky="0" algn="bl" rotWithShape="0" blurRad="25400" dist="12700" dir="16200000">
              <a:srgbClr val="000000">
                <a:alpha val="4000"/>
              </a:srgbClr>
            </a:outerShdw>
          </a:effectLst>
        </p:spPr>
        <p:txBody>
          <a:bodyPr/>
          <a:p/>
        </p:txBody>
      </p:sp>
      <p:sp>
        <p:nvSpPr>
          <p:cNvPr id="38" name="Shape 36"/>
          <p:cNvSpPr/>
          <p:nvPr/>
        </p:nvSpPr>
        <p:spPr>
          <a:xfrm>
            <a:off x="4617720" y="3611880"/>
            <a:ext cx="54864" cy="731520"/>
          </a:xfrm>
          <a:prstGeom prst="rect">
            <a:avLst>
              <a:gd name="adj" fmla="val 50000"/>
            </a:avLst>
          </a:prstGeom>
          <a:solidFill>
            <a:srgbClr val="FF6B35"/>
          </a:solidFill>
          <a:ln/>
        </p:spPr>
        <p:txBody>
          <a:bodyPr/>
          <a:p/>
        </p:txBody>
      </p:sp>
      <p:sp>
        <p:nvSpPr>
          <p:cNvPr id="39" name="Text 37"/>
          <p:cNvSpPr/>
          <p:nvPr/>
        </p:nvSpPr>
        <p:spPr>
          <a:xfrm>
            <a:off x="4782312" y="3657600"/>
            <a:ext cx="1097280" cy="640080"/>
          </a:xfrm>
          <a:prstGeom prst="rect">
            <a:avLst/>
          </a:prstGeom>
          <a:noFill/>
          <a:ln/>
        </p:spPr>
        <p:txBody>
          <a:bodyPr wrap="square" rtlCol="0" anchor="ctr">
            <a:normAutofit/>
          </a:bodyPr>
          <a:lstStyle/>
          <a:p>
            <a:pPr indent="0" marL="0">
              <a:buNone/>
            </a:pPr>
            <a:r>
              <a:rPr lang="en-US" sz="1200" dirty="0">
                <a:solidFill>
                  <a:srgbClr val="FFFFFF"/>
                </a:solidFill>
                <a:latin typeface="微软雅黑" pitchFamily="34" charset="0"/>
                <a:ea typeface="Arial Black" pitchFamily="34" charset="-122"/>
                <a:cs typeface="Arial Black" pitchFamily="34" charset="-120"/>
              </a:rPr>
              <a:t>综合评级</a:t>
            </a:r>
            <a:endParaRPr lang="en-US" sz="1200" dirty="0"/>
          </a:p>
        </p:txBody>
      </p:sp>
      <p:sp>
        <p:nvSpPr>
          <p:cNvPr id="40" name="Text 38"/>
          <p:cNvSpPr/>
          <p:nvPr/>
        </p:nvSpPr>
        <p:spPr>
          <a:xfrm>
            <a:off x="5897880" y="3657600"/>
            <a:ext cx="2514600" cy="640080"/>
          </a:xfrm>
          <a:prstGeom prst="rect">
            <a:avLst/>
          </a:prstGeom>
          <a:noFill/>
          <a:ln/>
        </p:spPr>
        <p:txBody>
          <a:bodyPr wrap="square" rtlCol="0" anchor="ctr"/>
          <a:lstStyle/>
          <a:p>
            <a:pPr indent="0" marL="0">
              <a:buNone/>
            </a:pPr>
            <a:r>
              <a:rPr lang="en-US" sz="1000" dirty="0">
                <a:solidFill>
                  <a:srgbClr val="FFFFFF"/>
                </a:solidFill>
                <a:latin typeface="微软雅黑" pitchFamily="34" charset="0"/>
                <a:ea typeface="Calibri" pitchFamily="34" charset="-122"/>
                <a:cs typeface="Calibri" pitchFamily="34" charset="-120"/>
              </a:rPr>
              <a:t>多项指标偏低说明系统训练不足，需要专业干预</a:t>
            </a:r>
            <a:endParaRPr lang="en-US" sz="1000" dirty="0"/>
          </a:p>
        </p:txBody>
      </p:sp>
      <p:sp>
        <p:nvSpPr>
          <p:cNvPr id="41" name="Rectangle 40"/>
          <p:cNvSpPr/>
          <p:nvPr/>
        </p:nvSpPr>
        <p:spPr>
          <a:xfrm>
            <a:off x="0" y="0"/>
            <a:ext cx="9144000" cy="4114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rot="20700000">
            <a:off x="182880" y="771525"/>
            <a:ext cx="731520" cy="19050"/>
          </a:xfrm>
          <a:prstGeom prst="rect">
            <a:avLst/>
          </a:prstGeom>
          <a:solidFill>
            <a:srgbClr val="00E676">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rot="20700000">
            <a:off x="457200" y="1183005"/>
            <a:ext cx="914400" cy="25400"/>
          </a:xfrm>
          <a:prstGeom prst="rect">
            <a:avLst/>
          </a:prstGeom>
          <a:solidFill>
            <a:srgbClr val="00E676">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371975"/>
            <a:ext cx="9144000" cy="771525"/>
          </a:xfrm>
          <a:prstGeom prst="rect">
            <a:avLst/>
          </a:prstGeom>
          <a:solidFill>
            <a:srgbClr val="14244D">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6B35"/>
          </a:solidFill>
          <a:ln/>
        </p:spPr>
        <p:txBody>
          <a:bodyPr/>
          <a:p/>
        </p:txBody>
      </p:sp>
      <p:sp>
        <p:nvSpPr>
          <p:cNvPr id="3" name="Shape 1"/>
          <p:cNvSpPr/>
          <p:nvPr/>
        </p:nvSpPr>
        <p:spPr>
          <a:xfrm>
            <a:off x="0" y="5088636"/>
            <a:ext cx="9144000" cy="54864"/>
          </a:xfrm>
          <a:prstGeom prst="rect">
            <a:avLst/>
          </a:prstGeom>
          <a:solidFill>
            <a:srgbClr val="1E2761"/>
          </a:solidFill>
          <a:ln/>
        </p:spPr>
        <p:txBody>
          <a:bodyPr/>
          <a:p/>
        </p:txBody>
      </p:sp>
      <p:sp>
        <p:nvSpPr>
          <p:cNvPr id="4" name="Shape 2"/>
          <p:cNvSpPr/>
          <p:nvPr/>
        </p:nvSpPr>
        <p:spPr>
          <a:xfrm>
            <a:off x="457200" y="228600"/>
            <a:ext cx="1463040" cy="292608"/>
          </a:xfrm>
          <a:prstGeom prst="rect">
            <a:avLst>
              <a:gd name="adj" fmla="val 12500"/>
            </a:avLst>
          </a:prstGeom>
          <a:solidFill>
            <a:srgbClr val="FFE8DD"/>
          </a:solidFill>
          <a:ln/>
        </p:spPr>
        <p:txBody>
          <a:bodyPr/>
          <a:p/>
        </p:txBody>
      </p:sp>
      <p:sp>
        <p:nvSpPr>
          <p:cNvPr id="5" name="Text 3"/>
          <p:cNvSpPr/>
          <p:nvPr/>
        </p:nvSpPr>
        <p:spPr>
          <a:xfrm>
            <a:off x="457200" y="228600"/>
            <a:ext cx="1463040" cy="292608"/>
          </a:xfrm>
          <a:prstGeom prst="rect">
            <a:avLst/>
          </a:prstGeom>
          <a:noFill/>
          <a:ln/>
        </p:spPr>
        <p:txBody>
          <a:bodyPr wrap="square" rtlCol="0" anchor="ctr">
            <a:normAutofit/>
          </a:bodyPr>
          <a:lstStyle/>
          <a:p>
            <a:pPr algn="ctr" indent="0" marL="0">
              <a:buNone/>
            </a:pPr>
            <a:r>
              <a:rPr lang="en-US" sz="1000" b="1" dirty="0">
                <a:solidFill>
                  <a:srgbClr val="FF6B35"/>
                </a:solidFill>
                <a:latin typeface="微软雅黑" pitchFamily="34" charset="0"/>
                <a:ea typeface="Calibri" pitchFamily="34" charset="-122"/>
                <a:cs typeface="Calibri" pitchFamily="34" charset="-120"/>
              </a:rPr>
              <a:t>体测解读与关单</a:t>
            </a:r>
            <a:endParaRPr lang="en-US" sz="1000" dirty="0"/>
          </a:p>
        </p:txBody>
      </p:sp>
      <p:sp>
        <p:nvSpPr>
          <p:cNvPr id="6" name="Text 4"/>
          <p:cNvSpPr/>
          <p:nvPr/>
        </p:nvSpPr>
        <p:spPr>
          <a:xfrm>
            <a:off x="457200" y="182880"/>
            <a:ext cx="8229600" cy="502920"/>
          </a:xfrm>
          <a:prstGeom prst="rect">
            <a:avLst/>
          </a:prstGeom>
          <a:noFill/>
          <a:ln/>
        </p:spPr>
        <p:txBody>
          <a:bodyPr wrap="square" rtlCol="0" anchor="b">
            <a:normAutofit/>
          </a:bodyPr>
          <a:lstStyle/>
          <a:p>
            <a:pPr indent="0" marL="0">
              <a:buNone/>
            </a:pPr>
            <a:r>
              <a:rPr lang="en-US" sz="2600" dirty="0">
                <a:solidFill>
                  <a:srgbClr val="FFFFFF"/>
                </a:solidFill>
                <a:latin typeface="微软雅黑" pitchFamily="34" charset="0"/>
                <a:ea typeface="Arial Black" pitchFamily="34" charset="-122"/>
                <a:cs typeface="Arial Black" pitchFamily="34" charset="-120"/>
              </a:rPr>
              <a:t>常见家长问题应答</a:t>
            </a:r>
            <a:endParaRPr lang="en-US" sz="2600" dirty="0"/>
          </a:p>
        </p:txBody>
      </p:sp>
      <p:sp>
        <p:nvSpPr>
          <p:cNvPr id="7" name="Text 5"/>
          <p:cNvSpPr/>
          <p:nvPr/>
        </p:nvSpPr>
        <p:spPr>
          <a:xfrm>
            <a:off x="457200" y="658368"/>
            <a:ext cx="8229600" cy="274320"/>
          </a:xfrm>
          <a:prstGeom prst="rect">
            <a:avLst/>
          </a:prstGeom>
          <a:noFill/>
          <a:ln/>
        </p:spPr>
        <p:txBody>
          <a:bodyPr wrap="square" rtlCol="0" anchor="ctr">
            <a:normAutofit/>
          </a:bodyPr>
          <a:lstStyle/>
          <a:p>
            <a:pPr indent="0" marL="0">
              <a:buNone/>
            </a:pPr>
            <a:r>
              <a:rPr lang="en-US" sz="1200" dirty="0">
                <a:solidFill>
                  <a:srgbClr val="FFFFFF"/>
                </a:solidFill>
                <a:latin typeface="微软雅黑" pitchFamily="34" charset="0"/>
                <a:ea typeface="Calibri" pitchFamily="34" charset="-122"/>
                <a:cs typeface="Calibri" pitchFamily="34" charset="-120"/>
              </a:rPr>
              <a:t>化解顾虑，建立信任</a:t>
            </a:r>
            <a:endParaRPr lang="en-US" sz="1200" dirty="0"/>
          </a:p>
        </p:txBody>
      </p:sp>
      <p:sp>
        <p:nvSpPr>
          <p:cNvPr id="8" name="Text 6"/>
          <p:cNvSpPr/>
          <p:nvPr/>
        </p:nvSpPr>
        <p:spPr>
          <a:xfrm>
            <a:off x="7955280" y="4777740"/>
            <a:ext cx="731520" cy="274320"/>
          </a:xfrm>
          <a:prstGeom prst="rect">
            <a:avLst/>
          </a:prstGeom>
          <a:noFill/>
          <a:ln/>
        </p:spPr>
        <p:txBody>
          <a:bodyPr wrap="square" rtlCol="0" anchor="ctr">
            <a:normAutofit/>
          </a:bodyPr>
          <a:lstStyle/>
          <a:p>
            <a:pPr algn="r" indent="0" marL="0">
              <a:buNone/>
            </a:pPr>
            <a:r>
              <a:rPr lang="en-US" sz="900" dirty="0">
                <a:solidFill>
                  <a:srgbClr val="FFFFFF"/>
                </a:solidFill>
                <a:latin typeface="微软雅黑" pitchFamily="34" charset="0"/>
                <a:ea typeface="Calibri" pitchFamily="34" charset="-122"/>
                <a:cs typeface="Calibri" pitchFamily="34" charset="-120"/>
              </a:rPr>
              <a:t>13 / 15</a:t>
            </a:r>
            <a:endParaRPr lang="en-US" sz="900" dirty="0"/>
          </a:p>
        </p:txBody>
      </p:sp>
      <p:sp>
        <p:nvSpPr>
          <p:cNvPr id="9" name="Shape 7"/>
          <p:cNvSpPr/>
          <p:nvPr/>
        </p:nvSpPr>
        <p:spPr>
          <a:xfrm>
            <a:off x="457200" y="1005840"/>
            <a:ext cx="8229600" cy="1143000"/>
          </a:xfrm>
          <a:prstGeom prst="rect">
            <a:avLst>
              <a:gd name="adj" fmla="val 4800"/>
            </a:avLst>
          </a:prstGeom>
          <a:solidFill>
            <a:srgbClr val="1A2A50">
              <a:alpha val="70000"/>
            </a:srgbClr>
          </a:solidFill>
          <a:ln/>
          <a:effectLst>
            <a:outerShdw sx="100000" sy="100000" kx="0" ky="0" algn="bl" rotWithShape="0" blurRad="38100" dist="12700" dir="16200000">
              <a:srgbClr val="000000">
                <a:alpha val="5000"/>
              </a:srgbClr>
            </a:outerShdw>
          </a:effectLst>
        </p:spPr>
        <p:txBody>
          <a:bodyPr/>
          <a:p/>
        </p:txBody>
      </p:sp>
      <p:sp>
        <p:nvSpPr>
          <p:cNvPr id="10" name="Shape 8"/>
          <p:cNvSpPr/>
          <p:nvPr/>
        </p:nvSpPr>
        <p:spPr>
          <a:xfrm>
            <a:off x="594360" y="1115568"/>
            <a:ext cx="320040" cy="320040"/>
          </a:xfrm>
          <a:prstGeom prst="rect">
            <a:avLst>
              <a:gd name="adj" fmla="val 11429"/>
            </a:avLst>
          </a:prstGeom>
          <a:solidFill>
            <a:srgbClr val="FF6B35"/>
          </a:solidFill>
          <a:ln/>
        </p:spPr>
        <p:txBody>
          <a:bodyPr/>
          <a:p/>
        </p:txBody>
      </p:sp>
      <p:sp>
        <p:nvSpPr>
          <p:cNvPr id="11" name="Text 9"/>
          <p:cNvSpPr/>
          <p:nvPr/>
        </p:nvSpPr>
        <p:spPr>
          <a:xfrm>
            <a:off x="594360" y="1115568"/>
            <a:ext cx="320040" cy="320040"/>
          </a:xfrm>
          <a:prstGeom prst="rect">
            <a:avLst/>
          </a:prstGeom>
          <a:noFill/>
          <a:ln/>
        </p:spPr>
        <p:txBody>
          <a:bodyPr wrap="square" rtlCol="0" anchor="ctr">
            <a:normAutofit/>
          </a:bodyPr>
          <a:lstStyle/>
          <a:p>
            <a:pPr algn="ctr" indent="0" marL="0">
              <a:buNone/>
            </a:pPr>
            <a:r>
              <a:rPr lang="en-US" sz="1300" dirty="0">
                <a:solidFill>
                  <a:srgbClr val="FFFFFF"/>
                </a:solidFill>
                <a:latin typeface="微软雅黑" pitchFamily="34" charset="0"/>
                <a:ea typeface="Arial Black" pitchFamily="34" charset="-122"/>
                <a:cs typeface="Arial Black" pitchFamily="34" charset="-120"/>
              </a:rPr>
              <a:t>Q</a:t>
            </a:r>
            <a:endParaRPr lang="en-US" sz="1300" dirty="0"/>
          </a:p>
        </p:txBody>
      </p:sp>
      <p:sp>
        <p:nvSpPr>
          <p:cNvPr id="12" name="Text 10"/>
          <p:cNvSpPr/>
          <p:nvPr/>
        </p:nvSpPr>
        <p:spPr>
          <a:xfrm>
            <a:off x="1005840" y="1097280"/>
            <a:ext cx="7315200" cy="320040"/>
          </a:xfrm>
          <a:prstGeom prst="rect">
            <a:avLst/>
          </a:prstGeom>
          <a:noFill/>
          <a:ln/>
        </p:spPr>
        <p:txBody>
          <a:bodyPr wrap="square" rtlCol="0" anchor="ctr">
            <a:normAutofit/>
          </a:bodyPr>
          <a:lstStyle/>
          <a:p>
            <a:pPr indent="0" marL="0">
              <a:buNone/>
            </a:pPr>
            <a:r>
              <a:rPr lang="en-US" sz="1200" dirty="0">
                <a:solidFill>
                  <a:srgbClr val="FFFFFF"/>
                </a:solidFill>
                <a:latin typeface="微软雅黑" pitchFamily="34" charset="0"/>
                <a:ea typeface="Arial Black" pitchFamily="34" charset="-122"/>
                <a:cs typeface="Arial Black" pitchFamily="34" charset="-120"/>
              </a:rPr>
              <a:t>"我家孩子不需要体测吧？"</a:t>
            </a:r>
            <a:endParaRPr lang="en-US" sz="1200" dirty="0"/>
          </a:p>
        </p:txBody>
      </p:sp>
      <p:sp>
        <p:nvSpPr>
          <p:cNvPr id="13" name="Shape 11"/>
          <p:cNvSpPr/>
          <p:nvPr/>
        </p:nvSpPr>
        <p:spPr>
          <a:xfrm>
            <a:off x="594360" y="1508760"/>
            <a:ext cx="320040" cy="320040"/>
          </a:xfrm>
          <a:prstGeom prst="rect">
            <a:avLst>
              <a:gd name="adj" fmla="val 11429"/>
            </a:avLst>
          </a:prstGeom>
          <a:solidFill>
            <a:srgbClr val="2ECC71"/>
          </a:solidFill>
          <a:ln/>
        </p:spPr>
        <p:txBody>
          <a:bodyPr/>
          <a:p/>
        </p:txBody>
      </p:sp>
      <p:sp>
        <p:nvSpPr>
          <p:cNvPr id="14" name="Text 12"/>
          <p:cNvSpPr/>
          <p:nvPr/>
        </p:nvSpPr>
        <p:spPr>
          <a:xfrm>
            <a:off x="594360" y="1508760"/>
            <a:ext cx="320040" cy="320040"/>
          </a:xfrm>
          <a:prstGeom prst="rect">
            <a:avLst/>
          </a:prstGeom>
          <a:noFill/>
          <a:ln/>
        </p:spPr>
        <p:txBody>
          <a:bodyPr wrap="square" rtlCol="0" anchor="ctr">
            <a:normAutofit/>
          </a:bodyPr>
          <a:lstStyle/>
          <a:p>
            <a:pPr algn="ctr" indent="0" marL="0">
              <a:buNone/>
            </a:pPr>
            <a:r>
              <a:rPr lang="en-US" sz="1300" dirty="0">
                <a:solidFill>
                  <a:srgbClr val="FFFFFF"/>
                </a:solidFill>
                <a:latin typeface="微软雅黑" pitchFamily="34" charset="0"/>
                <a:ea typeface="Arial Black" pitchFamily="34" charset="-122"/>
                <a:cs typeface="Arial Black" pitchFamily="34" charset="-120"/>
              </a:rPr>
              <a:t>A</a:t>
            </a:r>
            <a:endParaRPr lang="en-US" sz="1300" dirty="0"/>
          </a:p>
        </p:txBody>
      </p:sp>
      <p:sp>
        <p:nvSpPr>
          <p:cNvPr id="15" name="Text 13"/>
          <p:cNvSpPr/>
          <p:nvPr/>
        </p:nvSpPr>
        <p:spPr>
          <a:xfrm>
            <a:off x="1005840" y="1508760"/>
            <a:ext cx="7315200" cy="548640"/>
          </a:xfrm>
          <a:prstGeom prst="rect">
            <a:avLst/>
          </a:prstGeom>
          <a:noFill/>
          <a:ln/>
        </p:spPr>
        <p:txBody>
          <a:bodyPr wrap="square" rtlCol="0" anchor="t"/>
          <a:lstStyle/>
          <a:p>
            <a:pPr indent="0" marL="0">
              <a:buNone/>
            </a:pPr>
            <a:r>
              <a:rPr lang="en-US" sz="1000" dirty="0">
                <a:solidFill>
                  <a:srgbClr val="FFFFFF"/>
                </a:solidFill>
                <a:latin typeface="微软雅黑" pitchFamily="34" charset="0"/>
                <a:ea typeface="Calibri" pitchFamily="34" charset="-122"/>
                <a:cs typeface="Calibri" pitchFamily="34" charset="-120"/>
              </a:rPr>
              <a:t>体测不是看病，是了解孩子身体发育状况的科学方式。就像定期检查视力和牙齿一样，身体素质也需要定期评估。很多家长在孩子出现体态问题或运动能力落后时才后悔没有早做评估。</a:t>
            </a:r>
            <a:endParaRPr lang="en-US" sz="1000" dirty="0"/>
          </a:p>
        </p:txBody>
      </p:sp>
      <p:sp>
        <p:nvSpPr>
          <p:cNvPr id="16" name="Shape 14"/>
          <p:cNvSpPr/>
          <p:nvPr/>
        </p:nvSpPr>
        <p:spPr>
          <a:xfrm>
            <a:off x="457200" y="2286000"/>
            <a:ext cx="8229600" cy="1143000"/>
          </a:xfrm>
          <a:prstGeom prst="rect">
            <a:avLst>
              <a:gd name="adj" fmla="val 4800"/>
            </a:avLst>
          </a:prstGeom>
          <a:solidFill>
            <a:srgbClr val="1A2A50">
              <a:alpha val="70000"/>
            </a:srgbClr>
          </a:solidFill>
          <a:ln/>
          <a:effectLst>
            <a:outerShdw sx="100000" sy="100000" kx="0" ky="0" algn="bl" rotWithShape="0" blurRad="38100" dist="12700" dir="16200000">
              <a:srgbClr val="000000">
                <a:alpha val="5000"/>
              </a:srgbClr>
            </a:outerShdw>
          </a:effectLst>
        </p:spPr>
        <p:txBody>
          <a:bodyPr/>
          <a:p/>
        </p:txBody>
      </p:sp>
      <p:sp>
        <p:nvSpPr>
          <p:cNvPr id="17" name="Shape 15"/>
          <p:cNvSpPr/>
          <p:nvPr/>
        </p:nvSpPr>
        <p:spPr>
          <a:xfrm>
            <a:off x="594360" y="2395728"/>
            <a:ext cx="320040" cy="320040"/>
          </a:xfrm>
          <a:prstGeom prst="rect">
            <a:avLst>
              <a:gd name="adj" fmla="val 11429"/>
            </a:avLst>
          </a:prstGeom>
          <a:solidFill>
            <a:srgbClr val="FF6B35"/>
          </a:solidFill>
          <a:ln/>
        </p:spPr>
        <p:txBody>
          <a:bodyPr/>
          <a:p/>
        </p:txBody>
      </p:sp>
      <p:sp>
        <p:nvSpPr>
          <p:cNvPr id="18" name="Text 16"/>
          <p:cNvSpPr/>
          <p:nvPr/>
        </p:nvSpPr>
        <p:spPr>
          <a:xfrm>
            <a:off x="594360" y="2395728"/>
            <a:ext cx="320040" cy="320040"/>
          </a:xfrm>
          <a:prstGeom prst="rect">
            <a:avLst/>
          </a:prstGeom>
          <a:noFill/>
          <a:ln/>
        </p:spPr>
        <p:txBody>
          <a:bodyPr wrap="square" rtlCol="0" anchor="ctr">
            <a:normAutofit/>
          </a:bodyPr>
          <a:lstStyle/>
          <a:p>
            <a:pPr algn="ctr" indent="0" marL="0">
              <a:buNone/>
            </a:pPr>
            <a:r>
              <a:rPr lang="en-US" sz="1300" dirty="0">
                <a:solidFill>
                  <a:srgbClr val="FFFFFF"/>
                </a:solidFill>
                <a:latin typeface="微软雅黑" pitchFamily="34" charset="0"/>
                <a:ea typeface="Arial Black" pitchFamily="34" charset="-122"/>
                <a:cs typeface="Arial Black" pitchFamily="34" charset="-120"/>
              </a:rPr>
              <a:t>Q</a:t>
            </a:r>
            <a:endParaRPr lang="en-US" sz="1300" dirty="0"/>
          </a:p>
        </p:txBody>
      </p:sp>
      <p:sp>
        <p:nvSpPr>
          <p:cNvPr id="19" name="Text 17"/>
          <p:cNvSpPr/>
          <p:nvPr/>
        </p:nvSpPr>
        <p:spPr>
          <a:xfrm>
            <a:off x="1005840" y="2377440"/>
            <a:ext cx="7315200" cy="320040"/>
          </a:xfrm>
          <a:prstGeom prst="rect">
            <a:avLst/>
          </a:prstGeom>
          <a:noFill/>
          <a:ln/>
        </p:spPr>
        <p:txBody>
          <a:bodyPr wrap="square" rtlCol="0" anchor="ctr">
            <a:normAutofit/>
          </a:bodyPr>
          <a:lstStyle/>
          <a:p>
            <a:pPr indent="0" marL="0">
              <a:buNone/>
            </a:pPr>
            <a:r>
              <a:rPr lang="en-US" sz="1200" dirty="0">
                <a:solidFill>
                  <a:srgbClr val="FFFFFF"/>
                </a:solidFill>
                <a:latin typeface="微软雅黑" pitchFamily="34" charset="0"/>
                <a:ea typeface="Arial Black" pitchFamily="34" charset="-122"/>
                <a:cs typeface="Arial Black" pitchFamily="34" charset="-120"/>
              </a:rPr>
              <a:t>"体测准吗？"</a:t>
            </a:r>
            <a:endParaRPr lang="en-US" sz="1200" dirty="0"/>
          </a:p>
        </p:txBody>
      </p:sp>
      <p:sp>
        <p:nvSpPr>
          <p:cNvPr id="20" name="Shape 18"/>
          <p:cNvSpPr/>
          <p:nvPr/>
        </p:nvSpPr>
        <p:spPr>
          <a:xfrm>
            <a:off x="594360" y="2788920"/>
            <a:ext cx="320040" cy="320040"/>
          </a:xfrm>
          <a:prstGeom prst="rect">
            <a:avLst>
              <a:gd name="adj" fmla="val 11429"/>
            </a:avLst>
          </a:prstGeom>
          <a:solidFill>
            <a:srgbClr val="2ECC71"/>
          </a:solidFill>
          <a:ln/>
        </p:spPr>
        <p:txBody>
          <a:bodyPr/>
          <a:p/>
        </p:txBody>
      </p:sp>
      <p:sp>
        <p:nvSpPr>
          <p:cNvPr id="21" name="Text 19"/>
          <p:cNvSpPr/>
          <p:nvPr/>
        </p:nvSpPr>
        <p:spPr>
          <a:xfrm>
            <a:off x="594360" y="2788920"/>
            <a:ext cx="320040" cy="320040"/>
          </a:xfrm>
          <a:prstGeom prst="rect">
            <a:avLst/>
          </a:prstGeom>
          <a:noFill/>
          <a:ln/>
        </p:spPr>
        <p:txBody>
          <a:bodyPr wrap="square" rtlCol="0" anchor="ctr">
            <a:normAutofit/>
          </a:bodyPr>
          <a:lstStyle/>
          <a:p>
            <a:pPr algn="ctr" indent="0" marL="0">
              <a:buNone/>
            </a:pPr>
            <a:r>
              <a:rPr lang="en-US" sz="1300" dirty="0">
                <a:solidFill>
                  <a:srgbClr val="FFFFFF"/>
                </a:solidFill>
                <a:latin typeface="微软雅黑" pitchFamily="34" charset="0"/>
                <a:ea typeface="Arial Black" pitchFamily="34" charset="-122"/>
                <a:cs typeface="Arial Black" pitchFamily="34" charset="-120"/>
              </a:rPr>
              <a:t>A</a:t>
            </a:r>
            <a:endParaRPr lang="en-US" sz="1300" dirty="0"/>
          </a:p>
        </p:txBody>
      </p:sp>
      <p:sp>
        <p:nvSpPr>
          <p:cNvPr id="22" name="Text 20"/>
          <p:cNvSpPr/>
          <p:nvPr/>
        </p:nvSpPr>
        <p:spPr>
          <a:xfrm>
            <a:off x="1005840" y="2788920"/>
            <a:ext cx="7315200" cy="548640"/>
          </a:xfrm>
          <a:prstGeom prst="rect">
            <a:avLst/>
          </a:prstGeom>
          <a:noFill/>
          <a:ln/>
        </p:spPr>
        <p:txBody>
          <a:bodyPr wrap="square" rtlCol="0" anchor="t"/>
          <a:lstStyle/>
          <a:p>
            <a:pPr indent="0" marL="0">
              <a:buNone/>
            </a:pPr>
            <a:r>
              <a:rPr lang="en-US" sz="1000" dirty="0">
                <a:solidFill>
                  <a:srgbClr val="FFFFFF"/>
                </a:solidFill>
                <a:latin typeface="微软雅黑" pitchFamily="34" charset="0"/>
                <a:ea typeface="Calibri" pitchFamily="34" charset="-122"/>
                <a:cs typeface="Calibri" pitchFamily="34" charset="-120"/>
              </a:rPr>
              <a:t>我们的体测项目参照国家学生体质健康标准，使用专业器材，由持证教练操作。更重要的是，体测的价值不在于绝对精确，而在于建立基线数据，后续可以通过季度复测追踪变化趋势。</a:t>
            </a:r>
            <a:endParaRPr lang="en-US" sz="1000" dirty="0"/>
          </a:p>
        </p:txBody>
      </p:sp>
      <p:sp>
        <p:nvSpPr>
          <p:cNvPr id="23" name="Shape 21"/>
          <p:cNvSpPr/>
          <p:nvPr/>
        </p:nvSpPr>
        <p:spPr>
          <a:xfrm>
            <a:off x="457200" y="3566160"/>
            <a:ext cx="8229600" cy="1143000"/>
          </a:xfrm>
          <a:prstGeom prst="rect">
            <a:avLst>
              <a:gd name="adj" fmla="val 4800"/>
            </a:avLst>
          </a:prstGeom>
          <a:solidFill>
            <a:srgbClr val="1A2A50">
              <a:alpha val="70000"/>
            </a:srgbClr>
          </a:solidFill>
          <a:ln/>
          <a:effectLst>
            <a:outerShdw sx="100000" sy="100000" kx="0" ky="0" algn="bl" rotWithShape="0" blurRad="38100" dist="12700" dir="16200000">
              <a:srgbClr val="000000">
                <a:alpha val="5000"/>
              </a:srgbClr>
            </a:outerShdw>
          </a:effectLst>
        </p:spPr>
        <p:txBody>
          <a:bodyPr/>
          <a:p/>
        </p:txBody>
      </p:sp>
      <p:sp>
        <p:nvSpPr>
          <p:cNvPr id="24" name="Shape 22"/>
          <p:cNvSpPr/>
          <p:nvPr/>
        </p:nvSpPr>
        <p:spPr>
          <a:xfrm>
            <a:off x="594360" y="3675888"/>
            <a:ext cx="320040" cy="320040"/>
          </a:xfrm>
          <a:prstGeom prst="rect">
            <a:avLst>
              <a:gd name="adj" fmla="val 11429"/>
            </a:avLst>
          </a:prstGeom>
          <a:solidFill>
            <a:srgbClr val="FF6B35"/>
          </a:solidFill>
          <a:ln/>
        </p:spPr>
        <p:txBody>
          <a:bodyPr/>
          <a:p/>
        </p:txBody>
      </p:sp>
      <p:sp>
        <p:nvSpPr>
          <p:cNvPr id="25" name="Text 23"/>
          <p:cNvSpPr/>
          <p:nvPr/>
        </p:nvSpPr>
        <p:spPr>
          <a:xfrm>
            <a:off x="594360" y="3675888"/>
            <a:ext cx="320040" cy="320040"/>
          </a:xfrm>
          <a:prstGeom prst="rect">
            <a:avLst/>
          </a:prstGeom>
          <a:noFill/>
          <a:ln/>
        </p:spPr>
        <p:txBody>
          <a:bodyPr wrap="square" rtlCol="0" anchor="ctr">
            <a:normAutofit/>
          </a:bodyPr>
          <a:lstStyle/>
          <a:p>
            <a:pPr algn="ctr" indent="0" marL="0">
              <a:buNone/>
            </a:pPr>
            <a:r>
              <a:rPr lang="en-US" sz="1300" dirty="0">
                <a:solidFill>
                  <a:srgbClr val="FFFFFF"/>
                </a:solidFill>
                <a:latin typeface="微软雅黑" pitchFamily="34" charset="0"/>
                <a:ea typeface="Arial Black" pitchFamily="34" charset="-122"/>
                <a:cs typeface="Arial Black" pitchFamily="34" charset="-120"/>
              </a:rPr>
              <a:t>Q</a:t>
            </a:r>
            <a:endParaRPr lang="en-US" sz="1300" dirty="0"/>
          </a:p>
        </p:txBody>
      </p:sp>
      <p:sp>
        <p:nvSpPr>
          <p:cNvPr id="26" name="Text 24"/>
          <p:cNvSpPr/>
          <p:nvPr/>
        </p:nvSpPr>
        <p:spPr>
          <a:xfrm>
            <a:off x="1005840" y="3657600"/>
            <a:ext cx="7315200" cy="320040"/>
          </a:xfrm>
          <a:prstGeom prst="rect">
            <a:avLst/>
          </a:prstGeom>
          <a:noFill/>
          <a:ln/>
        </p:spPr>
        <p:txBody>
          <a:bodyPr wrap="square" rtlCol="0" anchor="ctr">
            <a:normAutofit/>
          </a:bodyPr>
          <a:lstStyle/>
          <a:p>
            <a:pPr indent="0" marL="0">
              <a:buNone/>
            </a:pPr>
            <a:r>
              <a:rPr lang="en-US" sz="1200" dirty="0">
                <a:solidFill>
                  <a:srgbClr val="FFFFFF"/>
                </a:solidFill>
                <a:latin typeface="微软雅黑" pitchFamily="34" charset="0"/>
                <a:ea typeface="Arial Black" pitchFamily="34" charset="-122"/>
                <a:cs typeface="Arial Black" pitchFamily="34" charset="-120"/>
              </a:rPr>
              <a:t>"和医院体检有什么区别？"</a:t>
            </a:r>
            <a:endParaRPr lang="en-US" sz="1200" dirty="0"/>
          </a:p>
        </p:txBody>
      </p:sp>
      <p:sp>
        <p:nvSpPr>
          <p:cNvPr id="27" name="Shape 25"/>
          <p:cNvSpPr/>
          <p:nvPr/>
        </p:nvSpPr>
        <p:spPr>
          <a:xfrm>
            <a:off x="594360" y="4069080"/>
            <a:ext cx="320040" cy="320040"/>
          </a:xfrm>
          <a:prstGeom prst="rect">
            <a:avLst>
              <a:gd name="adj" fmla="val 11429"/>
            </a:avLst>
          </a:prstGeom>
          <a:solidFill>
            <a:srgbClr val="2ECC71"/>
          </a:solidFill>
          <a:ln/>
        </p:spPr>
        <p:txBody>
          <a:bodyPr/>
          <a:p/>
        </p:txBody>
      </p:sp>
      <p:sp>
        <p:nvSpPr>
          <p:cNvPr id="28" name="Text 26"/>
          <p:cNvSpPr/>
          <p:nvPr/>
        </p:nvSpPr>
        <p:spPr>
          <a:xfrm>
            <a:off x="594360" y="4069080"/>
            <a:ext cx="320040" cy="320040"/>
          </a:xfrm>
          <a:prstGeom prst="rect">
            <a:avLst/>
          </a:prstGeom>
          <a:noFill/>
          <a:ln/>
        </p:spPr>
        <p:txBody>
          <a:bodyPr wrap="square" rtlCol="0" anchor="ctr">
            <a:normAutofit/>
          </a:bodyPr>
          <a:lstStyle/>
          <a:p>
            <a:pPr algn="ctr" indent="0" marL="0">
              <a:buNone/>
            </a:pPr>
            <a:r>
              <a:rPr lang="en-US" sz="1300" dirty="0">
                <a:solidFill>
                  <a:srgbClr val="FFFFFF"/>
                </a:solidFill>
                <a:latin typeface="微软雅黑" pitchFamily="34" charset="0"/>
                <a:ea typeface="Arial Black" pitchFamily="34" charset="-122"/>
                <a:cs typeface="Arial Black" pitchFamily="34" charset="-120"/>
              </a:rPr>
              <a:t>A</a:t>
            </a:r>
            <a:endParaRPr lang="en-US" sz="1300" dirty="0"/>
          </a:p>
        </p:txBody>
      </p:sp>
      <p:sp>
        <p:nvSpPr>
          <p:cNvPr id="29" name="Text 27"/>
          <p:cNvSpPr/>
          <p:nvPr/>
        </p:nvSpPr>
        <p:spPr>
          <a:xfrm>
            <a:off x="1005840" y="4069080"/>
            <a:ext cx="7315200" cy="548640"/>
          </a:xfrm>
          <a:prstGeom prst="rect">
            <a:avLst/>
          </a:prstGeom>
          <a:noFill/>
          <a:ln/>
        </p:spPr>
        <p:txBody>
          <a:bodyPr wrap="square" rtlCol="0" anchor="t"/>
          <a:lstStyle/>
          <a:p>
            <a:pPr indent="0" marL="0">
              <a:buNone/>
            </a:pPr>
            <a:r>
              <a:rPr lang="en-US" sz="1000" dirty="0">
                <a:solidFill>
                  <a:srgbClr val="FFFFFF"/>
                </a:solidFill>
                <a:latin typeface="微软雅黑" pitchFamily="34" charset="0"/>
                <a:ea typeface="Calibri" pitchFamily="34" charset="-122"/>
                <a:cs typeface="Calibri" pitchFamily="34" charset="-120"/>
              </a:rPr>
              <a:t>医院体检侧重于身高体重、视力、血常规等健康指标；我们的体测侧重于柔韧、力量、灵敏、平衡、心肺、核心等运动素质指标。两者互补，体测更能发现孩子在运动能力方面的优势和短板。</a:t>
            </a:r>
            <a:endParaRPr lang="en-US" sz="1000" dirty="0"/>
          </a:p>
        </p:txBody>
      </p:sp>
      <p:sp>
        <p:nvSpPr>
          <p:cNvPr id="30" name="Rectangle 29"/>
          <p:cNvSpPr/>
          <p:nvPr/>
        </p:nvSpPr>
        <p:spPr>
          <a:xfrm>
            <a:off x="0" y="0"/>
            <a:ext cx="9144000" cy="4114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4371975"/>
            <a:ext cx="9144000" cy="771525"/>
          </a:xfrm>
          <a:prstGeom prst="rect">
            <a:avLst/>
          </a:prstGeom>
          <a:solidFill>
            <a:srgbClr val="14244D">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6B35"/>
          </a:solidFill>
          <a:ln/>
        </p:spPr>
        <p:txBody>
          <a:bodyPr/>
          <a:p/>
        </p:txBody>
      </p:sp>
      <p:sp>
        <p:nvSpPr>
          <p:cNvPr id="3" name="Shape 1"/>
          <p:cNvSpPr/>
          <p:nvPr/>
        </p:nvSpPr>
        <p:spPr>
          <a:xfrm>
            <a:off x="0" y="5088636"/>
            <a:ext cx="9144000" cy="54864"/>
          </a:xfrm>
          <a:prstGeom prst="rect">
            <a:avLst/>
          </a:prstGeom>
          <a:solidFill>
            <a:srgbClr val="1E2761"/>
          </a:solidFill>
          <a:ln/>
        </p:spPr>
        <p:txBody>
          <a:bodyPr/>
          <a:p/>
        </p:txBody>
      </p:sp>
      <p:sp>
        <p:nvSpPr>
          <p:cNvPr id="4" name="Text 2"/>
          <p:cNvSpPr/>
          <p:nvPr/>
        </p:nvSpPr>
        <p:spPr>
          <a:xfrm>
            <a:off x="457200" y="182880"/>
            <a:ext cx="8229600" cy="502920"/>
          </a:xfrm>
          <a:prstGeom prst="rect">
            <a:avLst/>
          </a:prstGeom>
          <a:noFill/>
          <a:ln/>
        </p:spPr>
        <p:txBody>
          <a:bodyPr wrap="square" rtlCol="0" anchor="b">
            <a:normAutofit/>
          </a:bodyPr>
          <a:lstStyle/>
          <a:p>
            <a:pPr indent="0" marL="0">
              <a:buNone/>
            </a:pPr>
            <a:r>
              <a:rPr lang="en-US" sz="2600" dirty="0">
                <a:solidFill>
                  <a:srgbClr val="FFFFFF"/>
                </a:solidFill>
                <a:latin typeface="微软雅黑" pitchFamily="34" charset="0"/>
                <a:ea typeface="Arial Black" pitchFamily="34" charset="-122"/>
                <a:cs typeface="Arial Black" pitchFamily="34" charset="-120"/>
              </a:rPr>
              <a:t>本课要点回顾</a:t>
            </a:r>
            <a:endParaRPr lang="en-US" sz="2600" dirty="0"/>
          </a:p>
        </p:txBody>
      </p:sp>
      <p:sp>
        <p:nvSpPr>
          <p:cNvPr id="5" name="Text 3"/>
          <p:cNvSpPr/>
          <p:nvPr/>
        </p:nvSpPr>
        <p:spPr>
          <a:xfrm>
            <a:off x="457200" y="658368"/>
            <a:ext cx="8229600" cy="274320"/>
          </a:xfrm>
          <a:prstGeom prst="rect">
            <a:avLst/>
          </a:prstGeom>
          <a:noFill/>
          <a:ln/>
        </p:spPr>
        <p:txBody>
          <a:bodyPr wrap="square" rtlCol="0" anchor="ctr">
            <a:normAutofit/>
          </a:bodyPr>
          <a:lstStyle/>
          <a:p>
            <a:pPr indent="0" marL="0">
              <a:buNone/>
            </a:pPr>
            <a:r>
              <a:rPr lang="en-US" sz="1200" dirty="0">
                <a:solidFill>
                  <a:srgbClr val="FFFFFF"/>
                </a:solidFill>
                <a:latin typeface="微软雅黑" pitchFamily="34" charset="0"/>
                <a:ea typeface="Calibri" pitchFamily="34" charset="-122"/>
                <a:cs typeface="Calibri" pitchFamily="34" charset="-120"/>
              </a:rPr>
              <a:t>体测6步法 + 解读逻辑6步</a:t>
            </a:r>
            <a:endParaRPr lang="en-US" sz="1200" dirty="0"/>
          </a:p>
        </p:txBody>
      </p:sp>
      <p:sp>
        <p:nvSpPr>
          <p:cNvPr id="6" name="Text 4"/>
          <p:cNvSpPr/>
          <p:nvPr/>
        </p:nvSpPr>
        <p:spPr>
          <a:xfrm>
            <a:off x="7955280" y="4777740"/>
            <a:ext cx="731520" cy="274320"/>
          </a:xfrm>
          <a:prstGeom prst="rect">
            <a:avLst/>
          </a:prstGeom>
          <a:noFill/>
          <a:ln/>
        </p:spPr>
        <p:txBody>
          <a:bodyPr wrap="square" rtlCol="0" anchor="ctr">
            <a:normAutofit/>
          </a:bodyPr>
          <a:lstStyle/>
          <a:p>
            <a:pPr algn="r" indent="0" marL="0">
              <a:buNone/>
            </a:pPr>
            <a:r>
              <a:rPr lang="en-US" sz="900" dirty="0">
                <a:solidFill>
                  <a:srgbClr val="FFFFFF"/>
                </a:solidFill>
                <a:latin typeface="微软雅黑" pitchFamily="34" charset="0"/>
                <a:ea typeface="Calibri" pitchFamily="34" charset="-122"/>
                <a:cs typeface="Calibri" pitchFamily="34" charset="-120"/>
              </a:rPr>
              <a:t>14 / 15</a:t>
            </a:r>
            <a:endParaRPr lang="en-US" sz="900" dirty="0"/>
          </a:p>
        </p:txBody>
      </p:sp>
      <p:sp>
        <p:nvSpPr>
          <p:cNvPr id="7" name="Shape 5"/>
          <p:cNvSpPr/>
          <p:nvPr/>
        </p:nvSpPr>
        <p:spPr>
          <a:xfrm>
            <a:off x="457200" y="1005840"/>
            <a:ext cx="3931920" cy="3657600"/>
          </a:xfrm>
          <a:prstGeom prst="rect">
            <a:avLst>
              <a:gd name="adj" fmla="val 2000"/>
            </a:avLst>
          </a:prstGeom>
          <a:solidFill>
            <a:srgbClr val="1A2A50">
              <a:alpha val="70000"/>
            </a:srgbClr>
          </a:solidFill>
          <a:ln/>
          <a:effectLst>
            <a:outerShdw sx="100000" sy="100000" kx="0" ky="0" algn="bl" rotWithShape="0" blurRad="50800" dist="25400" dir="16200000">
              <a:srgbClr val="000000">
                <a:alpha val="6000"/>
              </a:srgbClr>
            </a:outerShdw>
          </a:effectLst>
        </p:spPr>
        <p:txBody>
          <a:bodyPr/>
          <a:p/>
        </p:txBody>
      </p:sp>
      <p:sp>
        <p:nvSpPr>
          <p:cNvPr id="8" name="Shape 6"/>
          <p:cNvSpPr/>
          <p:nvPr/>
        </p:nvSpPr>
        <p:spPr>
          <a:xfrm>
            <a:off x="457200" y="1005840"/>
            <a:ext cx="3931920" cy="411480"/>
          </a:xfrm>
          <a:prstGeom prst="rect">
            <a:avLst>
              <a:gd name="adj" fmla="val 17778"/>
            </a:avLst>
          </a:prstGeom>
          <a:solidFill>
            <a:srgbClr val="FF6B35"/>
          </a:solidFill>
          <a:ln/>
        </p:spPr>
        <p:txBody>
          <a:bodyPr/>
          <a:p/>
        </p:txBody>
      </p:sp>
      <p:sp>
        <p:nvSpPr>
          <p:cNvPr id="9" name="Text 7"/>
          <p:cNvSpPr/>
          <p:nvPr/>
        </p:nvSpPr>
        <p:spPr>
          <a:xfrm>
            <a:off x="457200" y="1005840"/>
            <a:ext cx="3931920" cy="411480"/>
          </a:xfrm>
          <a:prstGeom prst="rect">
            <a:avLst/>
          </a:prstGeom>
          <a:noFill/>
          <a:ln/>
        </p:spPr>
        <p:txBody>
          <a:bodyPr wrap="square" rtlCol="0" anchor="ctr">
            <a:normAutofit/>
          </a:bodyPr>
          <a:lstStyle/>
          <a:p>
            <a:pPr algn="ctr" indent="0" marL="0">
              <a:buNone/>
            </a:pPr>
            <a:r>
              <a:rPr lang="en-US" sz="1400" dirty="0">
                <a:solidFill>
                  <a:srgbClr val="FFFFFF"/>
                </a:solidFill>
                <a:latin typeface="微软雅黑" pitchFamily="34" charset="0"/>
                <a:ea typeface="Arial Black" pitchFamily="34" charset="-122"/>
                <a:cs typeface="Arial Black" pitchFamily="34" charset="-120"/>
              </a:rPr>
              <a:t>体测流程6步法</a:t>
            </a:r>
            <a:endParaRPr lang="en-US" sz="1400" dirty="0"/>
          </a:p>
        </p:txBody>
      </p:sp>
      <p:sp>
        <p:nvSpPr>
          <p:cNvPr id="10" name="Shape 8"/>
          <p:cNvSpPr/>
          <p:nvPr/>
        </p:nvSpPr>
        <p:spPr>
          <a:xfrm>
            <a:off x="594360" y="1536192"/>
            <a:ext cx="292608" cy="292608"/>
          </a:xfrm>
          <a:prstGeom prst="ellipse">
            <a:avLst/>
          </a:prstGeom>
          <a:solidFill>
            <a:srgbClr val="FF6B35"/>
          </a:solidFill>
          <a:ln/>
        </p:spPr>
        <p:txBody>
          <a:bodyPr/>
          <a:p/>
        </p:txBody>
      </p:sp>
      <p:sp>
        <p:nvSpPr>
          <p:cNvPr id="11" name="Text 9"/>
          <p:cNvSpPr/>
          <p:nvPr/>
        </p:nvSpPr>
        <p:spPr>
          <a:xfrm>
            <a:off x="594360" y="1536192"/>
            <a:ext cx="292608" cy="292608"/>
          </a:xfrm>
          <a:prstGeom prst="rect">
            <a:avLst/>
          </a:prstGeom>
          <a:noFill/>
          <a:ln/>
        </p:spPr>
        <p:txBody>
          <a:bodyPr wrap="square" rtlCol="0" anchor="ctr">
            <a:normAutofit/>
          </a:bodyPr>
          <a:lstStyle/>
          <a:p>
            <a:pPr algn="ctr" indent="0" marL="0">
              <a:buNone/>
            </a:pPr>
            <a:r>
              <a:rPr lang="en-US" sz="1100" dirty="0">
                <a:solidFill>
                  <a:srgbClr val="FFFFFF"/>
                </a:solidFill>
                <a:latin typeface="微软雅黑" pitchFamily="34" charset="0"/>
                <a:ea typeface="Arial Black" pitchFamily="34" charset="-122"/>
                <a:cs typeface="Arial Black" pitchFamily="34" charset="-120"/>
              </a:rPr>
              <a:t>1</a:t>
            </a:r>
            <a:endParaRPr lang="en-US" sz="1100" dirty="0"/>
          </a:p>
        </p:txBody>
      </p:sp>
      <p:sp>
        <p:nvSpPr>
          <p:cNvPr id="12" name="Text 10"/>
          <p:cNvSpPr/>
          <p:nvPr/>
        </p:nvSpPr>
        <p:spPr>
          <a:xfrm>
            <a:off x="960120" y="1508760"/>
            <a:ext cx="3200400" cy="347472"/>
          </a:xfrm>
          <a:prstGeom prst="rect">
            <a:avLst/>
          </a:prstGeom>
          <a:noFill/>
          <a:ln/>
        </p:spPr>
        <p:txBody>
          <a:bodyPr wrap="square" rtlCol="0" anchor="ctr">
            <a:normAutofit/>
          </a:bodyPr>
          <a:lstStyle/>
          <a:p>
            <a:pPr indent="0" marL="0">
              <a:buNone/>
            </a:pPr>
            <a:r>
              <a:rPr lang="en-US" sz="1100" dirty="0">
                <a:solidFill>
                  <a:srgbClr val="FFFFFF"/>
                </a:solidFill>
                <a:latin typeface="微软雅黑" pitchFamily="34" charset="0"/>
                <a:ea typeface="Calibri" pitchFamily="34" charset="-122"/>
                <a:cs typeface="Calibri" pitchFamily="34" charset="-120"/>
              </a:rPr>
              <a:t>Step 1  体测邀约</a:t>
            </a:r>
            <a:endParaRPr lang="en-US" sz="1100" dirty="0"/>
          </a:p>
        </p:txBody>
      </p:sp>
      <p:sp>
        <p:nvSpPr>
          <p:cNvPr id="13" name="Shape 11"/>
          <p:cNvSpPr/>
          <p:nvPr/>
        </p:nvSpPr>
        <p:spPr>
          <a:xfrm>
            <a:off x="594360" y="2039112"/>
            <a:ext cx="292608" cy="292608"/>
          </a:xfrm>
          <a:prstGeom prst="ellipse">
            <a:avLst/>
          </a:prstGeom>
          <a:solidFill>
            <a:srgbClr val="FF6B35"/>
          </a:solidFill>
          <a:ln/>
        </p:spPr>
        <p:txBody>
          <a:bodyPr/>
          <a:p/>
        </p:txBody>
      </p:sp>
      <p:sp>
        <p:nvSpPr>
          <p:cNvPr id="14" name="Text 12"/>
          <p:cNvSpPr/>
          <p:nvPr/>
        </p:nvSpPr>
        <p:spPr>
          <a:xfrm>
            <a:off x="594360" y="2039112"/>
            <a:ext cx="292608" cy="292608"/>
          </a:xfrm>
          <a:prstGeom prst="rect">
            <a:avLst/>
          </a:prstGeom>
          <a:noFill/>
          <a:ln/>
        </p:spPr>
        <p:txBody>
          <a:bodyPr wrap="square" rtlCol="0" anchor="ctr">
            <a:normAutofit/>
          </a:bodyPr>
          <a:lstStyle/>
          <a:p>
            <a:pPr algn="ctr" indent="0" marL="0">
              <a:buNone/>
            </a:pPr>
            <a:r>
              <a:rPr lang="en-US" sz="1100" dirty="0">
                <a:solidFill>
                  <a:srgbClr val="FFFFFF"/>
                </a:solidFill>
                <a:latin typeface="微软雅黑" pitchFamily="34" charset="0"/>
                <a:ea typeface="Arial Black" pitchFamily="34" charset="-122"/>
                <a:cs typeface="Arial Black" pitchFamily="34" charset="-120"/>
              </a:rPr>
              <a:t>2</a:t>
            </a:r>
            <a:endParaRPr lang="en-US" sz="1100" dirty="0"/>
          </a:p>
        </p:txBody>
      </p:sp>
      <p:sp>
        <p:nvSpPr>
          <p:cNvPr id="15" name="Text 13"/>
          <p:cNvSpPr/>
          <p:nvPr/>
        </p:nvSpPr>
        <p:spPr>
          <a:xfrm>
            <a:off x="960120" y="2011680"/>
            <a:ext cx="3200400" cy="347472"/>
          </a:xfrm>
          <a:prstGeom prst="rect">
            <a:avLst/>
          </a:prstGeom>
          <a:noFill/>
          <a:ln/>
        </p:spPr>
        <p:txBody>
          <a:bodyPr wrap="square" rtlCol="0" anchor="ctr">
            <a:normAutofit/>
          </a:bodyPr>
          <a:lstStyle/>
          <a:p>
            <a:pPr indent="0" marL="0">
              <a:buNone/>
            </a:pPr>
            <a:r>
              <a:rPr lang="en-US" sz="1100" dirty="0">
                <a:solidFill>
                  <a:srgbClr val="FFFFFF"/>
                </a:solidFill>
                <a:latin typeface="微软雅黑" pitchFamily="34" charset="0"/>
                <a:ea typeface="Calibri" pitchFamily="34" charset="-122"/>
                <a:cs typeface="Calibri" pitchFamily="34" charset="-120"/>
              </a:rPr>
              <a:t>Step 2  体测准备</a:t>
            </a:r>
            <a:endParaRPr lang="en-US" sz="1100" dirty="0"/>
          </a:p>
        </p:txBody>
      </p:sp>
      <p:sp>
        <p:nvSpPr>
          <p:cNvPr id="16" name="Shape 14"/>
          <p:cNvSpPr/>
          <p:nvPr/>
        </p:nvSpPr>
        <p:spPr>
          <a:xfrm>
            <a:off x="594360" y="2542032"/>
            <a:ext cx="292608" cy="292608"/>
          </a:xfrm>
          <a:prstGeom prst="ellipse">
            <a:avLst/>
          </a:prstGeom>
          <a:solidFill>
            <a:srgbClr val="FF6B35"/>
          </a:solidFill>
          <a:ln/>
        </p:spPr>
        <p:txBody>
          <a:bodyPr/>
          <a:p/>
        </p:txBody>
      </p:sp>
      <p:sp>
        <p:nvSpPr>
          <p:cNvPr id="17" name="Text 15"/>
          <p:cNvSpPr/>
          <p:nvPr/>
        </p:nvSpPr>
        <p:spPr>
          <a:xfrm>
            <a:off x="594360" y="2542032"/>
            <a:ext cx="292608" cy="292608"/>
          </a:xfrm>
          <a:prstGeom prst="rect">
            <a:avLst/>
          </a:prstGeom>
          <a:noFill/>
          <a:ln/>
        </p:spPr>
        <p:txBody>
          <a:bodyPr wrap="square" rtlCol="0" anchor="ctr">
            <a:normAutofit/>
          </a:bodyPr>
          <a:lstStyle/>
          <a:p>
            <a:pPr algn="ctr" indent="0" marL="0">
              <a:buNone/>
            </a:pPr>
            <a:r>
              <a:rPr lang="en-US" sz="1100" dirty="0">
                <a:solidFill>
                  <a:srgbClr val="FFFFFF"/>
                </a:solidFill>
                <a:latin typeface="微软雅黑" pitchFamily="34" charset="0"/>
                <a:ea typeface="Arial Black" pitchFamily="34" charset="-122"/>
                <a:cs typeface="Arial Black" pitchFamily="34" charset="-120"/>
              </a:rPr>
              <a:t>3</a:t>
            </a:r>
            <a:endParaRPr lang="en-US" sz="1100" dirty="0"/>
          </a:p>
        </p:txBody>
      </p:sp>
      <p:sp>
        <p:nvSpPr>
          <p:cNvPr id="18" name="Text 16"/>
          <p:cNvSpPr/>
          <p:nvPr/>
        </p:nvSpPr>
        <p:spPr>
          <a:xfrm>
            <a:off x="960120" y="2514600"/>
            <a:ext cx="3200400" cy="347472"/>
          </a:xfrm>
          <a:prstGeom prst="rect">
            <a:avLst/>
          </a:prstGeom>
          <a:noFill/>
          <a:ln/>
        </p:spPr>
        <p:txBody>
          <a:bodyPr wrap="square" rtlCol="0" anchor="ctr">
            <a:normAutofit/>
          </a:bodyPr>
          <a:lstStyle/>
          <a:p>
            <a:pPr indent="0" marL="0">
              <a:buNone/>
            </a:pPr>
            <a:r>
              <a:rPr lang="en-US" sz="1100" dirty="0">
                <a:solidFill>
                  <a:srgbClr val="FFFFFF"/>
                </a:solidFill>
                <a:latin typeface="微软雅黑" pitchFamily="34" charset="0"/>
                <a:ea typeface="Calibri" pitchFamily="34" charset="-122"/>
                <a:cs typeface="Calibri" pitchFamily="34" charset="-120"/>
              </a:rPr>
              <a:t>Step 3  体测执行（20-30分钟）</a:t>
            </a:r>
            <a:endParaRPr lang="en-US" sz="1100" dirty="0"/>
          </a:p>
        </p:txBody>
      </p:sp>
      <p:sp>
        <p:nvSpPr>
          <p:cNvPr id="19" name="Shape 17"/>
          <p:cNvSpPr/>
          <p:nvPr/>
        </p:nvSpPr>
        <p:spPr>
          <a:xfrm>
            <a:off x="594360" y="3044952"/>
            <a:ext cx="292608" cy="292608"/>
          </a:xfrm>
          <a:prstGeom prst="ellipse">
            <a:avLst/>
          </a:prstGeom>
          <a:solidFill>
            <a:srgbClr val="FF6B35"/>
          </a:solidFill>
          <a:ln/>
        </p:spPr>
        <p:txBody>
          <a:bodyPr/>
          <a:p/>
        </p:txBody>
      </p:sp>
      <p:sp>
        <p:nvSpPr>
          <p:cNvPr id="20" name="Text 18"/>
          <p:cNvSpPr/>
          <p:nvPr/>
        </p:nvSpPr>
        <p:spPr>
          <a:xfrm>
            <a:off x="594360" y="3044952"/>
            <a:ext cx="292608" cy="292608"/>
          </a:xfrm>
          <a:prstGeom prst="rect">
            <a:avLst/>
          </a:prstGeom>
          <a:noFill/>
          <a:ln/>
        </p:spPr>
        <p:txBody>
          <a:bodyPr wrap="square" rtlCol="0" anchor="ctr">
            <a:normAutofit/>
          </a:bodyPr>
          <a:lstStyle/>
          <a:p>
            <a:pPr algn="ctr" indent="0" marL="0">
              <a:buNone/>
            </a:pPr>
            <a:r>
              <a:rPr lang="en-US" sz="1100" dirty="0">
                <a:solidFill>
                  <a:srgbClr val="FFFFFF"/>
                </a:solidFill>
                <a:latin typeface="微软雅黑" pitchFamily="34" charset="0"/>
                <a:ea typeface="Arial Black" pitchFamily="34" charset="-122"/>
                <a:cs typeface="Arial Black" pitchFamily="34" charset="-120"/>
              </a:rPr>
              <a:t>4</a:t>
            </a:r>
            <a:endParaRPr lang="en-US" sz="1100" dirty="0"/>
          </a:p>
        </p:txBody>
      </p:sp>
      <p:sp>
        <p:nvSpPr>
          <p:cNvPr id="21" name="Text 19"/>
          <p:cNvSpPr/>
          <p:nvPr/>
        </p:nvSpPr>
        <p:spPr>
          <a:xfrm>
            <a:off x="960120" y="3017520"/>
            <a:ext cx="3200400" cy="347472"/>
          </a:xfrm>
          <a:prstGeom prst="rect">
            <a:avLst/>
          </a:prstGeom>
          <a:noFill/>
          <a:ln/>
        </p:spPr>
        <p:txBody>
          <a:bodyPr wrap="square" rtlCol="0" anchor="ctr">
            <a:normAutofit/>
          </a:bodyPr>
          <a:lstStyle/>
          <a:p>
            <a:pPr indent="0" marL="0">
              <a:buNone/>
            </a:pPr>
            <a:r>
              <a:rPr lang="en-US" sz="1100" dirty="0">
                <a:solidFill>
                  <a:srgbClr val="FFFFFF"/>
                </a:solidFill>
                <a:latin typeface="微软雅黑" pitchFamily="34" charset="0"/>
                <a:ea typeface="Calibri" pitchFamily="34" charset="-122"/>
                <a:cs typeface="Calibri" pitchFamily="34" charset="-120"/>
              </a:rPr>
              <a:t>Step 4  录入系统（GYMGO）</a:t>
            </a:r>
            <a:endParaRPr lang="en-US" sz="1100" dirty="0"/>
          </a:p>
        </p:txBody>
      </p:sp>
      <p:sp>
        <p:nvSpPr>
          <p:cNvPr id="22" name="Shape 20"/>
          <p:cNvSpPr/>
          <p:nvPr/>
        </p:nvSpPr>
        <p:spPr>
          <a:xfrm>
            <a:off x="594360" y="3547872"/>
            <a:ext cx="292608" cy="292608"/>
          </a:xfrm>
          <a:prstGeom prst="ellipse">
            <a:avLst/>
          </a:prstGeom>
          <a:solidFill>
            <a:srgbClr val="FF6B35"/>
          </a:solidFill>
          <a:ln/>
        </p:spPr>
        <p:txBody>
          <a:bodyPr/>
          <a:p/>
        </p:txBody>
      </p:sp>
      <p:sp>
        <p:nvSpPr>
          <p:cNvPr id="23" name="Text 21"/>
          <p:cNvSpPr/>
          <p:nvPr/>
        </p:nvSpPr>
        <p:spPr>
          <a:xfrm>
            <a:off x="594360" y="3547872"/>
            <a:ext cx="292608" cy="292608"/>
          </a:xfrm>
          <a:prstGeom prst="rect">
            <a:avLst/>
          </a:prstGeom>
          <a:noFill/>
          <a:ln/>
        </p:spPr>
        <p:txBody>
          <a:bodyPr wrap="square" rtlCol="0" anchor="ctr">
            <a:normAutofit/>
          </a:bodyPr>
          <a:lstStyle/>
          <a:p>
            <a:pPr algn="ctr" indent="0" marL="0">
              <a:buNone/>
            </a:pPr>
            <a:r>
              <a:rPr lang="en-US" sz="1100" dirty="0">
                <a:solidFill>
                  <a:srgbClr val="FFFFFF"/>
                </a:solidFill>
                <a:latin typeface="微软雅黑" pitchFamily="34" charset="0"/>
                <a:ea typeface="Arial Black" pitchFamily="34" charset="-122"/>
                <a:cs typeface="Arial Black" pitchFamily="34" charset="-120"/>
              </a:rPr>
              <a:t>5</a:t>
            </a:r>
            <a:endParaRPr lang="en-US" sz="1100" dirty="0"/>
          </a:p>
        </p:txBody>
      </p:sp>
      <p:sp>
        <p:nvSpPr>
          <p:cNvPr id="24" name="Text 22"/>
          <p:cNvSpPr/>
          <p:nvPr/>
        </p:nvSpPr>
        <p:spPr>
          <a:xfrm>
            <a:off x="960120" y="3520440"/>
            <a:ext cx="3200400" cy="347472"/>
          </a:xfrm>
          <a:prstGeom prst="rect">
            <a:avLst/>
          </a:prstGeom>
          <a:noFill/>
          <a:ln/>
        </p:spPr>
        <p:txBody>
          <a:bodyPr wrap="square" rtlCol="0" anchor="ctr">
            <a:normAutofit/>
          </a:bodyPr>
          <a:lstStyle/>
          <a:p>
            <a:pPr indent="0" marL="0">
              <a:buNone/>
            </a:pPr>
            <a:r>
              <a:rPr lang="en-US" sz="1100" dirty="0">
                <a:solidFill>
                  <a:srgbClr val="FFFFFF"/>
                </a:solidFill>
                <a:latin typeface="微软雅黑" pitchFamily="34" charset="0"/>
                <a:ea typeface="Calibri" pitchFamily="34" charset="-122"/>
                <a:cs typeface="Calibri" pitchFamily="34" charset="-120"/>
              </a:rPr>
              <a:t>Step 5  体测解读（新客24h / 会员48h内）</a:t>
            </a:r>
            <a:endParaRPr lang="en-US" sz="1100" dirty="0"/>
          </a:p>
        </p:txBody>
      </p:sp>
      <p:sp>
        <p:nvSpPr>
          <p:cNvPr id="25" name="Shape 23"/>
          <p:cNvSpPr/>
          <p:nvPr/>
        </p:nvSpPr>
        <p:spPr>
          <a:xfrm>
            <a:off x="594360" y="4050792"/>
            <a:ext cx="292608" cy="292608"/>
          </a:xfrm>
          <a:prstGeom prst="ellipse">
            <a:avLst/>
          </a:prstGeom>
          <a:solidFill>
            <a:srgbClr val="FF6B35"/>
          </a:solidFill>
          <a:ln/>
        </p:spPr>
        <p:txBody>
          <a:bodyPr/>
          <a:p/>
        </p:txBody>
      </p:sp>
      <p:sp>
        <p:nvSpPr>
          <p:cNvPr id="26" name="Text 24"/>
          <p:cNvSpPr/>
          <p:nvPr/>
        </p:nvSpPr>
        <p:spPr>
          <a:xfrm>
            <a:off x="594360" y="4050792"/>
            <a:ext cx="292608" cy="292608"/>
          </a:xfrm>
          <a:prstGeom prst="rect">
            <a:avLst/>
          </a:prstGeom>
          <a:noFill/>
          <a:ln/>
        </p:spPr>
        <p:txBody>
          <a:bodyPr wrap="square" rtlCol="0" anchor="ctr">
            <a:normAutofit/>
          </a:bodyPr>
          <a:lstStyle/>
          <a:p>
            <a:pPr algn="ctr" indent="0" marL="0">
              <a:buNone/>
            </a:pPr>
            <a:r>
              <a:rPr lang="en-US" sz="1100" dirty="0">
                <a:solidFill>
                  <a:srgbClr val="FFFFFF"/>
                </a:solidFill>
                <a:latin typeface="微软雅黑" pitchFamily="34" charset="0"/>
                <a:ea typeface="Arial Black" pitchFamily="34" charset="-122"/>
                <a:cs typeface="Arial Black" pitchFamily="34" charset="-120"/>
              </a:rPr>
              <a:t>6</a:t>
            </a:r>
            <a:endParaRPr lang="en-US" sz="1100" dirty="0"/>
          </a:p>
        </p:txBody>
      </p:sp>
      <p:sp>
        <p:nvSpPr>
          <p:cNvPr id="27" name="Text 25"/>
          <p:cNvSpPr/>
          <p:nvPr/>
        </p:nvSpPr>
        <p:spPr>
          <a:xfrm>
            <a:off x="960120" y="4023360"/>
            <a:ext cx="3200400" cy="347472"/>
          </a:xfrm>
          <a:prstGeom prst="rect">
            <a:avLst/>
          </a:prstGeom>
          <a:noFill/>
          <a:ln/>
        </p:spPr>
        <p:txBody>
          <a:bodyPr wrap="square" rtlCol="0" anchor="ctr">
            <a:normAutofit/>
          </a:bodyPr>
          <a:lstStyle/>
          <a:p>
            <a:pPr indent="0" marL="0">
              <a:buNone/>
            </a:pPr>
            <a:r>
              <a:rPr lang="en-US" sz="1100" dirty="0">
                <a:solidFill>
                  <a:srgbClr val="FFFFFF"/>
                </a:solidFill>
                <a:latin typeface="微软雅黑" pitchFamily="34" charset="0"/>
                <a:ea typeface="Calibri" pitchFamily="34" charset="-122"/>
                <a:cs typeface="Calibri" pitchFamily="34" charset="-120"/>
              </a:rPr>
              <a:t>Step 6  跟进转化（&gt;=40%）</a:t>
            </a:r>
            <a:endParaRPr lang="en-US" sz="1100" dirty="0"/>
          </a:p>
        </p:txBody>
      </p:sp>
      <p:sp>
        <p:nvSpPr>
          <p:cNvPr id="28" name="Shape 26"/>
          <p:cNvSpPr/>
          <p:nvPr/>
        </p:nvSpPr>
        <p:spPr>
          <a:xfrm>
            <a:off x="4663440" y="1005840"/>
            <a:ext cx="3931920" cy="3657600"/>
          </a:xfrm>
          <a:prstGeom prst="rect">
            <a:avLst>
              <a:gd name="adj" fmla="val 2000"/>
            </a:avLst>
          </a:prstGeom>
          <a:solidFill>
            <a:srgbClr val="1A2A50">
              <a:alpha val="70000"/>
            </a:srgbClr>
          </a:solidFill>
          <a:ln/>
          <a:effectLst>
            <a:outerShdw sx="100000" sy="100000" kx="0" ky="0" algn="bl" rotWithShape="0" blurRad="50800" dist="25400" dir="16200000">
              <a:srgbClr val="000000">
                <a:alpha val="6000"/>
              </a:srgbClr>
            </a:outerShdw>
          </a:effectLst>
        </p:spPr>
        <p:txBody>
          <a:bodyPr/>
          <a:p/>
        </p:txBody>
      </p:sp>
      <p:sp>
        <p:nvSpPr>
          <p:cNvPr id="29" name="Shape 27"/>
          <p:cNvSpPr/>
          <p:nvPr/>
        </p:nvSpPr>
        <p:spPr>
          <a:xfrm>
            <a:off x="4663440" y="1005840"/>
            <a:ext cx="3931920" cy="411480"/>
          </a:xfrm>
          <a:prstGeom prst="rect">
            <a:avLst>
              <a:gd name="adj" fmla="val 17778"/>
            </a:avLst>
          </a:prstGeom>
          <a:solidFill>
            <a:srgbClr val="1E2761"/>
          </a:solidFill>
          <a:ln/>
        </p:spPr>
        <p:txBody>
          <a:bodyPr/>
          <a:p/>
        </p:txBody>
      </p:sp>
      <p:sp>
        <p:nvSpPr>
          <p:cNvPr id="30" name="Text 28"/>
          <p:cNvSpPr/>
          <p:nvPr/>
        </p:nvSpPr>
        <p:spPr>
          <a:xfrm>
            <a:off x="4663440" y="1005840"/>
            <a:ext cx="3931920" cy="411480"/>
          </a:xfrm>
          <a:prstGeom prst="rect">
            <a:avLst/>
          </a:prstGeom>
          <a:noFill/>
          <a:ln/>
        </p:spPr>
        <p:txBody>
          <a:bodyPr wrap="square" rtlCol="0" anchor="ctr">
            <a:normAutofit/>
          </a:bodyPr>
          <a:lstStyle/>
          <a:p>
            <a:pPr algn="ctr" indent="0" marL="0">
              <a:buNone/>
            </a:pPr>
            <a:r>
              <a:rPr lang="en-US" sz="1400" dirty="0">
                <a:solidFill>
                  <a:srgbClr val="FFFFFF"/>
                </a:solidFill>
                <a:latin typeface="微软雅黑" pitchFamily="34" charset="0"/>
                <a:ea typeface="Arial Black" pitchFamily="34" charset="-122"/>
                <a:cs typeface="Arial Black" pitchFamily="34" charset="-120"/>
              </a:rPr>
              <a:t>解读逻辑6步法</a:t>
            </a:r>
            <a:endParaRPr lang="en-US" sz="1400" dirty="0"/>
          </a:p>
        </p:txBody>
      </p:sp>
      <p:sp>
        <p:nvSpPr>
          <p:cNvPr id="31" name="Shape 29"/>
          <p:cNvSpPr/>
          <p:nvPr/>
        </p:nvSpPr>
        <p:spPr>
          <a:xfrm>
            <a:off x="4800600" y="1536192"/>
            <a:ext cx="292608" cy="292608"/>
          </a:xfrm>
          <a:prstGeom prst="ellipse">
            <a:avLst/>
          </a:prstGeom>
          <a:solidFill>
            <a:srgbClr val="1E2761"/>
          </a:solidFill>
          <a:ln/>
        </p:spPr>
        <p:txBody>
          <a:bodyPr/>
          <a:p/>
        </p:txBody>
      </p:sp>
      <p:sp>
        <p:nvSpPr>
          <p:cNvPr id="32" name="Text 30"/>
          <p:cNvSpPr/>
          <p:nvPr/>
        </p:nvSpPr>
        <p:spPr>
          <a:xfrm>
            <a:off x="4800600" y="1536192"/>
            <a:ext cx="292608" cy="292608"/>
          </a:xfrm>
          <a:prstGeom prst="rect">
            <a:avLst/>
          </a:prstGeom>
          <a:noFill/>
          <a:ln/>
        </p:spPr>
        <p:txBody>
          <a:bodyPr wrap="square" rtlCol="0" anchor="ctr">
            <a:normAutofit/>
          </a:bodyPr>
          <a:lstStyle/>
          <a:p>
            <a:pPr algn="ctr" indent="0" marL="0">
              <a:buNone/>
            </a:pPr>
            <a:r>
              <a:rPr lang="en-US" sz="1100" dirty="0">
                <a:solidFill>
                  <a:srgbClr val="FFFFFF"/>
                </a:solidFill>
                <a:latin typeface="微软雅黑" pitchFamily="34" charset="0"/>
                <a:ea typeface="Arial Black" pitchFamily="34" charset="-122"/>
                <a:cs typeface="Arial Black" pitchFamily="34" charset="-120"/>
              </a:rPr>
              <a:t>1</a:t>
            </a:r>
            <a:endParaRPr lang="en-US" sz="1100" dirty="0"/>
          </a:p>
        </p:txBody>
      </p:sp>
      <p:sp>
        <p:nvSpPr>
          <p:cNvPr id="33" name="Text 31"/>
          <p:cNvSpPr/>
          <p:nvPr/>
        </p:nvSpPr>
        <p:spPr>
          <a:xfrm>
            <a:off x="5166360" y="1508760"/>
            <a:ext cx="3200400" cy="347472"/>
          </a:xfrm>
          <a:prstGeom prst="rect">
            <a:avLst/>
          </a:prstGeom>
          <a:noFill/>
          <a:ln/>
        </p:spPr>
        <p:txBody>
          <a:bodyPr wrap="square" rtlCol="0" anchor="ctr">
            <a:normAutofit/>
          </a:bodyPr>
          <a:lstStyle/>
          <a:p>
            <a:pPr indent="0" marL="0">
              <a:buNone/>
            </a:pPr>
            <a:r>
              <a:rPr lang="en-US" sz="1100" dirty="0">
                <a:solidFill>
                  <a:srgbClr val="FFFFFF"/>
                </a:solidFill>
                <a:latin typeface="微软雅黑" pitchFamily="34" charset="0"/>
                <a:ea typeface="Calibri" pitchFamily="34" charset="-122"/>
                <a:cs typeface="Calibri" pitchFamily="34" charset="-120"/>
              </a:rPr>
              <a:t>问询 — 了解家长认知和担忧</a:t>
            </a:r>
            <a:endParaRPr lang="en-US" sz="1100" dirty="0"/>
          </a:p>
        </p:txBody>
      </p:sp>
      <p:sp>
        <p:nvSpPr>
          <p:cNvPr id="34" name="Shape 32"/>
          <p:cNvSpPr/>
          <p:nvPr/>
        </p:nvSpPr>
        <p:spPr>
          <a:xfrm>
            <a:off x="4800600" y="2039112"/>
            <a:ext cx="292608" cy="292608"/>
          </a:xfrm>
          <a:prstGeom prst="ellipse">
            <a:avLst/>
          </a:prstGeom>
          <a:solidFill>
            <a:srgbClr val="1E2761"/>
          </a:solidFill>
          <a:ln/>
        </p:spPr>
        <p:txBody>
          <a:bodyPr/>
          <a:p/>
        </p:txBody>
      </p:sp>
      <p:sp>
        <p:nvSpPr>
          <p:cNvPr id="35" name="Text 33"/>
          <p:cNvSpPr/>
          <p:nvPr/>
        </p:nvSpPr>
        <p:spPr>
          <a:xfrm>
            <a:off x="4800600" y="2039112"/>
            <a:ext cx="292608" cy="292608"/>
          </a:xfrm>
          <a:prstGeom prst="rect">
            <a:avLst/>
          </a:prstGeom>
          <a:noFill/>
          <a:ln/>
        </p:spPr>
        <p:txBody>
          <a:bodyPr wrap="square" rtlCol="0" anchor="ctr">
            <a:normAutofit/>
          </a:bodyPr>
          <a:lstStyle/>
          <a:p>
            <a:pPr algn="ctr" indent="0" marL="0">
              <a:buNone/>
            </a:pPr>
            <a:r>
              <a:rPr lang="en-US" sz="1100" dirty="0">
                <a:solidFill>
                  <a:srgbClr val="FFFFFF"/>
                </a:solidFill>
                <a:latin typeface="微软雅黑" pitchFamily="34" charset="0"/>
                <a:ea typeface="Arial Black" pitchFamily="34" charset="-122"/>
                <a:cs typeface="Arial Black" pitchFamily="34" charset="-120"/>
              </a:rPr>
              <a:t>2</a:t>
            </a:r>
            <a:endParaRPr lang="en-US" sz="1100" dirty="0"/>
          </a:p>
        </p:txBody>
      </p:sp>
      <p:sp>
        <p:nvSpPr>
          <p:cNvPr id="36" name="Text 34"/>
          <p:cNvSpPr/>
          <p:nvPr/>
        </p:nvSpPr>
        <p:spPr>
          <a:xfrm>
            <a:off x="5166360" y="2011680"/>
            <a:ext cx="3200400" cy="347472"/>
          </a:xfrm>
          <a:prstGeom prst="rect">
            <a:avLst/>
          </a:prstGeom>
          <a:noFill/>
          <a:ln/>
        </p:spPr>
        <p:txBody>
          <a:bodyPr wrap="square" rtlCol="0" anchor="ctr">
            <a:normAutofit/>
          </a:bodyPr>
          <a:lstStyle/>
          <a:p>
            <a:pPr indent="0" marL="0">
              <a:buNone/>
            </a:pPr>
            <a:r>
              <a:rPr lang="en-US" sz="1100" dirty="0">
                <a:solidFill>
                  <a:srgbClr val="FFFFFF"/>
                </a:solidFill>
                <a:latin typeface="微软雅黑" pitchFamily="34" charset="0"/>
                <a:ea typeface="Calibri" pitchFamily="34" charset="-122"/>
                <a:cs typeface="Calibri" pitchFamily="34" charset="-120"/>
              </a:rPr>
              <a:t>分析原因 — 结合数据找根因</a:t>
            </a:r>
            <a:endParaRPr lang="en-US" sz="1100" dirty="0"/>
          </a:p>
        </p:txBody>
      </p:sp>
      <p:sp>
        <p:nvSpPr>
          <p:cNvPr id="37" name="Shape 35"/>
          <p:cNvSpPr/>
          <p:nvPr/>
        </p:nvSpPr>
        <p:spPr>
          <a:xfrm>
            <a:off x="4800600" y="2542032"/>
            <a:ext cx="292608" cy="292608"/>
          </a:xfrm>
          <a:prstGeom prst="ellipse">
            <a:avLst/>
          </a:prstGeom>
          <a:solidFill>
            <a:srgbClr val="1E2761"/>
          </a:solidFill>
          <a:ln/>
        </p:spPr>
        <p:txBody>
          <a:bodyPr/>
          <a:p/>
        </p:txBody>
      </p:sp>
      <p:sp>
        <p:nvSpPr>
          <p:cNvPr id="38" name="Text 36"/>
          <p:cNvSpPr/>
          <p:nvPr/>
        </p:nvSpPr>
        <p:spPr>
          <a:xfrm>
            <a:off x="4800600" y="2542032"/>
            <a:ext cx="292608" cy="292608"/>
          </a:xfrm>
          <a:prstGeom prst="rect">
            <a:avLst/>
          </a:prstGeom>
          <a:noFill/>
          <a:ln/>
        </p:spPr>
        <p:txBody>
          <a:bodyPr wrap="square" rtlCol="0" anchor="ctr">
            <a:normAutofit/>
          </a:bodyPr>
          <a:lstStyle/>
          <a:p>
            <a:pPr algn="ctr" indent="0" marL="0">
              <a:buNone/>
            </a:pPr>
            <a:r>
              <a:rPr lang="en-US" sz="1100" dirty="0">
                <a:solidFill>
                  <a:srgbClr val="FFFFFF"/>
                </a:solidFill>
                <a:latin typeface="微软雅黑" pitchFamily="34" charset="0"/>
                <a:ea typeface="Arial Black" pitchFamily="34" charset="-122"/>
                <a:cs typeface="Arial Black" pitchFamily="34" charset="-120"/>
              </a:rPr>
              <a:t>3</a:t>
            </a:r>
            <a:endParaRPr lang="en-US" sz="1100" dirty="0"/>
          </a:p>
        </p:txBody>
      </p:sp>
      <p:sp>
        <p:nvSpPr>
          <p:cNvPr id="39" name="Text 37"/>
          <p:cNvSpPr/>
          <p:nvPr/>
        </p:nvSpPr>
        <p:spPr>
          <a:xfrm>
            <a:off x="5166360" y="2514600"/>
            <a:ext cx="3200400" cy="347472"/>
          </a:xfrm>
          <a:prstGeom prst="rect">
            <a:avLst/>
          </a:prstGeom>
          <a:noFill/>
          <a:ln/>
        </p:spPr>
        <p:txBody>
          <a:bodyPr wrap="square" rtlCol="0" anchor="ctr">
            <a:normAutofit/>
          </a:bodyPr>
          <a:lstStyle/>
          <a:p>
            <a:pPr indent="0" marL="0">
              <a:buNone/>
            </a:pPr>
            <a:r>
              <a:rPr lang="en-US" sz="1100" dirty="0">
                <a:solidFill>
                  <a:srgbClr val="FFFFFF"/>
                </a:solidFill>
                <a:latin typeface="微软雅黑" pitchFamily="34" charset="0"/>
                <a:ea typeface="Calibri" pitchFamily="34" charset="-122"/>
                <a:cs typeface="Calibri" pitchFamily="34" charset="-120"/>
              </a:rPr>
              <a:t>给解决方案 — 针对性推荐课程</a:t>
            </a:r>
            <a:endParaRPr lang="en-US" sz="1100" dirty="0"/>
          </a:p>
        </p:txBody>
      </p:sp>
      <p:sp>
        <p:nvSpPr>
          <p:cNvPr id="40" name="Shape 38"/>
          <p:cNvSpPr/>
          <p:nvPr/>
        </p:nvSpPr>
        <p:spPr>
          <a:xfrm>
            <a:off x="4800600" y="3044952"/>
            <a:ext cx="292608" cy="292608"/>
          </a:xfrm>
          <a:prstGeom prst="ellipse">
            <a:avLst/>
          </a:prstGeom>
          <a:solidFill>
            <a:srgbClr val="1E2761"/>
          </a:solidFill>
          <a:ln/>
        </p:spPr>
        <p:txBody>
          <a:bodyPr/>
          <a:p/>
        </p:txBody>
      </p:sp>
      <p:sp>
        <p:nvSpPr>
          <p:cNvPr id="41" name="Text 39"/>
          <p:cNvSpPr/>
          <p:nvPr/>
        </p:nvSpPr>
        <p:spPr>
          <a:xfrm>
            <a:off x="4800600" y="3044952"/>
            <a:ext cx="292608" cy="292608"/>
          </a:xfrm>
          <a:prstGeom prst="rect">
            <a:avLst/>
          </a:prstGeom>
          <a:noFill/>
          <a:ln/>
        </p:spPr>
        <p:txBody>
          <a:bodyPr wrap="square" rtlCol="0" anchor="ctr">
            <a:normAutofit/>
          </a:bodyPr>
          <a:lstStyle/>
          <a:p>
            <a:pPr algn="ctr" indent="0" marL="0">
              <a:buNone/>
            </a:pPr>
            <a:r>
              <a:rPr lang="en-US" sz="1100" dirty="0">
                <a:solidFill>
                  <a:srgbClr val="FFFFFF"/>
                </a:solidFill>
                <a:latin typeface="微软雅黑" pitchFamily="34" charset="0"/>
                <a:ea typeface="Arial Black" pitchFamily="34" charset="-122"/>
                <a:cs typeface="Arial Black" pitchFamily="34" charset="-120"/>
              </a:rPr>
              <a:t>4</a:t>
            </a:r>
            <a:endParaRPr lang="en-US" sz="1100" dirty="0"/>
          </a:p>
        </p:txBody>
      </p:sp>
      <p:sp>
        <p:nvSpPr>
          <p:cNvPr id="42" name="Text 40"/>
          <p:cNvSpPr/>
          <p:nvPr/>
        </p:nvSpPr>
        <p:spPr>
          <a:xfrm>
            <a:off x="5166360" y="3017520"/>
            <a:ext cx="3200400" cy="347472"/>
          </a:xfrm>
          <a:prstGeom prst="rect">
            <a:avLst/>
          </a:prstGeom>
          <a:noFill/>
          <a:ln/>
        </p:spPr>
        <p:txBody>
          <a:bodyPr wrap="square" rtlCol="0" anchor="ctr">
            <a:normAutofit/>
          </a:bodyPr>
          <a:lstStyle/>
          <a:p>
            <a:pPr indent="0" marL="0">
              <a:buNone/>
            </a:pPr>
            <a:r>
              <a:rPr lang="en-US" sz="1100" dirty="0">
                <a:solidFill>
                  <a:srgbClr val="FFFFFF"/>
                </a:solidFill>
                <a:latin typeface="微软雅黑" pitchFamily="34" charset="0"/>
                <a:ea typeface="Calibri" pitchFamily="34" charset="-122"/>
                <a:cs typeface="Calibri" pitchFamily="34" charset="-120"/>
              </a:rPr>
              <a:t>成功案例 — 分享同龄训练成果</a:t>
            </a:r>
            <a:endParaRPr lang="en-US" sz="1100" dirty="0"/>
          </a:p>
        </p:txBody>
      </p:sp>
      <p:sp>
        <p:nvSpPr>
          <p:cNvPr id="43" name="Shape 41"/>
          <p:cNvSpPr/>
          <p:nvPr/>
        </p:nvSpPr>
        <p:spPr>
          <a:xfrm>
            <a:off x="4800600" y="3547872"/>
            <a:ext cx="292608" cy="292608"/>
          </a:xfrm>
          <a:prstGeom prst="ellipse">
            <a:avLst/>
          </a:prstGeom>
          <a:solidFill>
            <a:srgbClr val="1E2761"/>
          </a:solidFill>
          <a:ln/>
        </p:spPr>
        <p:txBody>
          <a:bodyPr/>
          <a:p/>
        </p:txBody>
      </p:sp>
      <p:sp>
        <p:nvSpPr>
          <p:cNvPr id="44" name="Text 42"/>
          <p:cNvSpPr/>
          <p:nvPr/>
        </p:nvSpPr>
        <p:spPr>
          <a:xfrm>
            <a:off x="4800600" y="3547872"/>
            <a:ext cx="292608" cy="292608"/>
          </a:xfrm>
          <a:prstGeom prst="rect">
            <a:avLst/>
          </a:prstGeom>
          <a:noFill/>
          <a:ln/>
        </p:spPr>
        <p:txBody>
          <a:bodyPr wrap="square" rtlCol="0" anchor="ctr">
            <a:normAutofit/>
          </a:bodyPr>
          <a:lstStyle/>
          <a:p>
            <a:pPr algn="ctr" indent="0" marL="0">
              <a:buNone/>
            </a:pPr>
            <a:r>
              <a:rPr lang="en-US" sz="1100" dirty="0">
                <a:solidFill>
                  <a:srgbClr val="FFFFFF"/>
                </a:solidFill>
                <a:latin typeface="微软雅黑" pitchFamily="34" charset="0"/>
                <a:ea typeface="Arial Black" pitchFamily="34" charset="-122"/>
                <a:cs typeface="Arial Black" pitchFamily="34" charset="-120"/>
              </a:rPr>
              <a:t>5</a:t>
            </a:r>
            <a:endParaRPr lang="en-US" sz="1100" dirty="0"/>
          </a:p>
        </p:txBody>
      </p:sp>
      <p:sp>
        <p:nvSpPr>
          <p:cNvPr id="45" name="Text 43"/>
          <p:cNvSpPr/>
          <p:nvPr/>
        </p:nvSpPr>
        <p:spPr>
          <a:xfrm>
            <a:off x="5166360" y="3520440"/>
            <a:ext cx="3200400" cy="347472"/>
          </a:xfrm>
          <a:prstGeom prst="rect">
            <a:avLst/>
          </a:prstGeom>
          <a:noFill/>
          <a:ln/>
        </p:spPr>
        <p:txBody>
          <a:bodyPr wrap="square" rtlCol="0" anchor="ctr">
            <a:normAutofit/>
          </a:bodyPr>
          <a:lstStyle/>
          <a:p>
            <a:pPr indent="0" marL="0">
              <a:buNone/>
            </a:pPr>
            <a:r>
              <a:rPr lang="en-US" sz="1100" dirty="0">
                <a:solidFill>
                  <a:srgbClr val="FFFFFF"/>
                </a:solidFill>
                <a:latin typeface="微软雅黑" pitchFamily="34" charset="0"/>
                <a:ea typeface="Calibri" pitchFamily="34" charset="-122"/>
                <a:cs typeface="Calibri" pitchFamily="34" charset="-120"/>
              </a:rPr>
              <a:t>总结 — 强化必要性和紧迫性</a:t>
            </a:r>
            <a:endParaRPr lang="en-US" sz="1100" dirty="0"/>
          </a:p>
        </p:txBody>
      </p:sp>
      <p:sp>
        <p:nvSpPr>
          <p:cNvPr id="46" name="Shape 44"/>
          <p:cNvSpPr/>
          <p:nvPr/>
        </p:nvSpPr>
        <p:spPr>
          <a:xfrm>
            <a:off x="4800600" y="4050792"/>
            <a:ext cx="292608" cy="292608"/>
          </a:xfrm>
          <a:prstGeom prst="ellipse">
            <a:avLst/>
          </a:prstGeom>
          <a:solidFill>
            <a:srgbClr val="1E2761"/>
          </a:solidFill>
          <a:ln/>
        </p:spPr>
        <p:txBody>
          <a:bodyPr/>
          <a:p/>
        </p:txBody>
      </p:sp>
      <p:sp>
        <p:nvSpPr>
          <p:cNvPr id="47" name="Text 45"/>
          <p:cNvSpPr/>
          <p:nvPr/>
        </p:nvSpPr>
        <p:spPr>
          <a:xfrm>
            <a:off x="4800600" y="4050792"/>
            <a:ext cx="292608" cy="292608"/>
          </a:xfrm>
          <a:prstGeom prst="rect">
            <a:avLst/>
          </a:prstGeom>
          <a:noFill/>
          <a:ln/>
        </p:spPr>
        <p:txBody>
          <a:bodyPr wrap="square" rtlCol="0" anchor="ctr">
            <a:normAutofit/>
          </a:bodyPr>
          <a:lstStyle/>
          <a:p>
            <a:pPr algn="ctr" indent="0" marL="0">
              <a:buNone/>
            </a:pPr>
            <a:r>
              <a:rPr lang="en-US" sz="1100" dirty="0">
                <a:solidFill>
                  <a:srgbClr val="FFFFFF"/>
                </a:solidFill>
                <a:latin typeface="微软雅黑" pitchFamily="34" charset="0"/>
                <a:ea typeface="Arial Black" pitchFamily="34" charset="-122"/>
                <a:cs typeface="Arial Black" pitchFamily="34" charset="-120"/>
              </a:rPr>
              <a:t>6</a:t>
            </a:r>
            <a:endParaRPr lang="en-US" sz="1100" dirty="0"/>
          </a:p>
        </p:txBody>
      </p:sp>
      <p:sp>
        <p:nvSpPr>
          <p:cNvPr id="48" name="Text 46"/>
          <p:cNvSpPr/>
          <p:nvPr/>
        </p:nvSpPr>
        <p:spPr>
          <a:xfrm>
            <a:off x="5166360" y="4023360"/>
            <a:ext cx="3200400" cy="347472"/>
          </a:xfrm>
          <a:prstGeom prst="rect">
            <a:avLst/>
          </a:prstGeom>
          <a:noFill/>
          <a:ln/>
        </p:spPr>
        <p:txBody>
          <a:bodyPr wrap="square" rtlCol="0" anchor="ctr">
            <a:normAutofit/>
          </a:bodyPr>
          <a:lstStyle/>
          <a:p>
            <a:pPr indent="0" marL="0">
              <a:buNone/>
            </a:pPr>
            <a:r>
              <a:rPr lang="en-US" sz="1100" dirty="0">
                <a:solidFill>
                  <a:srgbClr val="FFFFFF"/>
                </a:solidFill>
                <a:latin typeface="微软雅黑" pitchFamily="34" charset="0"/>
                <a:ea typeface="Calibri" pitchFamily="34" charset="-122"/>
                <a:cs typeface="Calibri" pitchFamily="34" charset="-120"/>
              </a:rPr>
              <a:t>关单 — 自然引导，限时促单</a:t>
            </a:r>
            <a:endParaRPr lang="en-US" sz="1100" dirty="0"/>
          </a:p>
        </p:txBody>
      </p:sp>
      <p:sp>
        <p:nvSpPr>
          <p:cNvPr id="49" name="Rectangle 48"/>
          <p:cNvSpPr/>
          <p:nvPr/>
        </p:nvSpPr>
        <p:spPr>
          <a:xfrm rot="20700000">
            <a:off x="182880" y="771525"/>
            <a:ext cx="731520" cy="19050"/>
          </a:xfrm>
          <a:prstGeom prst="rect">
            <a:avLst/>
          </a:prstGeom>
          <a:solidFill>
            <a:srgbClr val="00E676">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rot="20700000">
            <a:off x="457200" y="1183005"/>
            <a:ext cx="914400" cy="25400"/>
          </a:xfrm>
          <a:prstGeom prst="rect">
            <a:avLst/>
          </a:prstGeom>
          <a:solidFill>
            <a:srgbClr val="00E676">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0"/>
            <a:ext cx="9144000" cy="4114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6B35"/>
          </a:solidFill>
          <a:ln/>
        </p:spPr>
        <p:txBody>
          <a:bodyPr/>
          <a:p/>
        </p:txBody>
      </p:sp>
      <p:sp>
        <p:nvSpPr>
          <p:cNvPr id="3" name="Shape 1"/>
          <p:cNvSpPr/>
          <p:nvPr/>
        </p:nvSpPr>
        <p:spPr>
          <a:xfrm>
            <a:off x="0" y="5070348"/>
            <a:ext cx="9144000" cy="73152"/>
          </a:xfrm>
          <a:prstGeom prst="rect">
            <a:avLst/>
          </a:prstGeom>
          <a:solidFill>
            <a:srgbClr val="FF6B35"/>
          </a:solidFill>
          <a:ln/>
        </p:spPr>
        <p:txBody>
          <a:bodyPr/>
          <a:p/>
        </p:txBody>
      </p:sp>
      <p:sp>
        <p:nvSpPr>
          <p:cNvPr id="4" name="Shape 2"/>
          <p:cNvSpPr/>
          <p:nvPr/>
        </p:nvSpPr>
        <p:spPr>
          <a:xfrm>
            <a:off x="-914400" y="-914400"/>
            <a:ext cx="2743200" cy="2743200"/>
          </a:xfrm>
          <a:prstGeom prst="ellipse">
            <a:avLst/>
          </a:prstGeom>
          <a:solidFill>
            <a:srgbClr val="FF6B35">
              <a:alpha val="12000"/>
            </a:srgbClr>
          </a:solidFill>
          <a:ln/>
        </p:spPr>
        <p:txBody>
          <a:bodyPr/>
          <a:p/>
        </p:txBody>
      </p:sp>
      <p:sp>
        <p:nvSpPr>
          <p:cNvPr id="5" name="Shape 3"/>
          <p:cNvSpPr/>
          <p:nvPr/>
        </p:nvSpPr>
        <p:spPr>
          <a:xfrm>
            <a:off x="7315200" y="3314700"/>
            <a:ext cx="2743200" cy="1778800"/>
          </a:xfrm>
          <a:prstGeom prst="ellipse">
            <a:avLst/>
          </a:prstGeom>
          <a:solidFill>
            <a:srgbClr val="FF6B35">
              <a:alpha val="12000"/>
            </a:srgbClr>
          </a:solidFill>
          <a:ln/>
        </p:spPr>
        <p:txBody>
          <a:bodyPr/>
          <a:p/>
        </p:txBody>
      </p:sp>
      <p:sp>
        <p:nvSpPr>
          <p:cNvPr id="6" name="Text 4"/>
          <p:cNvSpPr/>
          <p:nvPr/>
        </p:nvSpPr>
        <p:spPr>
          <a:xfrm>
            <a:off x="914400" y="914400"/>
            <a:ext cx="7315200" cy="548640"/>
          </a:xfrm>
          <a:prstGeom prst="rect">
            <a:avLst/>
          </a:prstGeom>
          <a:noFill/>
          <a:ln/>
        </p:spPr>
        <p:txBody>
          <a:bodyPr wrap="square" rtlCol="0" anchor="ctr">
            <a:normAutofit/>
          </a:bodyPr>
          <a:lstStyle/>
          <a:p>
            <a:pPr algn="ctr" indent="0" marL="0">
              <a:buNone/>
            </a:pPr>
            <a:r>
              <a:rPr lang="en-US" sz="1600" dirty="0">
                <a:solidFill>
                  <a:srgbClr val="FFE8DD"/>
                </a:solidFill>
                <a:latin typeface="微软雅黑" pitchFamily="34" charset="0"/>
                <a:ea typeface="Calibri" pitchFamily="34" charset="-122"/>
                <a:cs typeface="Calibri" pitchFamily="34" charset="-120"/>
              </a:rPr>
              <a:t>行动任务</a:t>
            </a:r>
            <a:endParaRPr lang="en-US" sz="1600" dirty="0"/>
          </a:p>
        </p:txBody>
      </p:sp>
      <p:sp>
        <p:nvSpPr>
          <p:cNvPr id="7" name="Text 5"/>
          <p:cNvSpPr/>
          <p:nvPr/>
        </p:nvSpPr>
        <p:spPr>
          <a:xfrm>
            <a:off x="914400" y="1463040"/>
            <a:ext cx="7315200" cy="731520"/>
          </a:xfrm>
          <a:prstGeom prst="rect">
            <a:avLst/>
          </a:prstGeom>
          <a:noFill/>
          <a:ln/>
        </p:spPr>
        <p:txBody>
          <a:bodyPr wrap="square" rtlCol="0" anchor="ctr">
            <a:normAutofit/>
          </a:bodyPr>
          <a:lstStyle/>
          <a:p>
            <a:pPr algn="ctr" indent="0" marL="0">
              <a:buNone/>
            </a:pPr>
            <a:r>
              <a:rPr lang="en-US" sz="3200" dirty="0">
                <a:solidFill>
                  <a:srgbClr val="FFFFFF"/>
                </a:solidFill>
                <a:latin typeface="微软雅黑" pitchFamily="34" charset="0"/>
                <a:ea typeface="Arial Black" pitchFamily="34" charset="-122"/>
                <a:cs typeface="Arial Black" pitchFamily="34" charset="-120"/>
              </a:rPr>
              <a:t>本周完成1次体测解读练习</a:t>
            </a:r>
            <a:endParaRPr lang="en-US" sz="3200" dirty="0"/>
          </a:p>
        </p:txBody>
      </p:sp>
      <p:sp>
        <p:nvSpPr>
          <p:cNvPr id="8" name="Shape 6"/>
          <p:cNvSpPr/>
          <p:nvPr/>
        </p:nvSpPr>
        <p:spPr>
          <a:xfrm>
            <a:off x="3200400" y="2468880"/>
            <a:ext cx="2743200" cy="27432"/>
          </a:xfrm>
          <a:prstGeom prst="rect">
            <a:avLst/>
          </a:prstGeom>
          <a:solidFill>
            <a:srgbClr val="FF6B35"/>
          </a:solidFill>
          <a:ln/>
        </p:spPr>
        <p:txBody>
          <a:bodyPr/>
          <a:p/>
        </p:txBody>
      </p:sp>
      <p:sp>
        <p:nvSpPr>
          <p:cNvPr id="9" name="Text 7"/>
          <p:cNvSpPr/>
          <p:nvPr/>
        </p:nvSpPr>
        <p:spPr>
          <a:xfrm>
            <a:off x="1371600" y="2743200"/>
            <a:ext cx="6400800" cy="1371600"/>
          </a:xfrm>
          <a:prstGeom prst="rect">
            <a:avLst/>
          </a:prstGeom>
          <a:noFill/>
          <a:ln/>
        </p:spPr>
        <p:txBody>
          <a:bodyPr wrap="square" rtlCol="0" anchor="t">
            <a:normAutofit/>
          </a:bodyPr>
          <a:lstStyle/>
          <a:p>
            <a:pPr algn="ctr" indent="0" marL="0">
              <a:spcAft>
                <a:spcPts val="800"/>
              </a:spcAft>
              <a:buNone/>
            </a:pPr>
            <a:r>
              <a:rPr lang="en-US" sz="1300" dirty="0">
                <a:solidFill>
                  <a:srgbClr val="CCCCCC"/>
                </a:solidFill>
                <a:latin typeface="微软雅黑" pitchFamily="34" charset="0"/>
                <a:ea typeface="Calibri" pitchFamily="34" charset="-122"/>
                <a:cs typeface="Calibri" pitchFamily="34" charset="-120"/>
              </a:rPr>
              <a:t>1. 找一位同事模拟家长，完整演练体测解读6步法</a:t>
            </a:r>
            <a:endParaRPr lang="en-US" sz="1300" dirty="0"/>
          </a:p>
          <a:p>
            <a:pPr algn="ctr" indent="0" marL="0">
              <a:spcAft>
                <a:spcPts val="800"/>
              </a:spcAft>
              <a:buNone/>
            </a:pPr>
            <a:r>
              <a:rPr lang="en-US" sz="1300" dirty="0">
                <a:solidFill>
                  <a:srgbClr val="CCCCCC"/>
                </a:solidFill>
                <a:latin typeface="微软雅黑" pitchFamily="34" charset="0"/>
                <a:ea typeface="Calibri" pitchFamily="34" charset="-122"/>
                <a:cs typeface="Calibri" pitchFamily="34" charset="-120"/>
              </a:rPr>
              <a:t>2. 录制自己的解读过程，对照话术模板复盘改进</a:t>
            </a:r>
            <a:endParaRPr lang="en-US" sz="1300" dirty="0"/>
          </a:p>
          <a:p>
            <a:pPr algn="ctr" indent="0" marL="0">
              <a:spcAft>
                <a:spcPts val="800"/>
              </a:spcAft>
              <a:buNone/>
            </a:pPr>
            <a:r>
              <a:rPr lang="en-US" sz="1300" dirty="0">
                <a:solidFill>
                  <a:srgbClr val="CCCCCC"/>
                </a:solidFill>
                <a:latin typeface="微软雅黑" pitchFamily="34" charset="0"/>
                <a:ea typeface="Calibri" pitchFamily="34" charset="-122"/>
                <a:cs typeface="Calibri" pitchFamily="34" charset="-120"/>
              </a:rPr>
              <a:t>3. 本周完成至少1次真实体测邀约和执行</a:t>
            </a:r>
            <a:endParaRPr lang="en-US" sz="1300" dirty="0"/>
          </a:p>
        </p:txBody>
      </p:sp>
      <p:sp>
        <p:nvSpPr>
          <p:cNvPr id="10" name="Text 8"/>
          <p:cNvSpPr/>
          <p:nvPr/>
        </p:nvSpPr>
        <p:spPr>
          <a:xfrm>
            <a:off x="914400" y="4206240"/>
            <a:ext cx="7315200" cy="365760"/>
          </a:xfrm>
          <a:prstGeom prst="rect">
            <a:avLst/>
          </a:prstGeom>
          <a:noFill/>
          <a:ln/>
        </p:spPr>
        <p:txBody>
          <a:bodyPr wrap="square" rtlCol="0" anchor="ctr">
            <a:normAutofit/>
          </a:bodyPr>
          <a:lstStyle/>
          <a:p>
            <a:pPr algn="ctr" indent="0" marL="0">
              <a:buNone/>
            </a:pPr>
            <a:r>
              <a:rPr lang="en-US" sz="1200" dirty="0">
                <a:solidFill>
                  <a:srgbClr val="888888"/>
                </a:solidFill>
                <a:latin typeface="微软雅黑" pitchFamily="34" charset="0"/>
                <a:ea typeface="Calibri" pitchFamily="34" charset="-122"/>
                <a:cs typeface="Calibri" pitchFamily="34" charset="-120"/>
              </a:rPr>
              <a:t>追光小牛 · 让每个孩子追光奔跑</a:t>
            </a:r>
            <a:endParaRPr lang="en-US" sz="1200" dirty="0"/>
          </a:p>
        </p:txBody>
      </p:sp>
      <p:sp>
        <p:nvSpPr>
          <p:cNvPr id="11" name="Rectangle 10"/>
          <p:cNvSpPr/>
          <p:nvPr/>
        </p:nvSpPr>
        <p:spPr>
          <a:xfrm rot="20700000">
            <a:off x="182880" y="771525"/>
            <a:ext cx="731520" cy="19050"/>
          </a:xfrm>
          <a:prstGeom prst="rect">
            <a:avLst/>
          </a:prstGeom>
          <a:solidFill>
            <a:srgbClr val="00E676">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700000">
            <a:off x="457200" y="1183005"/>
            <a:ext cx="914400" cy="25400"/>
          </a:xfrm>
          <a:prstGeom prst="rect">
            <a:avLst/>
          </a:prstGeom>
          <a:solidFill>
            <a:srgbClr val="00E676">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20700000">
            <a:off x="731520" y="1594485"/>
            <a:ext cx="1097280" cy="31750"/>
          </a:xfrm>
          <a:prstGeom prst="rect">
            <a:avLst/>
          </a:prstGeom>
          <a:solidFill>
            <a:srgbClr val="00E676">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10800000">
            <a:off x="0" y="4732020"/>
            <a:ext cx="731520" cy="411480"/>
          </a:xfrm>
          <a:prstGeom prst="triangle">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9144000" cy="4114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追光小牛·销售培训 第四课：体测销售实战</dc:title>
  <dc:subject>PptxGenJS Presentation</dc:subject>
  <dc:creator>追光小牛</dc:creator>
  <cp:lastModifiedBy>追光小牛</cp:lastModifiedBy>
  <cp:revision>1</cp:revision>
  <dcterms:created xsi:type="dcterms:W3CDTF">2026-04-18T17:11:58Z</dcterms:created>
  <dcterms:modified xsi:type="dcterms:W3CDTF">2026-04-18T17:11:58Z</dcterms:modified>
</cp:coreProperties>
</file>