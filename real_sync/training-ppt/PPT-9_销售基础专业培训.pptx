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</a:rPr>
              <a:t>追光小牛销售基础专业培训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E0CC"/>
                </a:solidFill>
                <a:latin typeface="微软雅黑"/>
              </a:rPr>
              <a:t>让销售听得懂专业、说得出专业、接得住反馈、转得动课程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320040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课程顾问 · 店长 · 讲师通用版</a:t>
            </a:r>
          </a:p>
        </p:txBody>
      </p:sp>
      <p:sp>
        <p:nvSpPr>
          <p:cNvPr id="7" name="Oval 6"/>
          <p:cNvSpPr/>
          <p:nvPr/>
        </p:nvSpPr>
        <p:spPr>
          <a:xfrm>
            <a:off x="9601200" y="4572000"/>
            <a:ext cx="1371600" cy="1371600"/>
          </a:xfrm>
          <a:prstGeom prst="ellipse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0" y="5303520"/>
            <a:ext cx="914400" cy="914400"/>
          </a:xfrm>
          <a:prstGeom prst="ellipse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FAB专业表达体系 | ACE运动成长框架 | 体测解读标准化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2025 追光小牛内部培训专用</a:t>
            </a:r>
          </a:p>
        </p:txBody>
      </p:sp>
      <p:sp>
        <p:nvSpPr>
          <p:cNvPr id="11" name="Rectangle 10"/>
          <p:cNvSpPr/>
          <p:nvPr/>
        </p:nvSpPr>
        <p:spPr>
          <a:xfrm rot="20700000">
            <a:off x="243833" y="1028700"/>
            <a:ext cx="975335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700000">
            <a:off x="609584" y="1577339"/>
            <a:ext cx="1219169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700000">
            <a:off x="975335" y="2125980"/>
            <a:ext cx="1463003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0700000">
            <a:off x="1341086" y="2674620"/>
            <a:ext cx="1706837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0728691" y="0"/>
            <a:ext cx="1463003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0" y="6309360"/>
            <a:ext cx="975335" cy="54864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>
            <a:off x="9997189" y="685800"/>
            <a:ext cx="2438339" cy="205740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652260"/>
            <a:ext cx="12191695" cy="2057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为什么要做这套培训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从问题出发，找到统一解法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2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66928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当前 4 个问题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● 1. 会接待，不会讲专业 —— 家长问深了就接不住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● 2. 会报项目，不会讲逻辑 —— 课程推荐像在“卖课”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● 3. 教练讲完，接不住 —— 反馈到推荐断层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● 4. 课程推荐像卖课 —— 家长感受不到专业价值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66928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培训要解决的 4 个结果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● 1. 统一口径 —— 所有人讲同一套专业语言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● 2. 专业表达 —— 用 FAB 结构讲清每个卖点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● 3. 协同能力 —— 销售+教练配合无缝衔接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● 4. 可复制机制 —— 新人也能快速上手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029200"/>
            <a:ext cx="11430000" cy="1188720"/>
          </a:xfrm>
          <a:prstGeom prst="roundRect">
            <a:avLst/>
          </a:prstGeom>
          <a:solidFill>
            <a:srgbClr val="2A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核心目标：让每一位家长在门店感受到的专业是一致的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不是培训“话术”，而是培训“专业理解力+结构化表达力”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培训目标总览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四大核心能力，层层递进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3 / 32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146304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  <a:latin typeface="微软雅黑"/>
              </a:rPr>
              <a:t>听得懂专业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2560320" cy="13716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理解体测数据、ACE体系、七大素质等专业概念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146304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说得出专业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834640"/>
            <a:ext cx="2560320" cy="13716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0175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用 FAB 结构向家长讲清楚课程价值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0" y="1463040"/>
            <a:ext cx="640080" cy="6400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CC71"/>
                </a:solidFill>
                <a:latin typeface="微软雅黑"/>
              </a:rPr>
              <a:t>接得住教练反馈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34640"/>
            <a:ext cx="2560320" cy="13716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0175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听懂教练评估，自然过渡到课程推荐</a:t>
            </a:r>
          </a:p>
        </p:txBody>
      </p:sp>
      <p:sp>
        <p:nvSpPr>
          <p:cNvPr id="20" name="Oval 19"/>
          <p:cNvSpPr/>
          <p:nvPr/>
        </p:nvSpPr>
        <p:spPr>
          <a:xfrm>
            <a:off x="10012680" y="1463040"/>
            <a:ext cx="640080" cy="6400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  <a:latin typeface="微软雅黑"/>
              </a:rPr>
              <a:t>转得动课程方案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2834640"/>
            <a:ext cx="2560320" cy="13716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0175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根据孩子情况匹配课程，给出清晰路径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79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166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四大能力构成完整销售专业闭环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从理解到表达，从承接推荐到方案转化，缺一不可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20700000">
            <a:off x="243833" y="1028700"/>
            <a:ext cx="975335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20700000">
            <a:off x="609584" y="1577339"/>
            <a:ext cx="1219169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销售与教练的边界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明确职责，专业协作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4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576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✅ 销售可以做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✔ 讲表现：描述孩子课堂上的行为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✔ 讲基础影响：解释素质与成长的关系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✔ 讲训练方向：说明课程训练重点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✔ 讲课程建议：根据情况推荐课程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❌ 销售不能做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✘ 不下诊断：不判断孩子“有什么问题”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✘ 不做正式评估：体测由教练执行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✘ 不说肯定怎样：避免绝对化承诺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✘ 不做结果承诺：不说“保证有效”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65760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🎓 教练主责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288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▶ 执行体测与正式评估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▶ 给出专业训练建议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▶ 跟踪训练效果与调整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029200"/>
            <a:ext cx="11430000" cy="1097280"/>
          </a:xfrm>
          <a:prstGeom prst="roundRect">
            <a:avLst/>
          </a:prstGeom>
          <a:solidFill>
            <a:srgbClr val="D0D8F0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边界原则：销售讲“现象与方向”，教练讲“诊断与方案”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越界不是{LQ}专业{RQ}，而是{LQ}不专业{RQ}的表现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品牌总口径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统一对外表达，建立专业认知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5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1143000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运动成长课是每个孩子的必修课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3566160" cy="25603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2514600"/>
            <a:ext cx="54864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微软雅黑"/>
              </a:rPr>
              <a:t>卖的不是单节课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而是一套运动成长方案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从“卖课”到“给方案”，家长感受完全不同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377440"/>
            <a:ext cx="3566160" cy="25603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2514600"/>
            <a:ext cx="54864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F2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微软雅黑"/>
              </a:rPr>
              <a:t>先体测再建议课程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用数据说话，让家长信服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474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体测是专业入口，不是销售手段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377440"/>
            <a:ext cx="3566160" cy="25603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20" y="2514600"/>
            <a:ext cx="54864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F3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微软雅黑"/>
              </a:rPr>
              <a:t>门店核心价值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判断 + 承接 + 反馈 + 陪伴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74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四个关键词定义门店角色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03520"/>
            <a:ext cx="11430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统一口径 = 家长在任何门店听到的都是同一套专业表达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10728691" y="0"/>
            <a:ext cx="1463003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ACE体系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运动成长三大维度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6 / 32</a:t>
            </a:r>
          </a:p>
        </p:txBody>
      </p:sp>
      <p:sp>
        <p:nvSpPr>
          <p:cNvPr id="8" name="Oval 7"/>
          <p:cNvSpPr/>
          <p:nvPr/>
        </p:nvSpPr>
        <p:spPr>
          <a:xfrm>
            <a:off x="1554480" y="1371600"/>
            <a:ext cx="1097280" cy="10972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200" b="1">
                <a:solidFill>
                  <a:srgbClr val="FFFFFF"/>
                </a:solidFill>
                <a:latin typeface="微软雅黑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B35"/>
                </a:solidFill>
                <a:latin typeface="微软雅黑"/>
              </a:rPr>
              <a:t>Athletic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运动能力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3474720" cy="109728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力量、速度、灵敏、协调、平衡、柔韧、耐力</a:t>
            </a:r>
          </a:p>
        </p:txBody>
      </p:sp>
      <p:sp>
        <p:nvSpPr>
          <p:cNvPr id="13" name="Oval 12"/>
          <p:cNvSpPr/>
          <p:nvPr/>
        </p:nvSpPr>
        <p:spPr>
          <a:xfrm>
            <a:off x="5394960" y="1371600"/>
            <a:ext cx="1097280" cy="10972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200" b="1">
                <a:solidFill>
                  <a:srgbClr val="FFFFFF"/>
                </a:solidFill>
                <a:latin typeface="微软雅黑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Cognitive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认知能力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383280"/>
            <a:ext cx="3474720" cy="109728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566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专注力、判断力、空间感知、问题解决</a:t>
            </a:r>
          </a:p>
        </p:txBody>
      </p:sp>
      <p:sp>
        <p:nvSpPr>
          <p:cNvPr id="18" name="Oval 17"/>
          <p:cNvSpPr/>
          <p:nvPr/>
        </p:nvSpPr>
        <p:spPr>
          <a:xfrm>
            <a:off x="9235440" y="1371600"/>
            <a:ext cx="1097280" cy="10972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200" b="1">
                <a:solidFill>
                  <a:srgbClr val="FFFFFF"/>
                </a:solidFill>
                <a:latin typeface="微软雅黑"/>
              </a:rP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CC71"/>
                </a:solidFill>
                <a:latin typeface="微软雅黑"/>
              </a:rPr>
              <a:t>Engagement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参与度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383280"/>
            <a:ext cx="3474720" cy="109728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566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主动性、社交能力、自信心、抗挫折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54880"/>
            <a:ext cx="114300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73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家长语言版翻译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★ A —— 练好身体：跑得快、跳得高、不容易受伤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★ C —— 开发大脑：更专注、反应快、会思考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★ E —— 爱上运动：主动参与、不怕困难、交到朋友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0700000">
            <a:off x="243833" y="1028700"/>
            <a:ext cx="975335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0700000">
            <a:off x="609584" y="1577339"/>
            <a:ext cx="1219169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课程全景图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五门课程，覆盖全龄段运动成长需求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7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63040"/>
            <a:ext cx="2148840" cy="32004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600200"/>
            <a:ext cx="64008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B35"/>
                </a:solidFill>
                <a:latin typeface="微软雅黑"/>
              </a:rPr>
              <a:t>快乐体操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1600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4320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3-6岁基础运动启蒙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39" y="1463040"/>
            <a:ext cx="2148840" cy="32004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7559" y="1600200"/>
            <a:ext cx="64008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体能训练课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59" y="2606040"/>
            <a:ext cx="1600200" cy="274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199" y="274320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全龄段综合体能提升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9" y="1463040"/>
            <a:ext cx="2148840" cy="32004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79" y="1600200"/>
            <a:ext cx="64008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199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CC71"/>
                </a:solidFill>
                <a:latin typeface="微软雅黑"/>
              </a:rPr>
              <a:t>体能强化课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79" y="2606040"/>
            <a:ext cx="1600200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19" y="274320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进阶体能，突破瓶颈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79" y="1463040"/>
            <a:ext cx="2148840" cy="32004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00999" y="1600200"/>
            <a:ext cx="64008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微软雅黑"/>
              </a:rPr>
              <a:t>体能跳绳课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799" y="2606040"/>
            <a:ext cx="160020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39" y="274320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专项体能+跳绳技能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463040"/>
            <a:ext cx="2148840" cy="32004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32720" y="1600200"/>
            <a:ext cx="64008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1031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B59B6"/>
                </a:solidFill>
                <a:latin typeface="微软雅黑"/>
              </a:rPr>
              <a:t>增高体能课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2606040"/>
            <a:ext cx="1600200" cy="274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274320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身高管理+体态优化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029200"/>
            <a:ext cx="11430000" cy="1097280"/>
          </a:xfrm>
          <a:prstGeom prst="roundRect">
            <a:avLst/>
          </a:prstGeom>
          <a:solidFill>
            <a:srgbClr val="D0D8F0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课程推荐原则：先体测，再匹配，给家长讲清楚“为什么推荐这门课”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每门课都有明确的训练目标和适用场景，不是{LQ}什么都行{RQ}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课程推荐逻辑总图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四步推荐法，科学匹配课程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8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2651760" cy="16459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  <a:latin typeface="微软雅黑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  <a:latin typeface="微软雅黑"/>
              </a:rPr>
              <a:t>看年龄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确定基础年龄段范围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371600"/>
            <a:ext cx="2651760" cy="16459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看表现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观察课堂/日常行为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2651760" cy="16459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CC71"/>
                </a:solidFill>
                <a:latin typeface="微软雅黑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CC71"/>
                </a:solidFill>
                <a:latin typeface="微软雅黑"/>
              </a:rPr>
              <a:t>看家长目标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了解家长最关心什么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371600"/>
            <a:ext cx="2651760" cy="16459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微软雅黑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  <a:latin typeface="微软雅黑"/>
              </a:rPr>
              <a:t>课程分流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匹配最合适的课程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291840"/>
            <a:ext cx="1143000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310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5 种常见匹配逻辑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▶ 3-6岁 + 运动基础弱 → 快乐体操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▶ 全龄 + 综合体能提升 → 体能训练课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▶ 有基础 + 需要突破 → 体能强化课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▶ 跳绳不过关 + 体能待提升 → 体能跳绳课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▶ 身高关注 + 体态问题 → 增高体能课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七大身体素质为什么重要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从家长看到的表象，到销售要懂的基础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9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4864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微软雅黑"/>
              </a:rPr>
              <a:t>家长看到的 5 种表现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跑不快、跳不高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容易摔倒、动作笨拙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坐不住、注意力差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胆子小、不敢尝试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体能差、容易累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54864" cy="3200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销售要听懂的 7 大基础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力量 —— 肌肉发力与控制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速度 —— 快速移动与反应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灵敏 —— 快速变向与躲闪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协调 —— 多动作配合流畅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平衡 —— 身体稳定与控制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柔韧 —— 关节活动范围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耐力 —— 持续运动能力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280160"/>
            <a:ext cx="54864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C71"/>
                </a:solidFill>
                <a:latin typeface="微软雅黑"/>
              </a:rPr>
              <a:t>学习目的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916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判断：能识别素质短板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翻译：用家长语言解释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承接：自然过渡到课程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029200"/>
            <a:ext cx="11430000" cy="1097280"/>
          </a:xfrm>
          <a:prstGeom prst="roundRect">
            <a:avLst/>
          </a:prstGeom>
          <a:solidFill>
            <a:srgbClr val="2A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七大素质是运动能力的地基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家长看到的是“结果”，销售要讲出“原因”，才能让家长信服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0700000">
            <a:off x="243833" y="1028700"/>
            <a:ext cx="975335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700000">
            <a:off x="609584" y="1577339"/>
            <a:ext cx="1219169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力量与速度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七大素质详解（一）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10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73152" cy="4114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微软雅黑"/>
              </a:rPr>
              <a:t>力量 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在看什么：肌肉发力能力与控制力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4 种常见表现：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跳跃时腿软、起跳无力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攀爬时手臂撑不住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跑步时步伐沉重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投掷时距离短、力度小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家长语言：“孩子力气小、没劲儿”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66928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73152" cy="4114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速度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在看什么：快速移动与反应能力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3 种常见表现：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跑步比别人慢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反应迟钝、跟不上节奏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短距离冲刺明显吃力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家长语言：“孩子跑得慢、反应慢”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577840"/>
            <a:ext cx="32004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力量/速度是基础运动素质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5577840"/>
            <a:ext cx="320040" cy="320040"/>
          </a:xfrm>
          <a:prstGeom prst="roundRect">
            <a:avLst/>
          </a:prstGeom>
          <a:solidFill>
            <a:srgbClr val="FF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影响运动表现和自信心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5577840"/>
            <a:ext cx="320040" cy="32004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训练后运动能力明显提升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728691" y="0"/>
            <a:ext cx="1463003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灵敏、协调、平衡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七大素质详解（二）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11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56616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B35"/>
                </a:solidFill>
                <a:latin typeface="微软雅黑"/>
              </a:rPr>
              <a:t>灵敏 Agility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快速变向、躲闪、反应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3017520" cy="182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关键词：快、灵、变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表现：躲闪慢、变向笨、追不上球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家长语言：“孩子反应慢、不灵活”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280160"/>
            <a:ext cx="356616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协调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多动作配合流畅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240280"/>
            <a:ext cx="3017520" cy="182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关键词：配合、流畅、同步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表现：手脚不配合、动作生硬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家长语言：“孩子动作不协调”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80160"/>
            <a:ext cx="356616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CC71"/>
                </a:solidFill>
                <a:latin typeface="微软雅黑"/>
              </a:rPr>
              <a:t>平衡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身体稳定与控制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240280"/>
            <a:ext cx="301752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关键词：稳、控制、不倒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表现：容易摔倒、站不稳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家长语言：“孩子平衡差、老摔跤”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柔韧与耐力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七大素质详解（三）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12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73152" cy="4114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微软雅黑"/>
              </a:rPr>
              <a:t>柔韧 Flexibility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在看什么：关节活动范围与肌肉伸展性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3 种常见表现：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坐位体前屈够不到脚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动作幅度小、伸展不开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容易拉伤、肌肉紧绷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家长语言：“孩子身体硬、不够软”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66928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73152" cy="4114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耐力 Endurance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在看什么：持续运动能力与恢复速度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3 种常见表现：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运动一会儿就喊累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长时间活动后体力不支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运动后恢复慢、第二天还累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家长语言：“孩子体能差、容易累”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577840"/>
            <a:ext cx="11430000" cy="640080"/>
          </a:xfrm>
          <a:prstGeom prst="roundRect">
            <a:avLst/>
          </a:prstGeom>
          <a:solidFill>
            <a:srgbClr val="D0D8F0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七大素质互相影响，一个短板可能牵连多个表现 —— 这就是为什么需要系统训练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0700000">
            <a:off x="243833" y="1028700"/>
            <a:ext cx="975335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0700000">
            <a:off x="609584" y="1577339"/>
            <a:ext cx="1219169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为什么体测一定要分龄讲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不同年龄段，体测解读重点完全不同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13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25603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73152" cy="2560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微软雅黑"/>
              </a:rPr>
              <a:t>3-6岁 低龄逻辑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1. 重点看基础能力是否建立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2. 关注感统发展和动作模式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3. 不比数据，看趋势和参与度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669280" cy="25603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73152" cy="2560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7-12岁 高龄逻辑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1. 重点看各项素质的具体水平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2. 关注体育成绩和运动表现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3. 可以横向对比同龄标准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11430000" cy="2011680"/>
          </a:xfrm>
          <a:prstGeom prst="roundRect">
            <a:avLst/>
          </a:prstGeom>
          <a:solidFill>
            <a:srgbClr val="2A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微软雅黑"/>
              </a:rPr>
              <a:t>统一结论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低龄讲“基础建立”，高龄讲“水平提升”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用错年龄段的讲法，家长会觉得“不专业”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分龄讲 = 体现对儿童发展规律的理解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3~6岁体测解读主线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低龄重点：看基础、看趋势、看参与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14 / 32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371600"/>
            <a:ext cx="10515600" cy="77724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微软雅黑"/>
              </a:rPr>
              <a:t>感统基础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前庭觉、本体觉、触觉发展是否正常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4231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2423160"/>
            <a:ext cx="10515600" cy="77724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动作建立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34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跑、跳、投、攀等基础动作是否掌握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474720"/>
            <a:ext cx="10515600" cy="77724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C71"/>
                </a:solidFill>
                <a:latin typeface="微软雅黑"/>
              </a:rPr>
              <a:t>参与感与胆量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是否愿意参与、敢不敢尝试新动作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526279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526279"/>
            <a:ext cx="10515600" cy="77724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5719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微软雅黑"/>
              </a:rPr>
              <a:t>规则适应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377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能否听指令、遵守课堂规则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486400"/>
            <a:ext cx="11430000" cy="731520"/>
          </a:xfrm>
          <a:prstGeom prst="roundRect">
            <a:avLst/>
          </a:prstGeom>
          <a:solidFill>
            <a:srgbClr val="D0D8F0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统一讲法：“XX方面正在建立中，通过系统训练可以很好地发展”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3~6岁重点项目示例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三个典型体测项目的解读方法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15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566160" cy="34747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B35"/>
                </a:solidFill>
                <a:latin typeface="微软雅黑"/>
              </a:rPr>
              <a:t>双脚连续跳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017520" cy="182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看什么：下肢力量 + 协调性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怎么讲：连续跳跃需要腿部力量和身体配合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家长语言：“孩子跳的时候能看出腿部力量和协调性”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280160"/>
            <a:ext cx="3566160" cy="34747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15米绕障碍跑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828800"/>
            <a:ext cx="3017520" cy="182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看什么：灵敏 + 平衡 + 速度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怎么讲：绕障碍需要快速变向和身体控制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家长语言：“绕障碍跑能看出孩子的灵活性和平衡感”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80160"/>
            <a:ext cx="3566160" cy="34747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CC71"/>
                </a:solidFill>
                <a:latin typeface="微软雅黑"/>
              </a:rPr>
              <a:t>走平衡木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828800"/>
            <a:ext cx="301752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659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看什么：平衡 + 专注力 + 胆量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怎么讲：走平衡木考验身体稳定和心理素质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家长语言：“平衡木能看出孩子稳不稳、敢不敢”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029200"/>
            <a:ext cx="11430000" cy="1097280"/>
          </a:xfrm>
          <a:prstGeom prst="roundRect">
            <a:avLst/>
          </a:prstGeom>
          <a:solidFill>
            <a:srgbClr val="2A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微软雅黑"/>
              </a:rPr>
              <a:t>统一结论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低龄不讲“分数”，讲“发展状态” —— 让家长看到训练的必要性，而不是焦虑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0700000">
            <a:off x="243833" y="1028700"/>
            <a:ext cx="975335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0700000">
            <a:off x="609584" y="1577339"/>
            <a:ext cx="1219169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10728691" y="0"/>
            <a:ext cx="1463003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7~12岁体测解读主线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高龄重点：看水平、看差距、看潜力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16 / 32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371600"/>
            <a:ext cx="10515600" cy="77724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微软雅黑"/>
              </a:rPr>
              <a:t>课堂状态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训练中的专注度、配合度、积极性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4231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2423160"/>
            <a:ext cx="10515600" cy="77724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体育表现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34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学校体育成绩、运动项目参与情况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474720"/>
            <a:ext cx="10515600" cy="77724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C71"/>
                </a:solidFill>
                <a:latin typeface="微软雅黑"/>
              </a:rPr>
              <a:t>任务完成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训练任务的完成质量和进步速度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526279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526279"/>
            <a:ext cx="10515600" cy="77724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5719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微软雅黑"/>
              </a:rPr>
              <a:t>自信与同伴比较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377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在团队中的自信程度和相对水平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486400"/>
            <a:ext cx="11430000" cy="731520"/>
          </a:xfrm>
          <a:prstGeom prst="roundRect">
            <a:avLst/>
          </a:prstGeom>
          <a:solidFill>
            <a:srgbClr val="D0D8F0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统一讲法：“XX方面目前处于XX水平，通过训练可以提升到XX”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7~12岁重点项目示例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三个典型体测项目的解读方法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17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566160" cy="34747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B35"/>
                </a:solidFill>
                <a:latin typeface="微软雅黑"/>
              </a:rPr>
              <a:t>4×10米折返跑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017520" cy="182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看什么：速度 + 灵敏 + 心肺耐力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怎么讲：折返跑综合反映快速移动和变向能力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家长语言：“折返跑能看出孩子的速度和灵活性”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280160"/>
            <a:ext cx="3566160" cy="34747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1分钟跳绳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828800"/>
            <a:ext cx="3017520" cy="182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看什么：协调 + 耐力 + 节奏感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怎么讲：跳绳考验全身协调和持续运动能力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家长语言：“跳绳能看出孩子的协调性和体能”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80160"/>
            <a:ext cx="3566160" cy="34747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CC71"/>
                </a:solidFill>
                <a:latin typeface="微软雅黑"/>
              </a:rPr>
              <a:t>台阶测试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828800"/>
            <a:ext cx="301752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659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看什么：心肺耐力 + 恢复能力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怎么讲：台阶测试反映有氧能力和恢复速度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家长语言：“台阶测试能看出孩子的体能底子”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029200"/>
            <a:ext cx="11430000" cy="1097280"/>
          </a:xfrm>
          <a:prstGeom prst="roundRect">
            <a:avLst/>
          </a:prstGeom>
          <a:solidFill>
            <a:srgbClr val="2A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微软雅黑"/>
              </a:rPr>
              <a:t>统一提醒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高龄可以讲“水平”和“差距”，但要用鼓励性语言，避免制造焦虑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统一体测反馈骨架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六步法标准化反馈流程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18 / 32</a:t>
            </a:r>
          </a:p>
        </p:txBody>
      </p:sp>
      <p:sp>
        <p:nvSpPr>
          <p:cNvPr id="8" name="Oval 7"/>
          <p:cNvSpPr/>
          <p:nvPr/>
        </p:nvSpPr>
        <p:spPr>
          <a:xfrm>
            <a:off x="970254" y="1371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014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微软雅黑"/>
              </a:rPr>
              <a:t>①说明指标意义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014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向家长解释每个指标代表什么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7668" y="1508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12" name="Oval 11"/>
          <p:cNvSpPr/>
          <p:nvPr/>
        </p:nvSpPr>
        <p:spPr>
          <a:xfrm>
            <a:off x="2910763" y="1371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523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微软雅黑"/>
              </a:rPr>
              <a:t>②呈现数据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3523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用体测数据客观呈现孩子现状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8177" y="1508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16" name="Oval 15"/>
          <p:cNvSpPr/>
          <p:nvPr/>
        </p:nvSpPr>
        <p:spPr>
          <a:xfrm>
            <a:off x="4851272" y="1371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4032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微软雅黑"/>
              </a:rPr>
              <a:t>③分析原因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032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分析数据背后的原因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8686" y="1508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20" name="Oval 19"/>
          <p:cNvSpPr/>
          <p:nvPr/>
        </p:nvSpPr>
        <p:spPr>
          <a:xfrm>
            <a:off x="6791781" y="1371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4541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微软雅黑"/>
              </a:rPr>
              <a:t>④指出影响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4541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指出当前状况可能带来的影响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9195" y="1508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24" name="Oval 23"/>
          <p:cNvSpPr/>
          <p:nvPr/>
        </p:nvSpPr>
        <p:spPr>
          <a:xfrm>
            <a:off x="8732290" y="1371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05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微软雅黑"/>
              </a:rPr>
              <a:t>⑤给解决方案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05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给出针对性的训练解决方案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1143000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944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跳绳反馈示例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747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 ● 指标意义：“跳绳是协调性和心肺耐力的重要指标”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 ● 呈现数据："1分钟跳了XX个，同龄平均是XX个"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 ● 分析原因："主要在协调性和节奏感上还有提升空间"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 ● 指出影响："这可能影响孩子体育成绩和运动自信"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 ● 解决方案："建议通过体能跳绳课系统训练"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 ● 展示案例："之前有个类似情况的孩子，训练3个月后从XX个提升到XX个"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303520"/>
            <a:ext cx="11430000" cy="82296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微软雅黑"/>
              </a:rPr>
              <a:t>❌ 不要这样讲：“你家孩子跳绳太差了，不练不行”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制造焦虑 = 推远家长，用专业+鼓励的方式才能建立信任</a:t>
            </a:r>
          </a:p>
        </p:txBody>
      </p:sp>
      <p:sp>
        <p:nvSpPr>
          <p:cNvPr id="100" name="TextBox_Arrow_6"/>
          <p:cNvSpPr txBox="1"/>
          <p:nvPr/>
        </p:nvSpPr>
        <p:spPr>
          <a:xfrm>
            <a:off x="9839704" y="1508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101" name="Oval_6"/>
          <p:cNvSpPr/>
          <p:nvPr/>
        </p:nvSpPr>
        <p:spPr>
          <a:xfrm>
            <a:off x="10672799" y="1371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102" name="TextBox_Title_6"/>
          <p:cNvSpPr txBox="1"/>
          <p:nvPr/>
        </p:nvSpPr>
        <p:spPr>
          <a:xfrm>
            <a:off x="9895559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微软雅黑"/>
              </a:rPr>
              <a:t>⑥展示案例</a:t>
            </a:r>
          </a:p>
        </p:txBody>
      </p:sp>
      <p:sp>
        <p:nvSpPr>
          <p:cNvPr id="103" name="TextBox_Desc_6"/>
          <p:cNvSpPr txBox="1"/>
          <p:nvPr/>
        </p:nvSpPr>
        <p:spPr>
          <a:xfrm>
            <a:off x="9895559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展示成功学员的训练效果案例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 rot="20700000">
            <a:off x="243833" y="1028700"/>
            <a:ext cx="975335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 rot="20700000">
            <a:off x="609584" y="1577339"/>
            <a:ext cx="1219169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感统怎么讲给家长听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把专业概念翻译成家长听得懂的话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19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感统三步：信息输入 → 大脑整理 → 动作输出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920240"/>
            <a:ext cx="3566160" cy="11887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6B35"/>
                </a:solidFill>
                <a:latin typeface="微软雅黑"/>
              </a:rPr>
              <a:t>信息输入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眼睛看、耳朵听、皮肤感觉、身体位置感知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920240"/>
            <a:ext cx="3566160" cy="11887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大脑整理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23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大脑接收信息后进行分类、判断、发出指令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566160" cy="11887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CC71"/>
                </a:solidFill>
                <a:latin typeface="微软雅黑"/>
              </a:rPr>
              <a:t>动作输出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23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身体根据指令做出正确的动作反应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83280"/>
            <a:ext cx="1143000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01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家长看到的 4 种表现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好动不安、坐不住 —— 可能与前庭觉有关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动作笨拙、不协调 —— 可能与本体觉有关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怕碰触、抗拒某些材质 —— 可能与触觉有关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● 注意力不集中、容易分心 —— 可能与感统整体有关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303520"/>
            <a:ext cx="11430000" cy="822960"/>
          </a:xfrm>
          <a:prstGeom prst="roundRect">
            <a:avLst/>
          </a:prstGeom>
          <a:solidFill>
            <a:srgbClr val="D0D8F0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正确表达方式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“感统是孩子学习和运动的基础，通过运动训练可以很好地帮助发展”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敏感期怎么讲才不焦虑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用专业化解焦虑，用引导替代推销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20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32004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73152" cy="3200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微软雅黑"/>
              </a:rPr>
              <a:t>正确讲法 3 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303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1. 敏感期是训练的“黄金窗口”，不是“最后期限”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2. 错过敏感期不代表不能补，只是需要更多时间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3. 现在开始就是最好的时机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669280" cy="32004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73152" cy="3200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错误 vs 正确说法对比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303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❌ “再不练就晚了！”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✅ “现在正是训练的好时机”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❌ “敏感期过了就没机会了”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✅ “敏感期内训练效果会更好”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❌ “别人家孩子都在练”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✅ “每个孩子有自己的节奏”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754880"/>
            <a:ext cx="11430000" cy="1371600"/>
          </a:xfrm>
          <a:prstGeom prst="roundRect">
            <a:avLst/>
          </a:prstGeom>
          <a:solidFill>
            <a:srgbClr val="2A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微软雅黑"/>
              </a:rPr>
              <a:t>核心原则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用“机会”替代“压力”，用“发展”替代“落后”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家长信任来自专业，不是来自焦虑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0728691" y="0"/>
            <a:ext cx="1463003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前庭觉、本体觉、触觉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三大感觉系统详解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21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56616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  <a:latin typeface="微软雅黑"/>
              </a:rPr>
              <a:t>前庭觉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平衡与空间感知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3017520" cy="182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关键词：平衡、方向、空间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常见表现：晕车、好动、爱转圈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家长语言：“孩子平衡差、老摔跤”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280160"/>
            <a:ext cx="356616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本体觉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身体控制与协调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240280"/>
            <a:ext cx="3017520" cy="182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关键词：控制、力度、协调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常见表现：动作粗鲁、力度掌握不好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家长语言：“孩子动作笨、不知轻重”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80160"/>
            <a:ext cx="356616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CC71"/>
                </a:solidFill>
                <a:latin typeface="微软雅黑"/>
              </a:rPr>
              <a:t>触觉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触感与情绪反应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240280"/>
            <a:ext cx="301752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关键词：触感、情绪、适应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常见表现：怕碰触、挑食、抗拒材质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家长语言：“孩子很敏感、怕摸”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577840"/>
            <a:ext cx="11430000" cy="640080"/>
          </a:xfrm>
          <a:prstGeom prst="roundRect">
            <a:avLst/>
          </a:prstGeom>
          <a:solidFill>
            <a:srgbClr val="D0D8F0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三大感觉系统互相影响，运动训练是同时促进感统发展的最佳方式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0700000">
            <a:off x="243833" y="1028700"/>
            <a:ext cx="975335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0700000">
            <a:off x="609584" y="1577339"/>
            <a:ext cx="1219169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低龄家长最关心什么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3~6岁家长的四大核心关注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22 / 32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371600"/>
            <a:ext cx="5029200" cy="685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微软雅黑"/>
              </a:rPr>
              <a:t>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19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训练环境是否安全、教练是否专业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2286000"/>
            <a:ext cx="5029200" cy="685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兴趣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33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孩子是否愿意来、会不会哭闹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200400"/>
            <a:ext cx="5029200" cy="685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C71"/>
                </a:solidFill>
                <a:latin typeface="微软雅黑"/>
              </a:rPr>
              <a:t>基础发展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47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运动能力是否正常、有没有落后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11480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114800"/>
            <a:ext cx="5029200" cy="685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  <a:latin typeface="微软雅黑"/>
              </a:rPr>
              <a:t>社交适应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62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能不能和其他小朋友相处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280160"/>
            <a:ext cx="530352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2984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家长语言 4 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8288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▶ “这么小练会不会受伤？”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▶ “孩子不愿意来怎么办？”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▶ “我家孩子运动能力正常吗？”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▶ “能和其他小朋友一起玩吗？”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303520"/>
            <a:ext cx="11430000" cy="822960"/>
          </a:xfrm>
          <a:prstGeom prst="roundRect">
            <a:avLst/>
          </a:prstGeom>
          <a:solidFill>
            <a:srgbClr val="2A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微软雅黑"/>
              </a:rPr>
              <a:t>统一结论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低龄家长的核心诉求是“安心” —— 先解决安全和适应问题，再谈训练效果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高龄家长最关心什么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7~12岁家长的四大核心关注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23 / 32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371600"/>
            <a:ext cx="5029200" cy="685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微软雅黑"/>
              </a:rPr>
              <a:t>体育成绩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19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学校体测能不能过关、能不能提升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2286000"/>
            <a:ext cx="5029200" cy="685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身高管理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33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能不能长高、体态好不好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200400"/>
            <a:ext cx="5029200" cy="685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C71"/>
                </a:solidFill>
                <a:latin typeface="微软雅黑"/>
              </a:rPr>
              <a:t>运动技能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47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能不能学会某项运动、有没有特长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11480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114800"/>
            <a:ext cx="5029200" cy="685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  <a:latin typeface="微软雅黑"/>
              </a:rPr>
              <a:t>自信心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62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运动中能不能建立自信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280160"/>
            <a:ext cx="530352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2984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具体的话 4 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8288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▶ “体测能不能过关？”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▶ “练了能长高吗？”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▶ “能不能学会打篮球？”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▶ “孩子运动没自信怎么办？”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303520"/>
            <a:ext cx="11430000" cy="822960"/>
          </a:xfrm>
          <a:prstGeom prst="roundRect">
            <a:avLst/>
          </a:prstGeom>
          <a:solidFill>
            <a:srgbClr val="2A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微软雅黑"/>
              </a:rPr>
              <a:t>统一结论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高龄家长的核心诉求是“效果” —— 用数据和进步说话，给家长看得见的改变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课程承接常见错误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4个错误及造成的后果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24 / 32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  <a:latin typeface="微软雅黑"/>
              </a:rPr>
              <a:t>直接推课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“建议您报我们的XX课”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669280" cy="64008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微软雅黑"/>
              </a:rPr>
              <a:t>造成的结果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家长感觉在推销，产生防备心理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  <a:latin typeface="微软雅黑"/>
              </a:rPr>
              <a:t>忽略反馈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教练讲完直接跳到报价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514600"/>
            <a:ext cx="5669280" cy="64008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微软雅黑"/>
              </a:rPr>
              <a:t>造成的结果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家长觉得没有被认真对待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  <a:latin typeface="微软雅黑"/>
              </a:rPr>
              <a:t>过度承诺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“练了肯定能提高”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57600"/>
            <a:ext cx="5669280" cy="64008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703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微软雅黑"/>
              </a:rPr>
              <a:t>造成的结果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77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期望落差大，后续投诉风险高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489204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  <a:latin typeface="微软雅黑"/>
              </a:rPr>
              <a:t>专业断层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教练讲的专业销售接不住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937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800600"/>
            <a:ext cx="5669280" cy="64008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846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微软雅黑"/>
              </a:rPr>
              <a:t>造成的结果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120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家长对门店专业度产生怀疑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486400"/>
            <a:ext cx="11430000" cy="731520"/>
          </a:xfrm>
          <a:prstGeom prst="roundRect">
            <a:avLst/>
          </a:prstGeom>
          <a:solidFill>
            <a:srgbClr val="D0D8F0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错误承接的核心问题：没有让家长感受到“专业判断”，只感受到了“销售意图”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0700000">
            <a:off x="243833" y="1028700"/>
            <a:ext cx="975335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20700000">
            <a:off x="609584" y="1577339"/>
            <a:ext cx="1219169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正确的课程承接方式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判断 → 翻译 → 给路径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25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3566160" cy="13716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  <a:latin typeface="微软雅黑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微软雅黑"/>
              </a:rPr>
              <a:t>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听懂教练反馈，理解孩子的情况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371600"/>
            <a:ext cx="3566160" cy="13716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翻译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用家长语言解释，让家长理解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6B35"/>
                </a:solidFill>
                <a:latin typeface="微软雅黑"/>
              </a:rPr>
              <a:t>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566160" cy="13716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CC71"/>
                </a:solidFill>
                <a:latin typeface="微软雅黑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CC71"/>
                </a:solidFill>
                <a:latin typeface="微软雅黑"/>
              </a:rPr>
              <a:t>给路径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给出清晰的训练建议和课程方案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17520"/>
            <a:ext cx="1143000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35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承接示例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66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▶ 判断：教练反馈“协调性需要加强，下肢力量偏弱”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▶ 翻译：“也就是说孩子在需要手脚配合的动作上会有些吃力，跑步跳跃时腿部力量还不够”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▶ 给路径：“建议通过体能训练课来系统提升，先打好基础，再逐步加强专项”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303520"/>
            <a:ext cx="11430000" cy="822960"/>
          </a:xfrm>
          <a:prstGeom prst="roundRect">
            <a:avLst/>
          </a:prstGeom>
          <a:solidFill>
            <a:srgbClr val="2A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微软雅黑"/>
              </a:rPr>
              <a:t>关键原则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每一步都要让家长感受到“这是为孩子好”，而不是“想卖课”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10728691" y="0"/>
            <a:ext cx="1463003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销售与教练协同节点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三个关键配合时刻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26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11430000" cy="109728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864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微软雅黑"/>
              </a:rPr>
              <a:t>前采阶段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销售了解家长需求和孩子情况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传递给教练，让教练有针对性地观察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43200"/>
            <a:ext cx="11430000" cy="109728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834640"/>
            <a:ext cx="548640" cy="32004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体验中观察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教练在体验课中观察孩子表现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销售同步观察家长反应和关注点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14800"/>
            <a:ext cx="11430000" cy="109728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54864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C71"/>
                </a:solidFill>
                <a:latin typeface="微软雅黑"/>
              </a:rPr>
              <a:t>教练反馈后承接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教练给出专业评估和建议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销售用家长语言翻译并推荐课程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54880"/>
            <a:ext cx="114300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73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最常见 3 个问题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❌ 销售没有提前传递信息 —— 教练不知道家长关注什么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❌ 教练反馈太专业 —— 家长听不懂，销售也接不住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❌ 反馈后直接报价 —— 缺少翻译环节，家长感觉被推销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双人配合示范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教练+顾问标准配合流程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27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22860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73152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微软雅黑"/>
              </a:rPr>
              <a:t>教练示范表达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“XX今天整体表现不错，在XX方面有进步”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“在XX方面还有提升空间，建议加强XX训练”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“通过系统训练，XX方面是可以明显改善的”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669280" cy="22860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73152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顾问承接表达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“刚才教练提到的XX，简单来说就是...”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“针对这个情况，我们建议...”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“这门课正好能帮助孩子...”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114300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587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顾问最容易出错的 3 个地方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❌ 重复教练的话 —— 应该翻译而不是复述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❌ 急于报价 —— 应该先让家长理解价值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❌ 打断教练反馈 —— 应该等教练说完再承接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486400"/>
            <a:ext cx="11430000" cy="731520"/>
          </a:xfrm>
          <a:prstGeom prst="roundRect">
            <a:avLst/>
          </a:prstGeom>
          <a:solidFill>
            <a:srgbClr val="D0D8F0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配合要点：教练讲“专业”，顾问讲“人话”，两者缺一不可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700000">
            <a:off x="243833" y="1028700"/>
            <a:ext cx="975335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0700000">
            <a:off x="609584" y="1577339"/>
            <a:ext cx="1219169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高频异议处理（一）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标准化回应框架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28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73152" cy="4114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微软雅黑"/>
              </a:rPr>
              <a:t>异议：“孩子还小”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F —— 理解家长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“您说得对，孩子确实还小，正是打基础的好时候”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A —— 给出专业依据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“3-6岁是运动基础发展的关键期，现在建立好的动作模式，以后学什么都快”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B —— 强调利益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“现在开始训练，孩子不仅运动能力强，专注力和自信心也会跟着提升”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66928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73152" cy="4114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异议：“先回家练练”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F —— 理解家长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“理解您的想法，回家练也是一种方式”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A —— 给出专业依据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“不过运动训练需要专业指导和系统计划，自己练容易动作不标准”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B —— 强调利益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“来门店训练，教练会根据孩子情况制定方案，效果比自己练好很多”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577840"/>
            <a:ext cx="11430000" cy="640080"/>
          </a:xfrm>
          <a:prstGeom prst="roundRect">
            <a:avLst/>
          </a:prstGeom>
          <a:solidFill>
            <a:srgbClr val="2A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  <a:latin typeface="微软雅黑"/>
              </a:rPr>
              <a:t>异议处理核心：先认同，再专业，最后给利益 —— 永远不要和家长对立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高频异议处理（二）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标准化回应框架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29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73152" cy="4114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微软雅黑"/>
              </a:rPr>
              <a:t>异议：“我们再看看”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F —— 理解家长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“没问题，多了解是对的，毕竟关系到孩子”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A —— 给出专业依据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“不过孩子的运动发展有最佳窗口期，现在开始训练效果最好”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B —— 强调利益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“可以先体验一下，看看孩子喜不喜欢，再做决定也不迟”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669280" cy="41148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73152" cy="4114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异议：“你们是不是保证结果”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F —— 理解家长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“理解您的顾虑，您希望看到训练效果”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A —— 给出专业依据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“训练效果取决于孩子的参与度和配合度，我们会全力指导”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B —— 强调利益</a:t>
            </a:r>
          </a:p>
          <a:p>
            <a:pPr algn="l">
              <a:spcAft>
                <a:spcPts val="480"/>
              </a:spcAft>
            </a:pPr>
            <a:r>
              <a:rPr sz="1200">
                <a:solidFill>
                  <a:srgbClr val="FFFFFF"/>
                </a:solidFill>
                <a:latin typeface="微软雅黑"/>
              </a:rPr>
              <a:t>“我们会定期体测反馈，让您看到孩子的每一步进步”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577840"/>
            <a:ext cx="11430000" cy="640080"/>
          </a:xfrm>
          <a:prstGeom prst="roundRect">
            <a:avLst/>
          </a:prstGeom>
          <a:solidFill>
            <a:srgbClr val="2A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  <a:latin typeface="微软雅黑"/>
              </a:rPr>
              <a:t>不保证结果，但保证专业指导和持续反馈 —— 这才是负责任的态度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演练评分标准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四个维度评估专业度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30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2651760" cy="27432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150876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B35"/>
                </a:solidFill>
                <a:latin typeface="微软雅黑"/>
              </a:rPr>
              <a:t>判断力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能否准确识别孩子的情况和需求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听教练反馈后能否快速理解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371600"/>
            <a:ext cx="2651760" cy="27432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50876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翻译力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能否用家长语言解释专业概念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让家长听得懂、能理解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2651760" cy="27432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6600" y="1508760"/>
            <a:ext cx="731520" cy="7315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CC71"/>
                </a:solidFill>
                <a:latin typeface="微软雅黑"/>
              </a:rPr>
              <a:t>承接力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能否自然过渡到课程推荐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不生硬、不推销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371600"/>
            <a:ext cx="2651760" cy="27432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12680" y="1508760"/>
            <a:ext cx="731520" cy="7315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微软雅黑"/>
              </a:rPr>
              <a:t>边界感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能否守住销售的专业边界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不越界、不乱承诺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389120"/>
            <a:ext cx="11430000" cy="1645920"/>
          </a:xfrm>
          <a:prstGeom prst="roundRect">
            <a:avLst/>
          </a:prstGeom>
          <a:solidFill>
            <a:srgbClr val="D0D8F0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统一提醒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92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评分不是“打分”，是帮助每个人找到提升方向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四个维度缺一不可，任何一个短板都会影响家长体验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目标是：每个人都能达到“独立接待+专业推荐”的标准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20700000">
            <a:off x="243833" y="1028700"/>
            <a:ext cx="975335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20700000">
            <a:off x="609584" y="1577339"/>
            <a:ext cx="1219169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10728691" y="0"/>
            <a:ext cx="1463003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每周演练与月度通关机制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CC"/>
                </a:solidFill>
                <a:latin typeface="微软雅黑"/>
              </a:rPr>
              <a:t>让培训落地，让能力可复制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31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27432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73152" cy="2743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微软雅黑"/>
              </a:rPr>
              <a:t>每周演练 3 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1. 每周一次情景模拟演练（30分钟）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2. 两人一组，轮流扮演销售和家长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3. 店长/讲师现场点评，记录改进点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669280" cy="274320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73152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月度通关 3 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1. 每月一次正式通关考核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2. 按评分标准四维度打分</a:t>
            </a:r>
          </a:p>
          <a:p>
            <a:pPr algn="l">
              <a:spcAft>
                <a:spcPts val="52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3. 通关通过方可独立接待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114300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159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带教留痕流程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▶ 演练记录表 → 记录每次演练的主题、表现、改进点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▶ 通关记录表 → 记录每次通关的评分和结果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微软雅黑"/>
              </a:rPr>
              <a:t>▶ 成长档案 → 每位销售的成长轨迹和进步记录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577840"/>
            <a:ext cx="11430000" cy="640080"/>
          </a:xfrm>
          <a:prstGeom prst="roundRect">
            <a:avLst/>
          </a:prstGeom>
          <a:solidFill>
            <a:srgbClr val="2A1A0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  <a:latin typeface="微软雅黑"/>
              </a:rPr>
              <a:t>培训不是一次性的，而是持续的 —— 演练+通关+带教，三位一体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收尾与行动要求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CC"/>
                </a:solidFill>
                <a:latin typeface="微软雅黑"/>
              </a:rPr>
              <a:t>从今天开始，让专业成为习惯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45920"/>
            <a:ext cx="10698480" cy="5029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71907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熟记七大素质和家长语言翻译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331720"/>
            <a:ext cx="10698480" cy="5029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40487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掌握体测反馈六步法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017520"/>
            <a:ext cx="10698480" cy="5029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09067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练习课程承接三步（判断/翻译/给路径）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703320"/>
            <a:ext cx="10698480" cy="5029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77647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参加本周情景模拟演练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389120"/>
            <a:ext cx="10698480" cy="502920"/>
          </a:xfrm>
          <a:prstGeom prst="roundRect">
            <a:avLst/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46227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用 FAB 结构向一位家长做一次完整推荐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303520"/>
            <a:ext cx="11430000" cy="9144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“专业不是知道很多，而是能让家长感受到你的专业”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追光小牛 · 销售基础专业培训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</a:rPr>
              <a:t>32 / 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