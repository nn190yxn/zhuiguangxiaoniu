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48640" y="1097280"/>
            <a:ext cx="73152" cy="292608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14400" y="10972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追光小牛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173736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销售培训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F8C5A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第六课：家长沟通与异议处理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3383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掌握沟通万能公式  |  6大场景话术  |  4步异议处理法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132320" y="1371600"/>
            <a:ext cx="1645920" cy="164592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7589520" y="2743200"/>
            <a:ext cx="1097280" cy="109728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11" name="Rectangle 10"/>
          <p:cNvSpPr/>
          <p:nvPr/>
        </p:nvSpPr>
        <p:spPr>
          <a:xfrm rot="20700000">
            <a:off x="182880" y="771525"/>
            <a:ext cx="731520" cy="1905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0700000">
            <a:off x="457200" y="1183005"/>
            <a:ext cx="914400" cy="2540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0700000">
            <a:off x="731520" y="1594485"/>
            <a:ext cx="1097280" cy="3175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0700000">
            <a:off x="1005840" y="2005965"/>
            <a:ext cx="1280160" cy="3810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8046720" y="0"/>
            <a:ext cx="1097280" cy="411480"/>
          </a:xfrm>
          <a:prstGeom prst="triangl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sosceles Triangle 15"/>
          <p:cNvSpPr/>
          <p:nvPr/>
        </p:nvSpPr>
        <p:spPr>
          <a:xfrm rot="10800000">
            <a:off x="0" y="4732020"/>
            <a:ext cx="731520" cy="411480"/>
          </a:xfrm>
          <a:prstGeom prst="triangl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Arc 16"/>
          <p:cNvSpPr/>
          <p:nvPr/>
        </p:nvSpPr>
        <p:spPr>
          <a:xfrm>
            <a:off x="7498080" y="514350"/>
            <a:ext cx="1828800" cy="1543050"/>
          </a:xfrm>
          <a:prstGeom prst="arc">
            <a:avLst/>
          </a:prstGeom>
          <a:noFill/>
          <a:ln w="25400">
            <a:solidFill>
              <a:srgbClr val="FF6B35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4989195"/>
            <a:ext cx="9144000" cy="154305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课程目录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503920" y="47777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188720"/>
            <a:ext cx="502920" cy="50292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1188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2588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沟通万能公式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25880" y="148132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共情→事实→方案→行动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325880" y="1783080"/>
            <a:ext cx="685800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dash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40080" y="1938528"/>
            <a:ext cx="502920" cy="50292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40080" y="19385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25880" y="1920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沟通时效标准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5880" y="2231136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课后/提问/投诉/体测反馈时效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325880" y="2532888"/>
            <a:ext cx="685800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dash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40080" y="2688336"/>
            <a:ext cx="502920" cy="50292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40080" y="26883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25880" y="267004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6大场景话术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25880" y="2980944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课后反馈/进度/适应/续费/不满/禁用语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325880" y="3282696"/>
            <a:ext cx="685800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dash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640080" y="3438144"/>
            <a:ext cx="502920" cy="50292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40080" y="34381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325880" y="341985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异议处理4步法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25880" y="373075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倾听→认同→转化→确认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325880" y="4032504"/>
            <a:ext cx="685800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dash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640080" y="4187952"/>
            <a:ext cx="502920" cy="50292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40080" y="41879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325880" y="416966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三大异议实战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325880" y="44805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价格/时间/伴侣异议处理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772400" y="1188720"/>
            <a:ext cx="54864" cy="347472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2" name="Rectangle 31"/>
          <p:cNvSpPr/>
          <p:nvPr/>
        </p:nvSpPr>
        <p:spPr>
          <a:xfrm rot="20700000">
            <a:off x="182880" y="771525"/>
            <a:ext cx="731520" cy="1905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 rot="20700000">
            <a:off x="457200" y="1183005"/>
            <a:ext cx="914400" cy="2540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Isosceles Triangle 34"/>
          <p:cNvSpPr/>
          <p:nvPr/>
        </p:nvSpPr>
        <p:spPr>
          <a:xfrm>
            <a:off x="8046720" y="0"/>
            <a:ext cx="1097280" cy="411480"/>
          </a:xfrm>
          <a:prstGeom prst="triangl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沟通万能公式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F-A-B 沟通法则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503920" y="47777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280160"/>
            <a:ext cx="1828800" cy="2286000"/>
          </a:xfrm>
          <a:prstGeom prst="rect">
            <a:avLst/>
          </a:prstGeom>
          <a:solidFill>
            <a:srgbClr val="1A2A50">
              <a:alpha val="70000"/>
            </a:srgbClr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48640" y="1280160"/>
            <a:ext cx="1828800" cy="5486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188720" y="1508760"/>
            <a:ext cx="548640" cy="54864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188720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F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" y="2148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共情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" y="251460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理解家长感受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表达关心与认同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331720" y="2103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FF6B35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651760" y="1280160"/>
            <a:ext cx="1828800" cy="2286000"/>
          </a:xfrm>
          <a:prstGeom prst="rect">
            <a:avLst/>
          </a:prstGeom>
          <a:solidFill>
            <a:srgbClr val="1A2A50">
              <a:alpha val="70000"/>
            </a:srgbClr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2651760" y="1280160"/>
            <a:ext cx="1828800" cy="54864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3291840" y="15087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291840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651760" y="2148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事实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788920" y="251460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客观描述孩子表现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用数据说话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434840" y="2103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FF6B35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4754880" y="1280160"/>
            <a:ext cx="1828800" cy="2286000"/>
          </a:xfrm>
          <a:prstGeom prst="rect">
            <a:avLst/>
          </a:prstGeom>
          <a:solidFill>
            <a:srgbClr val="1A2A50">
              <a:alpha val="70000"/>
            </a:srgbClr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4754880" y="1280160"/>
            <a:ext cx="1828800" cy="54864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5394960" y="1508760"/>
            <a:ext cx="548640" cy="548640"/>
          </a:xfrm>
          <a:prstGeom prst="ellipse">
            <a:avLst/>
          </a:prstGeom>
          <a:solidFill>
            <a:srgbClr val="4CAF50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5394960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B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754880" y="2148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方案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892040" y="251460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给出具体建议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让家长看到方向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537960" y="2103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FF6B35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6858000" y="1280160"/>
            <a:ext cx="1828800" cy="2286000"/>
          </a:xfrm>
          <a:prstGeom prst="rect">
            <a:avLst/>
          </a:prstGeom>
          <a:solidFill>
            <a:srgbClr val="1A2A50">
              <a:alpha val="70000"/>
            </a:srgbClr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6858000" y="1280160"/>
            <a:ext cx="1828800" cy="54864"/>
          </a:xfrm>
          <a:prstGeom prst="rect">
            <a:avLst/>
          </a:prstGeom>
          <a:solidFill>
            <a:srgbClr val="9C27B0"/>
          </a:solidFill>
          <a:ln/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7498080" y="1508760"/>
            <a:ext cx="548640" cy="548640"/>
          </a:xfrm>
          <a:prstGeom prst="ellipse">
            <a:avLst/>
          </a:prstGeom>
          <a:solidFill>
            <a:srgbClr val="9C27B0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7498080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!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858000" y="2148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行动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995160" y="251460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明确下一步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双方确认执行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3794760"/>
            <a:ext cx="8229600" cy="822960"/>
          </a:xfrm>
          <a:prstGeom prst="rect">
            <a:avLst>
              <a:gd name="adj" fmla="val 8889"/>
            </a:avLst>
          </a:prstGeom>
          <a:solidFill>
            <a:srgbClr val="FFF0E8"/>
          </a:solidFill>
          <a:ln/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640080" y="37947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F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任何场景都能套用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A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结构化沟通更专业  </a:t>
            </a:r>
            <a:pPr indent="0" marL="0">
              <a:buNone/>
            </a:pPr>
            <a:r>
              <a:rPr lang="en-US" sz="1200" b="1" dirty="0">
                <a:solidFill>
                  <a:srgbClr val="4CAF50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B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再也不怕被家长问住</a:t>
            </a:r>
            <a:endParaRPr lang="en-US" sz="1200" dirty="0"/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0700000">
            <a:off x="182880" y="771525"/>
            <a:ext cx="731520" cy="1905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0700000">
            <a:off x="457200" y="1183005"/>
            <a:ext cx="914400" cy="2540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4371975"/>
            <a:ext cx="9144000" cy="771525"/>
          </a:xfrm>
          <a:prstGeom prst="rect">
            <a:avLst/>
          </a:prstGeom>
          <a:solidFill>
            <a:srgbClr val="14244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沟通时效标准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快速响应 = 专业信任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503920" y="47777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1920240" cy="2560320"/>
          </a:xfrm>
          <a:prstGeom prst="rect">
            <a:avLst/>
          </a:prstGeom>
          <a:solidFill>
            <a:srgbClr val="1A2A50">
              <a:alpha val="70000"/>
            </a:srgbClr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57200" y="1234440"/>
            <a:ext cx="1920240" cy="5486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960120" y="1417320"/>
            <a:ext cx="914400" cy="502920"/>
          </a:xfrm>
          <a:prstGeom prst="rect">
            <a:avLst>
              <a:gd name="adj" fmla="val 14545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960120" y="141732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2h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" y="20574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课后反馈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242316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每次课后2小时内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发送孩子课堂表现反馈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60320" y="1234440"/>
            <a:ext cx="1920240" cy="2560320"/>
          </a:xfrm>
          <a:prstGeom prst="rect">
            <a:avLst/>
          </a:prstGeom>
          <a:solidFill>
            <a:srgbClr val="1A2A50">
              <a:alpha val="70000"/>
            </a:srgbClr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2560320" y="1234440"/>
            <a:ext cx="1920240" cy="5486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3063240" y="1417320"/>
            <a:ext cx="914400" cy="502920"/>
          </a:xfrm>
          <a:prstGeom prst="rect">
            <a:avLst>
              <a:gd name="adj" fmla="val 14545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063240" y="141732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4h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560320" y="20574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家长提问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697480" y="242316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收到家长消息4小时内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给予专业回复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1234440"/>
            <a:ext cx="1920240" cy="2560320"/>
          </a:xfrm>
          <a:prstGeom prst="rect">
            <a:avLst/>
          </a:prstGeom>
          <a:solidFill>
            <a:srgbClr val="1A2A50">
              <a:alpha val="70000"/>
            </a:srgbClr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4663440" y="1234440"/>
            <a:ext cx="1920240" cy="5486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5166360" y="1417320"/>
            <a:ext cx="914400" cy="502920"/>
          </a:xfrm>
          <a:prstGeom prst="rect">
            <a:avLst>
              <a:gd name="adj" fmla="val 14545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166360" y="141732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1h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663440" y="20574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投诉响应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00600" y="242316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接到投诉1小时内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首次响应安抚情绪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766560" y="1234440"/>
            <a:ext cx="1920240" cy="2560320"/>
          </a:xfrm>
          <a:prstGeom prst="rect">
            <a:avLst/>
          </a:prstGeom>
          <a:solidFill>
            <a:srgbClr val="1A2A50">
              <a:alpha val="70000"/>
            </a:srgbClr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6766560" y="1234440"/>
            <a:ext cx="1920240" cy="5486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7269480" y="1417320"/>
            <a:ext cx="914400" cy="502920"/>
          </a:xfrm>
          <a:prstGeom prst="rect">
            <a:avLst>
              <a:gd name="adj" fmla="val 14545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7269480" y="141732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48h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766560" y="20574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体测反馈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903720" y="242316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体测完成后48小时内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发送详细分析报告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3977640"/>
            <a:ext cx="8229600" cy="685800"/>
          </a:xfrm>
          <a:prstGeom prst="rect">
            <a:avLst>
              <a:gd name="adj" fmla="val 10667"/>
            </a:avLst>
          </a:prstGeom>
          <a:solidFill>
            <a:srgbClr val="FFF0E8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640080" y="3977640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F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明确时间节点标准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A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避免遗漏与超时  </a:t>
            </a:r>
            <a:pPr indent="0" marL="0">
              <a:buNone/>
            </a:pPr>
            <a:r>
              <a:rPr lang="en-US" sz="1100" b="1" dirty="0">
                <a:solidFill>
                  <a:srgbClr val="4CAF50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B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家长感受到被重视，信任度大幅提升</a:t>
            </a:r>
            <a:endParaRPr lang="en-US" sz="1100" dirty="0"/>
          </a:p>
        </p:txBody>
      </p:sp>
      <p:sp>
        <p:nvSpPr>
          <p:cNvPr id="33" name="Rectangle 32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4371975"/>
            <a:ext cx="9144000" cy="771525"/>
          </a:xfrm>
          <a:prstGeom prst="rect">
            <a:avLst/>
          </a:prstGeom>
          <a:solidFill>
            <a:srgbClr val="14244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场景1：课后反馈话术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SCENE 01 - After-Class Feedback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503920" y="47777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3931920" cy="3200400"/>
          </a:xfrm>
          <a:prstGeom prst="rect">
            <a:avLst/>
          </a:prstGeom>
          <a:solidFill>
            <a:srgbClr val="1A2A50">
              <a:alpha val="70000"/>
            </a:srgbClr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57200" y="1188720"/>
            <a:ext cx="3931920" cy="5486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13258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话术模板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1691640"/>
            <a:ext cx="3566160" cy="24688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6B35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【共情】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XX妈妈您好，今天XX的表现让我特别想跟您分享~
</a:t>
            </a:r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【事实】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今天练习了XX动作，孩子完成了X组，比上次进步了X%
</a:t>
            </a:r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CAF50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【方案】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建议本周在家配合练习XX，每天X分钟即可
</a:t>
            </a:r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9C27B0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【行动】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我会在周三发练习视频给您，有问题随时沟通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188720"/>
            <a:ext cx="3931920" cy="3200400"/>
          </a:xfrm>
          <a:prstGeom prst="rect">
            <a:avLst/>
          </a:prstGeom>
          <a:solidFill>
            <a:srgbClr val="1A2A50">
              <a:alpha val="70000"/>
            </a:srgbClr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754880" y="1188720"/>
            <a:ext cx="3931920" cy="54864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937760" y="13258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实际示例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1691640"/>
            <a:ext cx="3566160" cy="24688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乐乐妈妈您好！今天乐乐的表现让我特别想跟您分享~
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今天练习了前滚翻，乐乐完成了5组标准动作，比上周多做了2组，核心力量进步明显！
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建议本周在家每天做3分钟平板支撑，帮孩子巩固核心力量。
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我周三会发一个趣味练习视频给您，有问题随时找我哦！</a:t>
            </a:r>
            <a:endParaRPr lang="en-US" sz="1000" dirty="0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sosceles Triangle 15"/>
          <p:cNvSpPr/>
          <p:nvPr/>
        </p:nvSpPr>
        <p:spPr>
          <a:xfrm>
            <a:off x="8046720" y="0"/>
            <a:ext cx="1097280" cy="411480"/>
          </a:xfrm>
          <a:prstGeom prst="triangl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4371975"/>
            <a:ext cx="9144000" cy="771525"/>
          </a:xfrm>
          <a:prstGeom prst="rect">
            <a:avLst/>
          </a:prstGeom>
          <a:solidFill>
            <a:srgbClr val="14244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场景2：家长询问进度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SCENE 02 - Progress Inquiry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503920" y="47777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3931920" cy="3200400"/>
          </a:xfrm>
          <a:prstGeom prst="rect">
            <a:avLst/>
          </a:prstGeom>
          <a:solidFill>
            <a:srgbClr val="1A2A50">
              <a:alpha val="70000"/>
            </a:srgbClr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57200" y="1188720"/>
            <a:ext cx="3931920" cy="5486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13258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话术模板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1691640"/>
            <a:ext cx="3566160" cy="24688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6B35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【共情】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理解您关心孩子的成长，这是非常好的！
</a:t>
            </a:r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【事实】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目前XX已完成X个阶段，整体进度X%。具体来看：力量X分、柔韧X分、协调X分
</a:t>
            </a:r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CAF50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【方案】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接下来重点突破XX能力，预计X周后可以看到明显变化
</a:t>
            </a:r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9C27B0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【行动】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我整理一份详细进度报告发您，下周安排一次面对面沟通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188720"/>
            <a:ext cx="3931920" cy="3200400"/>
          </a:xfrm>
          <a:prstGeom prst="rect">
            <a:avLst/>
          </a:prstGeom>
          <a:solidFill>
            <a:srgbClr val="1A2A50">
              <a:alpha val="70000"/>
            </a:srgbClr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754880" y="1188720"/>
            <a:ext cx="3931920" cy="54864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937760" y="13258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实际示例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1691640"/>
            <a:ext cx="3566160" cy="24688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理解您特别关心小明的成长，这说明您是非常负责任的家长！
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目前小明已完成基础阶段，整体进度65%。力量85分、柔韧70分、协调60分，协调是目前的提升重点。
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接下来4周我们会重点做协调性训练，预计月底能看到明显进步。
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我今晚整理一份详细进度报告发您，下周三课后可以当面聊聊！</a:t>
            </a:r>
            <a:endParaRPr lang="en-US" sz="1000" dirty="0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0700000">
            <a:off x="182880" y="771525"/>
            <a:ext cx="731520" cy="1905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0700000">
            <a:off x="457200" y="1183005"/>
            <a:ext cx="914400" cy="2540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4371975"/>
            <a:ext cx="9144000" cy="771525"/>
          </a:xfrm>
          <a:prstGeom prst="rect">
            <a:avLst/>
          </a:prstGeom>
          <a:solidFill>
            <a:srgbClr val="14244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场景3：首月适应回访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SCENE 03 - First Month Follow-up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503920" y="47777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3931920" cy="3200400"/>
          </a:xfrm>
          <a:prstGeom prst="rect">
            <a:avLst/>
          </a:prstGeom>
          <a:solidFill>
            <a:srgbClr val="1A2A50">
              <a:alpha val="70000"/>
            </a:srgbClr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57200" y="1188720"/>
            <a:ext cx="3931920" cy="5486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13258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话术模板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1691640"/>
            <a:ext cx="3566160" cy="24688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6B35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【共情】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XX妈妈，孩子来一个月了，想了解下孩子的适应情况~
</a:t>
            </a:r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【事实】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这一个月XX上了X节课，出勤率X%，从最初的XX状态到现在XX，变化很大
</a:t>
            </a:r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CAF50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【方案】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建议接下来关注XX方面，我们也会在课堂上重点引导
</a:t>
            </a:r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9C27B0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【行动】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下周课后我给您发一份月度总结，有想法随时沟通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188720"/>
            <a:ext cx="3931920" cy="3200400"/>
          </a:xfrm>
          <a:prstGeom prst="rect">
            <a:avLst/>
          </a:prstGeom>
          <a:solidFill>
            <a:srgbClr val="1A2A50">
              <a:alpha val="70000"/>
            </a:srgbClr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754880" y="1188720"/>
            <a:ext cx="3931920" cy="54864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937760" y="13258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实际示例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1691640"/>
            <a:ext cx="3566160" cy="24688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朵朵妈妈好~朵朵来咱们这一个月了，想跟您聊聊她的适应情况！
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这一个月朵朵上了8节课，出勤率100%！从第一节课有点害羞，到现在能主动和小朋友互动，进步特别大。
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建议接下来多鼓励她参加集体活动，我们在课上也会多给她展示机会。
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下周我发您一份首月成长总结，有任何想法随时找我聊！</a:t>
            </a:r>
            <a:endParaRPr lang="en-US" sz="1000" dirty="0"/>
          </a:p>
        </p:txBody>
      </p:sp>
      <p:sp>
        <p:nvSpPr>
          <p:cNvPr id="15" name="Rectangle 14"/>
          <p:cNvSpPr/>
          <p:nvPr/>
        </p:nvSpPr>
        <p:spPr>
          <a:xfrm rot="20700000">
            <a:off x="182880" y="771525"/>
            <a:ext cx="731520" cy="1905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0700000">
            <a:off x="457200" y="1183005"/>
            <a:ext cx="914400" cy="2540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场景4：续费触达话术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SCENE 04 - Renewal Outreach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503920" y="47777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3931920" cy="3200400"/>
          </a:xfrm>
          <a:prstGeom prst="rect">
            <a:avLst/>
          </a:prstGeom>
          <a:solidFill>
            <a:srgbClr val="1A2A50">
              <a:alpha val="70000"/>
            </a:srgbClr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57200" y="1188720"/>
            <a:ext cx="3931920" cy="5486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40080" y="1371600"/>
            <a:ext cx="1097280" cy="365760"/>
          </a:xfrm>
          <a:prstGeom prst="rect">
            <a:avLst>
              <a:gd name="adj" fmla="val 12500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0080" y="13716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到期前30天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187452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XX妈妈，不知不觉XX已经跟我们一起训练X个月了！
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这段时间XX在XX方面进步特别大，从XX到XX，真的很棒！
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下个阶段我们会进入XX训练，这对XX能力的提升会非常明显。
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课程还有30天到期，现在续费可以享受X优惠，我帮您预留名额？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188720"/>
            <a:ext cx="3931920" cy="3200400"/>
          </a:xfrm>
          <a:prstGeom prst="rect">
            <a:avLst/>
          </a:prstGeom>
          <a:solidFill>
            <a:srgbClr val="1A2A50">
              <a:alpha val="70000"/>
            </a:srgbClr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754880" y="1188720"/>
            <a:ext cx="3931920" cy="54864"/>
          </a:xfrm>
          <a:prstGeom prst="rect">
            <a:avLst/>
          </a:prstGeom>
          <a:solidFill>
            <a:srgbClr val="E53935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937760" y="1371600"/>
            <a:ext cx="914400" cy="365760"/>
          </a:xfrm>
          <a:prstGeom prst="rect">
            <a:avLst>
              <a:gd name="adj" fmla="val 12500"/>
            </a:avLst>
          </a:prstGeom>
          <a:solidFill>
            <a:srgbClr val="E5393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937760" y="13716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到期前7天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187452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XX妈妈提醒您，XX的课程还剩最后7天啦~
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这段时间XX的成长真的让我很欣慰，特别是XX方面的进步！
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如果中断训练太可惜了，孩子好不容易建立起来的运动习惯和节奏。
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现在续费还有最后X个名额的优惠，我帮您办理？</a:t>
            </a:r>
            <a:endParaRPr lang="en-US" sz="1000" dirty="0"/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4371975"/>
            <a:ext cx="9144000" cy="771525"/>
          </a:xfrm>
          <a:prstGeom prst="rect">
            <a:avLst/>
          </a:prstGeom>
          <a:solidFill>
            <a:srgbClr val="14244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场景5：家长表达不满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SCENE 05 - Handling Complaints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503920" y="47777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3931920" cy="3200400"/>
          </a:xfrm>
          <a:prstGeom prst="rect">
            <a:avLst/>
          </a:prstGeom>
          <a:solidFill>
            <a:srgbClr val="1A2A50">
              <a:alpha val="70000"/>
            </a:srgbClr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57200" y="1188720"/>
            <a:ext cx="3931920" cy="54864"/>
          </a:xfrm>
          <a:prstGeom prst="rect">
            <a:avLst/>
          </a:prstGeom>
          <a:solidFill>
            <a:srgbClr val="E5393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13258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E53935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1小时响应 + 处理流程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1783080"/>
            <a:ext cx="320040" cy="320040"/>
          </a:xfrm>
          <a:prstGeom prst="ellipse">
            <a:avLst/>
          </a:prstGeom>
          <a:solidFill>
            <a:srgbClr val="E5393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0080" y="1783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51560" y="17830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立即回应：收到投诉1小时内首次回复，表达重视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2258568"/>
            <a:ext cx="320040" cy="32004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0080" y="225856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51560" y="225856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倾听记录：完整记录家长诉求，不打断不辩解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2734056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40080" y="273405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51560" y="2734056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内部沟通：与教练/主管沟通，确认事实与方案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3209544"/>
            <a:ext cx="320040" cy="320040"/>
          </a:xfrm>
          <a:prstGeom prst="ellipse">
            <a:avLst/>
          </a:prstGeom>
          <a:solidFill>
            <a:srgbClr val="4CAF50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0080" y="320954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51560" y="3209544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方案反馈：按严重程度分级处理：绿色24h / 黄色48h / 红色当天解决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" y="3685032"/>
            <a:ext cx="320040" cy="320040"/>
          </a:xfrm>
          <a:prstGeom prst="ellipse">
            <a:avLst/>
          </a:prstGeom>
          <a:solidFill>
            <a:srgbClr val="9C27B0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40080" y="368503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51560" y="368503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回访确认：3天后回访，确保问题彻底解决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1188720"/>
            <a:ext cx="3931920" cy="3200400"/>
          </a:xfrm>
          <a:prstGeom prst="rect">
            <a:avLst/>
          </a:prstGeom>
          <a:solidFill>
            <a:srgbClr val="1A2A50">
              <a:alpha val="70000"/>
            </a:srgbClr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4754880" y="1188720"/>
            <a:ext cx="3931920" cy="54864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4937760" y="13258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FAB 价值拆解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754880" y="1737360"/>
            <a:ext cx="3931920" cy="1371600"/>
          </a:xfrm>
          <a:prstGeom prst="rect">
            <a:avLst/>
          </a:prstGeom>
          <a:solidFill>
            <a:srgbClr val="1A2A50">
              <a:alpha val="70000"/>
            </a:srgbClr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4892040" y="1874520"/>
            <a:ext cx="320040" cy="320040"/>
          </a:xfrm>
          <a:prstGeom prst="rect">
            <a:avLst>
              <a:gd name="adj" fmla="val 14286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4892040" y="18745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F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303520" y="1847088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标准化5步处理流程，每步有明确时间节点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92040" y="2286000"/>
            <a:ext cx="320040" cy="320040"/>
          </a:xfrm>
          <a:prstGeom prst="rect">
            <a:avLst>
              <a:gd name="adj" fmla="val 14286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4892040" y="22860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303520" y="2258568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投诉处理不再靠个人经验，新人也能快速上手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92040" y="2697480"/>
            <a:ext cx="320040" cy="320040"/>
          </a:xfrm>
          <a:prstGeom prst="rect">
            <a:avLst>
              <a:gd name="adj" fmla="val 14286"/>
            </a:avLst>
          </a:prstGeom>
          <a:solidFill>
            <a:srgbClr val="4CAF50"/>
          </a:solidFill>
          <a:ln/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4892040" y="26974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B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303520" y="2670048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家长感受到专业与重视，化危机为信任转机</a:t>
            </a:r>
            <a:endParaRPr lang="en-US" sz="1100" dirty="0"/>
          </a:p>
        </p:txBody>
      </p:sp>
      <p:sp>
        <p:nvSpPr>
          <p:cNvPr id="38" name="Rectangle 37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0700000">
            <a:off x="182880" y="771525"/>
            <a:ext cx="731520" cy="1905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 rot="20700000">
            <a:off x="457200" y="1183005"/>
            <a:ext cx="914400" cy="2540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0" y="4371975"/>
            <a:ext cx="9144000" cy="771525"/>
          </a:xfrm>
          <a:prstGeom prst="rect">
            <a:avLst/>
          </a:prstGeom>
          <a:solidFill>
            <a:srgbClr val="14244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场景6：禁用语清单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SCENE 06 - Forbidden Phrases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503920" y="47777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3200400" cy="640080"/>
          </a:xfrm>
          <a:prstGeom prst="rect">
            <a:avLst/>
          </a:prstGeom>
          <a:solidFill>
            <a:srgbClr val="FFEBEE"/>
          </a:solidFill>
          <a:ln w="6350">
            <a:solidFill>
              <a:srgbClr val="E53935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48640" y="1234440"/>
            <a:ext cx="457200" cy="457200"/>
          </a:xfrm>
          <a:prstGeom prst="ellipse">
            <a:avLst/>
          </a:prstGeom>
          <a:solidFill>
            <a:srgbClr val="E5393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X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11430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62828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这个我不清楚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749040" y="114300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6B35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297680" y="1143000"/>
            <a:ext cx="4389120" cy="640080"/>
          </a:xfrm>
          <a:prstGeom prst="rect">
            <a:avLst/>
          </a:prstGeom>
          <a:solidFill>
            <a:srgbClr val="E8F5E9"/>
          </a:solidFill>
          <a:ln w="6350">
            <a:solidFill>
              <a:srgbClr val="4CAF50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389120" y="1234440"/>
            <a:ext cx="457200" cy="457200"/>
          </a:xfrm>
          <a:prstGeom prst="ellipse">
            <a:avLst/>
          </a:prstGeom>
          <a:solidFill>
            <a:srgbClr val="4CAF50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38912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11430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孩子在这个方面还有很大的提升空间，我们一起想办法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1892808"/>
            <a:ext cx="3200400" cy="640080"/>
          </a:xfrm>
          <a:prstGeom prst="rect">
            <a:avLst/>
          </a:prstGeom>
          <a:solidFill>
            <a:srgbClr val="FFEBEE"/>
          </a:solidFill>
          <a:ln w="6350">
            <a:solidFill>
              <a:srgbClr val="E53935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548640" y="1984248"/>
            <a:ext cx="457200" cy="457200"/>
          </a:xfrm>
          <a:prstGeom prst="ellipse">
            <a:avLst/>
          </a:prstGeom>
          <a:solidFill>
            <a:srgbClr val="E5393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48640" y="19842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X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1892808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62828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别的家长都没意见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749040" y="1892808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6B35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297680" y="1892808"/>
            <a:ext cx="4389120" cy="640080"/>
          </a:xfrm>
          <a:prstGeom prst="rect">
            <a:avLst/>
          </a:prstGeom>
          <a:solidFill>
            <a:srgbClr val="E8F5E9"/>
          </a:solidFill>
          <a:ln w="6350">
            <a:solidFill>
              <a:srgbClr val="4CAF50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4389120" y="1984248"/>
            <a:ext cx="457200" cy="457200"/>
          </a:xfrm>
          <a:prstGeom prst="ellipse">
            <a:avLst/>
          </a:prstGeom>
          <a:solidFill>
            <a:srgbClr val="4CAF50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389120" y="19842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937760" y="1892808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每个孩子的节奏不同，我们找到适合他的方法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2642616"/>
            <a:ext cx="3200400" cy="640080"/>
          </a:xfrm>
          <a:prstGeom prst="rect">
            <a:avLst/>
          </a:prstGeom>
          <a:solidFill>
            <a:srgbClr val="FFEBEE"/>
          </a:solidFill>
          <a:ln w="6350">
            <a:solidFill>
              <a:srgbClr val="E53935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548640" y="2734056"/>
            <a:ext cx="457200" cy="457200"/>
          </a:xfrm>
          <a:prstGeom prst="ellipse">
            <a:avLst/>
          </a:prstGeom>
          <a:solidFill>
            <a:srgbClr val="E53935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548640" y="27340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X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97280" y="2642616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62828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这是公司规定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749040" y="2642616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6B35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4297680" y="2642616"/>
            <a:ext cx="4389120" cy="640080"/>
          </a:xfrm>
          <a:prstGeom prst="rect">
            <a:avLst/>
          </a:prstGeom>
          <a:solidFill>
            <a:srgbClr val="E8F5E9"/>
          </a:solidFill>
          <a:ln w="6350">
            <a:solidFill>
              <a:srgbClr val="4CAF50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4389120" y="2734056"/>
            <a:ext cx="457200" cy="457200"/>
          </a:xfrm>
          <a:prstGeom prst="ellipse">
            <a:avLst/>
          </a:prstGeom>
          <a:solidFill>
            <a:srgbClr val="4CAF50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4389120" y="27340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937760" y="2642616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我来了解一下具体情况，给您一个满意的答复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3392424"/>
            <a:ext cx="3200400" cy="640080"/>
          </a:xfrm>
          <a:prstGeom prst="rect">
            <a:avLst/>
          </a:prstGeom>
          <a:solidFill>
            <a:srgbClr val="FFEBEE"/>
          </a:solidFill>
          <a:ln w="6350">
            <a:solidFill>
              <a:srgbClr val="E53935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548640" y="3483864"/>
            <a:ext cx="457200" cy="457200"/>
          </a:xfrm>
          <a:prstGeom prst="ellipse">
            <a:avLst/>
          </a:prstGeom>
          <a:solidFill>
            <a:srgbClr val="E53935"/>
          </a:solidFill>
          <a:ln/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548640" y="34838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X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097280" y="3392424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62828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你孩子基础差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749040" y="3392424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6B35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4297680" y="3392424"/>
            <a:ext cx="4389120" cy="640080"/>
          </a:xfrm>
          <a:prstGeom prst="rect">
            <a:avLst/>
          </a:prstGeom>
          <a:solidFill>
            <a:srgbClr val="E8F5E9"/>
          </a:solidFill>
          <a:ln w="6350">
            <a:solidFill>
              <a:srgbClr val="4CAF50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4389120" y="3483864"/>
            <a:ext cx="457200" cy="457200"/>
          </a:xfrm>
          <a:prstGeom prst="ellipse">
            <a:avLst/>
          </a:prstGeom>
          <a:solidFill>
            <a:srgbClr val="4CAF50"/>
          </a:solidFill>
          <a:ln/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4389120" y="34838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4937760" y="3392424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感谢您的建议，我们来看看怎样能做得更好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4142232"/>
            <a:ext cx="3200400" cy="640080"/>
          </a:xfrm>
          <a:prstGeom prst="rect">
            <a:avLst/>
          </a:prstGeom>
          <a:solidFill>
            <a:srgbClr val="FFEBEE"/>
          </a:solidFill>
          <a:ln w="6350">
            <a:solidFill>
              <a:srgbClr val="E53935"/>
            </a:solidFill>
            <a:prstDash val="solid"/>
          </a:ln>
        </p:spPr>
        <p:txBody>
          <a:bodyPr/>
          <a:p/>
        </p:txBody>
      </p:sp>
      <p:sp>
        <p:nvSpPr>
          <p:cNvPr id="44" name="Shape 42"/>
          <p:cNvSpPr/>
          <p:nvPr/>
        </p:nvSpPr>
        <p:spPr>
          <a:xfrm>
            <a:off x="548640" y="4233672"/>
            <a:ext cx="457200" cy="457200"/>
          </a:xfrm>
          <a:prstGeom prst="ellipse">
            <a:avLst/>
          </a:prstGeom>
          <a:solidFill>
            <a:srgbClr val="E53935"/>
          </a:solidFill>
          <a:ln/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548640" y="4233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X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1097280" y="4142232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62828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别人家孩子都报了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3749040" y="4142232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6B35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4297680" y="4142232"/>
            <a:ext cx="4389120" cy="640080"/>
          </a:xfrm>
          <a:prstGeom prst="rect">
            <a:avLst/>
          </a:prstGeom>
          <a:solidFill>
            <a:srgbClr val="E8F5E9"/>
          </a:solidFill>
          <a:ln w="6350">
            <a:solidFill>
              <a:srgbClr val="4CAF50"/>
            </a:solidFill>
            <a:prstDash val="solid"/>
          </a:ln>
        </p:spPr>
        <p:txBody>
          <a:bodyPr/>
          <a:p/>
        </p:txBody>
      </p:sp>
      <p:sp>
        <p:nvSpPr>
          <p:cNvPr id="49" name="Shape 47"/>
          <p:cNvSpPr/>
          <p:nvPr/>
        </p:nvSpPr>
        <p:spPr>
          <a:xfrm>
            <a:off x="4389120" y="4233672"/>
            <a:ext cx="457200" cy="457200"/>
          </a:xfrm>
          <a:prstGeom prst="ellipse">
            <a:avLst/>
          </a:prstGeom>
          <a:solidFill>
            <a:srgbClr val="4CAF50"/>
          </a:solidFill>
          <a:ln/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4389120" y="4233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4937760" y="4142232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我理解您的顾虑，让我帮您梳理一下关键信息</a:t>
            </a:r>
            <a:endParaRPr lang="en-US" sz="1000" dirty="0"/>
          </a:p>
        </p:txBody>
      </p:sp>
      <p:sp>
        <p:nvSpPr>
          <p:cNvPr id="52" name="Rectangle 51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Isosceles Triangle 52"/>
          <p:cNvSpPr/>
          <p:nvPr/>
        </p:nvSpPr>
        <p:spPr>
          <a:xfrm>
            <a:off x="8046720" y="0"/>
            <a:ext cx="1097280" cy="411480"/>
          </a:xfrm>
          <a:prstGeom prst="triangl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0" y="4371975"/>
            <a:ext cx="9144000" cy="771525"/>
          </a:xfrm>
          <a:prstGeom prst="rect">
            <a:avLst/>
          </a:prstGeom>
          <a:solidFill>
            <a:srgbClr val="14244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异议处理4步法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OBJECTION HANDLING - 4 Steps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503920" y="47777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1920240" cy="3200400"/>
          </a:xfrm>
          <a:prstGeom prst="rect">
            <a:avLst/>
          </a:prstGeom>
          <a:solidFill>
            <a:srgbClr val="1A2A50">
              <a:alpha val="70000"/>
            </a:srgbClr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57200" y="1188720"/>
            <a:ext cx="1920240" cy="5486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097280" y="1371600"/>
            <a:ext cx="640080" cy="64008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97280" y="1371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21031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倾听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4360" y="246888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认真听完家长的话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不急于反驳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用"嗯""我理解"回应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3703320"/>
            <a:ext cx="1554480" cy="320040"/>
          </a:xfrm>
          <a:prstGeom prst="rect">
            <a:avLst>
              <a:gd name="adj" fmla="val 14286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0080" y="37033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B35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让家长感受到被尊重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331720" y="228600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6B35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560320" y="1188720"/>
            <a:ext cx="1920240" cy="3200400"/>
          </a:xfrm>
          <a:prstGeom prst="rect">
            <a:avLst/>
          </a:prstGeom>
          <a:solidFill>
            <a:srgbClr val="1A2A50">
              <a:alpha val="70000"/>
            </a:srgbClr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2560320" y="1188720"/>
            <a:ext cx="1920240" cy="54864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3200400" y="13716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3200400" y="1371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560320" y="21031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认同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697480" y="246888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先认同家长的感受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"您说得有道理"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找到可以赞同的点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0" y="3703320"/>
            <a:ext cx="1554480" cy="320040"/>
          </a:xfrm>
          <a:prstGeom prst="rect">
            <a:avLst>
              <a:gd name="adj" fmla="val 14286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2743200" y="37033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降低对抗心理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434840" y="228600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6B35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4663440" y="1188720"/>
            <a:ext cx="1920240" cy="3200400"/>
          </a:xfrm>
          <a:prstGeom prst="rect">
            <a:avLst/>
          </a:prstGeom>
          <a:solidFill>
            <a:srgbClr val="1A2A50">
              <a:alpha val="70000"/>
            </a:srgbClr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4663440" y="1188720"/>
            <a:ext cx="1920240" cy="54864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5303520" y="1371600"/>
            <a:ext cx="640080" cy="640080"/>
          </a:xfrm>
          <a:prstGeom prst="ellipse">
            <a:avLst/>
          </a:prstGeom>
          <a:solidFill>
            <a:srgbClr val="4CAF50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5303520" y="1371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663440" y="21031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转化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800600" y="246888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用事实和数据回应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将异议转为购买理由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展示价值而非辩解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46320" y="3703320"/>
            <a:ext cx="1554480" cy="320040"/>
          </a:xfrm>
          <a:prstGeom prst="rect">
            <a:avLst>
              <a:gd name="adj" fmla="val 14286"/>
            </a:avLst>
          </a:prstGeom>
          <a:solidFill>
            <a:srgbClr val="4CAF50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4846320" y="37033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AF50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化阻力为动力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537960" y="228600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6B35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6766560" y="1188720"/>
            <a:ext cx="1920240" cy="3200400"/>
          </a:xfrm>
          <a:prstGeom prst="rect">
            <a:avLst/>
          </a:prstGeom>
          <a:solidFill>
            <a:srgbClr val="1A2A50">
              <a:alpha val="70000"/>
            </a:srgbClr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6766560" y="1188720"/>
            <a:ext cx="1920240" cy="54864"/>
          </a:xfrm>
          <a:prstGeom prst="rect">
            <a:avLst/>
          </a:prstGeom>
          <a:solidFill>
            <a:srgbClr val="9C27B0"/>
          </a:solidFill>
          <a:ln/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7406640" y="1371600"/>
            <a:ext cx="640080" cy="640080"/>
          </a:xfrm>
          <a:prstGeom prst="ellipse">
            <a:avLst/>
          </a:prstGeom>
          <a:solidFill>
            <a:srgbClr val="9C27B0"/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7406640" y="1371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766560" y="21031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确认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903720" y="246888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确认家长是否满意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引导下一步行动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"您看这样安排可以吗？"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949440" y="3703320"/>
            <a:ext cx="1554480" cy="320040"/>
          </a:xfrm>
          <a:prstGeom prst="rect">
            <a:avLst>
              <a:gd name="adj" fmla="val 14286"/>
            </a:avLst>
          </a:prstGeom>
          <a:solidFill>
            <a:srgbClr val="9C27B0"/>
          </a:solidFill>
          <a:ln/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6949440" y="37033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C27B0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推动成交落地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57200" y="4160520"/>
            <a:ext cx="8229600" cy="502920"/>
          </a:xfrm>
          <a:prstGeom prst="rect">
            <a:avLst>
              <a:gd name="adj" fmla="val 10909"/>
            </a:avLst>
          </a:prstGeom>
          <a:solidFill>
            <a:srgbClr val="FFF0E8"/>
          </a:solidFill>
          <a:ln/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640080" y="416052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F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4步标准化流程  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A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新人也能处理异议  </a:t>
            </a:r>
            <a:pPr indent="0" marL="0">
              <a:buNone/>
            </a:pPr>
            <a:r>
              <a:rPr lang="en-US" sz="1000" b="1" dirty="0">
                <a:solidFill>
                  <a:srgbClr val="4CAF50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B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异议转化率提升50%+</a:t>
            </a:r>
            <a:endParaRPr lang="en-US" sz="1000" dirty="0"/>
          </a:p>
        </p:txBody>
      </p:sp>
      <p:sp>
        <p:nvSpPr>
          <p:cNvPr id="44" name="Rectangle 43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0" y="4371975"/>
            <a:ext cx="9144000" cy="771525"/>
          </a:xfrm>
          <a:prstGeom prst="rect">
            <a:avLst/>
          </a:prstGeom>
          <a:solidFill>
            <a:srgbClr val="14244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价格异议处理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OBJECTION - "太贵了"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503920" y="47777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3931920" cy="3200400"/>
          </a:xfrm>
          <a:prstGeom prst="rect">
            <a:avLst/>
          </a:prstGeom>
          <a:solidFill>
            <a:srgbClr val="1A2A50">
              <a:alpha val="70000"/>
            </a:srgbClr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57200" y="1188720"/>
            <a:ext cx="3931920" cy="5486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13258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价值拆解法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35661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55448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Arial Black" pitchFamily="34" charset="-122"/>
                          <a:cs typeface="Arial Black" pitchFamily="34" charset="-120"/>
                        </a:rPr>
                        <a:t>项目</a:t>
                      </a:r>
                      <a:endParaRPr lang="en-US" sz="10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Arial Black" pitchFamily="34" charset="-122"/>
                          <a:cs typeface="Arial Black" pitchFamily="34" charset="-120"/>
                        </a:rPr>
                        <a:t>单次价值</a:t>
                      </a:r>
                      <a:endParaRPr lang="en-US" sz="10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Calibri" pitchFamily="34" charset="-122"/>
                          <a:cs typeface="Calibri" pitchFamily="34" charset="-120"/>
                        </a:rPr>
                        <a:t>专业教练指导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6B35"/>
                          </a:solidFill>
                          <a:latin typeface="微软雅黑" pitchFamily="34" charset="0"/>
                          <a:ea typeface="Calibri" pitchFamily="34" charset="-122"/>
                          <a:cs typeface="Calibri" pitchFamily="34" charset="-120"/>
                        </a:rPr>
                        <a:t>XX元/次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Calibri" pitchFamily="34" charset="-122"/>
                          <a:cs typeface="Calibri" pitchFamily="34" charset="-120"/>
                        </a:rPr>
                        <a:t>体测+成长报告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6B35"/>
                          </a:solidFill>
                          <a:latin typeface="微软雅黑" pitchFamily="34" charset="0"/>
                          <a:ea typeface="Calibri" pitchFamily="34" charset="-122"/>
                          <a:cs typeface="Calibri" pitchFamily="34" charset="-120"/>
                        </a:rPr>
                        <a:t>XX元/月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Calibri" pitchFamily="34" charset="-122"/>
                          <a:cs typeface="Calibri" pitchFamily="34" charset="-120"/>
                        </a:rPr>
                        <a:t>课后1对1反馈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6B35"/>
                          </a:solidFill>
                          <a:latin typeface="微软雅黑" pitchFamily="34" charset="0"/>
                          <a:ea typeface="Calibri" pitchFamily="34" charset="-122"/>
                          <a:cs typeface="Calibri" pitchFamily="34" charset="-120"/>
                        </a:rPr>
                        <a:t>XX元/次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Calibri" pitchFamily="34" charset="-122"/>
                          <a:cs typeface="Calibri" pitchFamily="34" charset="-120"/>
                        </a:rPr>
                        <a:t>运动装备+场地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6B35"/>
                          </a:solidFill>
                          <a:latin typeface="微软雅黑" pitchFamily="34" charset="0"/>
                          <a:ea typeface="Calibri" pitchFamily="34" charset="-122"/>
                          <a:cs typeface="Calibri" pitchFamily="34" charset="-120"/>
                        </a:rPr>
                        <a:t>XX元/月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640080" y="33832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合计单次成本仅 XX 元，远低于单独购买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54880" y="1188720"/>
            <a:ext cx="3931920" cy="1463040"/>
          </a:xfrm>
          <a:prstGeom prst="rect">
            <a:avLst/>
          </a:prstGeom>
          <a:solidFill>
            <a:srgbClr val="1A2A50">
              <a:alpha val="70000"/>
            </a:srgbClr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4754880" y="1188720"/>
            <a:ext cx="3931920" cy="54864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4937760" y="13258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对比法话术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937760" y="169164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"我特别理解您关注性价比。其实很多家长一开始也这么想，但后来发现——
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一节钢琴课也要200-300元，而我们的课程不仅锻炼身体，还培养孩子的自信心和团队意识。
</a:t>
            </a:r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健康是一辈子的投资，您说呢？"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754880" y="2834640"/>
            <a:ext cx="3931920" cy="1554480"/>
          </a:xfrm>
          <a:prstGeom prst="rect">
            <a:avLst/>
          </a:prstGeom>
          <a:solidFill>
            <a:srgbClr val="1A2A50">
              <a:alpha val="70000"/>
            </a:srgbClr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4754880" y="2834640"/>
            <a:ext cx="3931920" cy="1554480"/>
          </a:xfrm>
          <a:prstGeom prst="rect">
            <a:avLst/>
          </a:prstGeom>
          <a:solidFill>
            <a:srgbClr val="1A2A50">
              <a:alpha val="70000"/>
            </a:srgbClr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4892040" y="2971800"/>
            <a:ext cx="320040" cy="320040"/>
          </a:xfrm>
          <a:prstGeom prst="rect">
            <a:avLst>
              <a:gd name="adj" fmla="val 14286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4892040" y="2971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F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5303520" y="2944368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价值拆解+对比法，让价格变得具体可感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892040" y="3383280"/>
            <a:ext cx="320040" cy="320040"/>
          </a:xfrm>
          <a:prstGeom prst="rect">
            <a:avLst>
              <a:gd name="adj" fmla="val 14286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4892040" y="33832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5303520" y="3355848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家长从"贵"转变为"值得"，心理锚点改变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892040" y="3794760"/>
            <a:ext cx="320040" cy="320040"/>
          </a:xfrm>
          <a:prstGeom prst="rect">
            <a:avLst>
              <a:gd name="adj" fmla="val 14286"/>
            </a:avLst>
          </a:prstGeom>
          <a:solidFill>
            <a:srgbClr val="4CAF50"/>
          </a:solidFill>
          <a:ln/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4892040" y="3794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B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5303520" y="3767328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价格异议转化率提升60%，客单价不降反升</a:t>
            </a:r>
            <a:endParaRPr lang="en-US" sz="1100" dirty="0"/>
          </a:p>
        </p:txBody>
      </p:sp>
      <p:sp>
        <p:nvSpPr>
          <p:cNvPr id="27" name="Rectangle 26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0700000">
            <a:off x="182880" y="771525"/>
            <a:ext cx="731520" cy="1905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0700000">
            <a:off x="457200" y="1183005"/>
            <a:ext cx="914400" cy="2540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4371975"/>
            <a:ext cx="9144000" cy="771525"/>
          </a:xfrm>
          <a:prstGeom prst="rect">
            <a:avLst/>
          </a:prstGeom>
          <a:solidFill>
            <a:srgbClr val="14244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时间异议处理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OBJECTION - "没时间来"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503920" y="47777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3931920" cy="3200400"/>
          </a:xfrm>
          <a:prstGeom prst="rect">
            <a:avLst/>
          </a:prstGeom>
          <a:solidFill>
            <a:srgbClr val="1A2A50">
              <a:alpha val="70000"/>
            </a:srgbClr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57200" y="1188720"/>
            <a:ext cx="3931920" cy="5486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13258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灵活排课方案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1783080"/>
            <a:ext cx="73152" cy="45720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68680" y="1764792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多时段可选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1984248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工作日晚上 + 周末全天，总有一个适合您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2377440"/>
            <a:ext cx="73152" cy="45720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68680" y="2359152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补课机制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" y="2578608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因故缺席可申请补课，不浪费每一节课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2971800"/>
            <a:ext cx="73152" cy="45720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68680" y="2953512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短时高效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" y="3172968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60分钟精品小班，比大课效率高3倍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3566160"/>
            <a:ext cx="73152" cy="45720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68680" y="3547872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到家练习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8680" y="3767328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提供家庭练习方案，不在机构也能练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1188720"/>
            <a:ext cx="3931920" cy="1463040"/>
          </a:xfrm>
          <a:prstGeom prst="rect">
            <a:avLst/>
          </a:prstGeom>
          <a:solidFill>
            <a:srgbClr val="1A2A50">
              <a:alpha val="70000"/>
            </a:srgbClr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4754880" y="1188720"/>
            <a:ext cx="3931920" cy="54864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4937760" y="13258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到店率数据说话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937760" y="173736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B35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92%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937760" y="21488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学员平均到店率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217920" y="173736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B35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85%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217920" y="21488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忙碌家庭到店率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498080" y="173736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B35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3x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7498080" y="21488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短时课效率倍数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54880" y="2834640"/>
            <a:ext cx="3931920" cy="1554480"/>
          </a:xfrm>
          <a:prstGeom prst="rect">
            <a:avLst/>
          </a:prstGeom>
          <a:solidFill>
            <a:srgbClr val="1A2A50">
              <a:alpha val="70000"/>
            </a:srgbClr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4754880" y="2834640"/>
            <a:ext cx="3931920" cy="1554480"/>
          </a:xfrm>
          <a:prstGeom prst="rect">
            <a:avLst/>
          </a:prstGeom>
          <a:solidFill>
            <a:srgbClr val="1A2A50">
              <a:alpha val="70000"/>
            </a:srgbClr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4892040" y="2971800"/>
            <a:ext cx="320040" cy="320040"/>
          </a:xfrm>
          <a:prstGeom prst="rect">
            <a:avLst>
              <a:gd name="adj" fmla="val 14286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4892040" y="2971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F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303520" y="2944368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灵活排课+补课机制+家庭练习三位一体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892040" y="3383280"/>
            <a:ext cx="320040" cy="320040"/>
          </a:xfrm>
          <a:prstGeom prst="rect">
            <a:avLst>
              <a:gd name="adj" fmla="val 14286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4892040" y="33832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303520" y="3355848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92%到店率证明时间不是真正障碍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892040" y="3794760"/>
            <a:ext cx="320040" cy="320040"/>
          </a:xfrm>
          <a:prstGeom prst="rect">
            <a:avLst>
              <a:gd name="adj" fmla="val 14286"/>
            </a:avLst>
          </a:prstGeom>
          <a:solidFill>
            <a:srgbClr val="4CAF50"/>
          </a:solidFill>
          <a:ln/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4892040" y="3794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B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303520" y="3767328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家长从"没时间"到"挤也要来"，出勤率稳升</a:t>
            </a:r>
            <a:endParaRPr lang="en-US" sz="1100" dirty="0"/>
          </a:p>
        </p:txBody>
      </p:sp>
      <p:sp>
        <p:nvSpPr>
          <p:cNvPr id="42" name="Rectangle 41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0" y="4371975"/>
            <a:ext cx="9144000" cy="771525"/>
          </a:xfrm>
          <a:prstGeom prst="rect">
            <a:avLst/>
          </a:prstGeom>
          <a:solidFill>
            <a:srgbClr val="14244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伴侣异议处理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OBJECTION - "孩子爸爸不同意"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503920" y="47777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3931920" cy="3200400"/>
          </a:xfrm>
          <a:prstGeom prst="rect">
            <a:avLst/>
          </a:prstGeom>
          <a:solidFill>
            <a:srgbClr val="1A2A50">
              <a:alpha val="70000"/>
            </a:srgbClr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57200" y="1188720"/>
            <a:ext cx="3931920" cy="5486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13258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处理策略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1783080"/>
            <a:ext cx="320040" cy="32004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0080" y="1783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51560" y="17830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认同妈妈："您这么关心孩子的成长，爸爸一定也很欣慰"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2258568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0080" y="225856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51560" y="225856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了解顾虑："方便问一下，爸爸主要担心哪方面呢？"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2734056"/>
            <a:ext cx="320040" cy="320040"/>
          </a:xfrm>
          <a:prstGeom prst="ellipse">
            <a:avLst/>
          </a:prstGeom>
          <a:solidFill>
            <a:srgbClr val="4CAF50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40080" y="273405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51560" y="2734056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邀请体验："不如这周末带爸爸一起来体验一下？"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3209544"/>
            <a:ext cx="320040" cy="320040"/>
          </a:xfrm>
          <a:prstGeom prst="ellipse">
            <a:avLst/>
          </a:prstGeom>
          <a:solidFill>
            <a:srgbClr val="9C27B0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0080" y="320954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51560" y="3209544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数据说话：准备孩子训练数据对比，让事实说服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" y="3685032"/>
            <a:ext cx="320040" cy="320040"/>
          </a:xfrm>
          <a:prstGeom prst="ellipse">
            <a:avLst/>
          </a:prstGeom>
          <a:solidFill>
            <a:srgbClr val="E53935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40080" y="368503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51560" y="368503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家庭决策："教育是全家的事，我们一起为孩子规划"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1188720"/>
            <a:ext cx="3931920" cy="1371600"/>
          </a:xfrm>
          <a:prstGeom prst="rect">
            <a:avLst/>
          </a:prstGeom>
          <a:solidFill>
            <a:srgbClr val="1A2A50">
              <a:alpha val="70000"/>
            </a:srgbClr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4754880" y="1188720"/>
            <a:ext cx="3931920" cy="54864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4937760" y="13258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关键数据准备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937760" y="169164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1. 孩子训练前后体测对比数据
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2. 同龄学员成长案例（脱敏处理）
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3. 运动对学习成绩提升的研究数据
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4. 体验课邀请函（免费、无压力）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2743200"/>
            <a:ext cx="3931920" cy="1645920"/>
          </a:xfrm>
          <a:prstGeom prst="rect">
            <a:avLst/>
          </a:prstGeom>
          <a:solidFill>
            <a:srgbClr val="1A2A50">
              <a:alpha val="70000"/>
            </a:srgbClr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4754880" y="2743200"/>
            <a:ext cx="3931920" cy="1645920"/>
          </a:xfrm>
          <a:prstGeom prst="rect">
            <a:avLst/>
          </a:prstGeom>
          <a:solidFill>
            <a:srgbClr val="1A2A50">
              <a:alpha val="70000"/>
            </a:srgbClr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4892040" y="2880360"/>
            <a:ext cx="320040" cy="320040"/>
          </a:xfrm>
          <a:prstGeom prst="rect">
            <a:avLst>
              <a:gd name="adj" fmla="val 14286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4892040" y="2880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F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303520" y="2852928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邀请体验+数据说话，让决策者亲眼看到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892040" y="3291840"/>
            <a:ext cx="320040" cy="320040"/>
          </a:xfrm>
          <a:prstGeom prst="rect">
            <a:avLst>
              <a:gd name="adj" fmla="val 14286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4892040" y="32918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303520" y="3264408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不与伴侣对立，而是让他成为支持者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892040" y="3703320"/>
            <a:ext cx="320040" cy="320040"/>
          </a:xfrm>
          <a:prstGeom prst="rect">
            <a:avLst>
              <a:gd name="adj" fmla="val 14286"/>
            </a:avLst>
          </a:prstGeom>
          <a:solidFill>
            <a:srgbClr val="4CAF50"/>
          </a:solidFill>
          <a:ln/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4892040" y="37033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B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303520" y="3675888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家庭统一战线，续费率提升40%，转介绍增加</a:t>
            </a:r>
            <a:endParaRPr lang="en-US" sz="1100" dirty="0"/>
          </a:p>
        </p:txBody>
      </p:sp>
      <p:sp>
        <p:nvSpPr>
          <p:cNvPr id="40" name="Rectangle 39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0" y="4371975"/>
            <a:ext cx="9144000" cy="771525"/>
          </a:xfrm>
          <a:prstGeom prst="rect">
            <a:avLst/>
          </a:prstGeom>
          <a:solidFill>
            <a:srgbClr val="14244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本课要点回顾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503920" y="47777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3931920" cy="3200400"/>
          </a:xfrm>
          <a:prstGeom prst="rect">
            <a:avLst/>
          </a:prstGeom>
          <a:solidFill>
            <a:srgbClr val="1A2A50">
              <a:alpha val="70000"/>
            </a:srgbClr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57200" y="1188720"/>
            <a:ext cx="3931920" cy="5486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13258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沟通万能公式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1783080"/>
            <a:ext cx="73152" cy="36576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68680" y="1764792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F - 共情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1965960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理解家长感受，表达关心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2286000"/>
            <a:ext cx="73152" cy="3657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68680" y="2267712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A - 事实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" y="2468880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用数据和具体表现说话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2788920"/>
            <a:ext cx="73152" cy="365760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68680" y="2770632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B - 方案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" y="2971800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给出可执行的专业建议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3291840"/>
            <a:ext cx="73152" cy="365760"/>
          </a:xfrm>
          <a:prstGeom prst="rect">
            <a:avLst/>
          </a:prstGeom>
          <a:solidFill>
            <a:srgbClr val="9C27B0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68680" y="3273552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C - 行动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8680" y="3474720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明确下一步，双方确认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" y="38404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B35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沟通时效：课后2h | 提问4h | 投诉1h | 体测48h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54880" y="1188720"/>
            <a:ext cx="3931920" cy="3200400"/>
          </a:xfrm>
          <a:prstGeom prst="rect">
            <a:avLst/>
          </a:prstGeom>
          <a:solidFill>
            <a:srgbClr val="1A2A50">
              <a:alpha val="70000"/>
            </a:srgbClr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4754880" y="1188720"/>
            <a:ext cx="3931920" cy="54864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4937760" y="13258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4步异议处理法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937760" y="1783080"/>
            <a:ext cx="73152" cy="36576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5166360" y="1764792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1. 倾听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166360" y="1965960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认真听完，不急于反驳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937760" y="2286000"/>
            <a:ext cx="73152" cy="3657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5166360" y="2267712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2. 认同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166360" y="2468880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先认同感受，降低对抗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937760" y="2788920"/>
            <a:ext cx="73152" cy="365760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5166360" y="2770632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3. 转化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166360" y="2971800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用事实数据转化异议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937760" y="3291840"/>
            <a:ext cx="73152" cy="365760"/>
          </a:xfrm>
          <a:prstGeom prst="rect">
            <a:avLst/>
          </a:prstGeom>
          <a:solidFill>
            <a:srgbClr val="9C27B0"/>
          </a:solidFill>
          <a:ln/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5166360" y="3273552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4. 确认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166360" y="3474720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确认满意，推动行动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937760" y="38404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三大异议：价格拆解法 | 时间灵活排课 | 伴侣邀请体验</a:t>
            </a:r>
            <a:endParaRPr lang="en-US" sz="900" dirty="0"/>
          </a:p>
        </p:txBody>
      </p:sp>
      <p:sp>
        <p:nvSpPr>
          <p:cNvPr id="39" name="Rectangle 38"/>
          <p:cNvSpPr/>
          <p:nvPr/>
        </p:nvSpPr>
        <p:spPr>
          <a:xfrm rot="20700000">
            <a:off x="182880" y="771525"/>
            <a:ext cx="731520" cy="1905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 rot="20700000">
            <a:off x="457200" y="1183005"/>
            <a:ext cx="914400" cy="2540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48640" y="731520"/>
            <a:ext cx="73152" cy="365760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14400" y="7315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行动任务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914400" y="1325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8C5A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ACTION ITEMS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192024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1440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54480" y="192024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背诵沟通万能公式（共情→事实→方案→行动），本周内完成通关考核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260604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14400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54480" y="260604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选择2个场景话术，进行角色扮演练习，录音提交主管点评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" y="329184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91440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54480" y="329184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整理本周所有家长沟通记录，用4步异议处理法复盘至少1个案例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4400" y="397764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91440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554480" y="397764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禁用语清单贴在工作台，每日自查，连续7天零违规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45720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ABBCC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追光小牛  |  让每个孩子都闪闪发光</a:t>
            </a:r>
            <a:endParaRPr lang="en-US" sz="1200" dirty="0"/>
          </a:p>
        </p:txBody>
      </p:sp>
      <p:sp>
        <p:nvSpPr>
          <p:cNvPr id="20" name="Rectangle 19"/>
          <p:cNvSpPr/>
          <p:nvPr/>
        </p:nvSpPr>
        <p:spPr>
          <a:xfrm rot="20700000">
            <a:off x="182880" y="771525"/>
            <a:ext cx="731520" cy="1905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0700000">
            <a:off x="457200" y="1183005"/>
            <a:ext cx="914400" cy="2540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0700000">
            <a:off x="731520" y="1594485"/>
            <a:ext cx="1097280" cy="3175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Isosceles Triangle 22"/>
          <p:cNvSpPr/>
          <p:nvPr/>
        </p:nvSpPr>
        <p:spPr>
          <a:xfrm rot="10800000">
            <a:off x="0" y="4732020"/>
            <a:ext cx="731520" cy="411480"/>
          </a:xfrm>
          <a:prstGeom prst="triangl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追光小牛·销售培训 第六课：家长沟通与异议处理</dc:title>
  <dc:subject>PptxGenJS Presentation</dc:subject>
  <dc:creator>追光小牛</dc:creator>
  <cp:lastModifiedBy>追光小牛</cp:lastModifiedBy>
  <cp:revision>1</cp:revision>
  <dcterms:created xsi:type="dcterms:W3CDTF">2026-04-18T17:11:39Z</dcterms:created>
  <dcterms:modified xsi:type="dcterms:W3CDTF">2026-04-18T17:11:39Z</dcterms:modified>
</cp:coreProperties>
</file>