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3474720"/>
            <a:ext cx="12191695" cy="6400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E0CC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 · 销售培训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首次到店接待8步法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FFD4B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THE 8-STEP FIRST VISIT RECEPTION METHOD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389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第三课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标准化接待流程  ·  提升转化率  ·  打造极致体验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0" y="4754880"/>
            <a:ext cx="2133295" cy="3657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0" name="Rectangle 9"/>
          <p:cNvSpPr/>
          <p:nvPr/>
        </p:nvSpPr>
        <p:spPr>
          <a:xfrm rot="20700000">
            <a:off x="243840" y="1028700"/>
            <a:ext cx="97536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0700000">
            <a:off x="609600" y="1577339"/>
            <a:ext cx="12192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700000">
            <a:off x="975360" y="2125980"/>
            <a:ext cx="1463040" cy="317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0700000">
            <a:off x="1341120" y="2674620"/>
            <a:ext cx="1706880" cy="381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>
            <a:off x="10728960" y="0"/>
            <a:ext cx="1463040" cy="548640"/>
          </a:xfrm>
          <a:prstGeom prst="triangl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10800000">
            <a:off x="0" y="6309360"/>
            <a:ext cx="975360" cy="548640"/>
          </a:xfrm>
          <a:prstGeom prst="triangl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rc 15"/>
          <p:cNvSpPr/>
          <p:nvPr/>
        </p:nvSpPr>
        <p:spPr>
          <a:xfrm>
            <a:off x="9997440" y="685800"/>
            <a:ext cx="2438400" cy="2057400"/>
          </a:xfrm>
          <a:prstGeom prst="arc">
            <a:avLst/>
          </a:prstGeom>
          <a:noFill/>
          <a:ln w="25400">
            <a:solidFill>
              <a:srgbClr val="FF6B35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652260"/>
            <a:ext cx="12192000" cy="2057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课程目录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E0CC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1430000" y="320040"/>
            <a:ext cx="365760" cy="365760"/>
          </a:xfrm>
          <a:prstGeom prst="rect">
            <a:avLst>
              <a:gd name="adj" fmla="val 12500"/>
            </a:avLst>
          </a:prstGeom>
          <a:solidFill>
            <a:srgbClr val="1A2A50">
              <a:alpha val="70000"/>
            </a:srgbClr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6492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 · 销售培训  |  第 2 / 16 页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到店前准备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2286000" cy="3657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48640" y="274320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为什么接待如此重要</a:t>
            </a:r>
            <a:pPr indent="0" marL="0">
              <a:lnSpc>
                <a:spcPct val="140000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Step 1 预约确认</a:t>
            </a:r>
            <a:pPr indent="0" marL="0">
              <a:lnSpc>
                <a:spcPct val="140000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Step 2 建立三方服务群</a:t>
            </a:r>
            <a:pPr indent="0" marL="0">
              <a:lnSpc>
                <a:spcPct val="140000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Step 3 到访前1天确认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0" y="137160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389120" y="2011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到店接待流程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389120" y="2514600"/>
            <a:ext cx="2286000" cy="36576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389120" y="274320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Step 4 到店迎接与签到</a:t>
            </a:r>
            <a:pPr indent="0" marL="0">
              <a:lnSpc>
                <a:spcPct val="140000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Step 5 体验课</a:t>
            </a:r>
            <a:pPr indent="0" marL="0">
              <a:lnSpc>
                <a:spcPct val="140000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Step 6 课后反馈与方案推荐</a:t>
            </a:r>
            <a:pPr indent="0" marL="0">
              <a:lnSpc>
                <a:spcPct val="140000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Step 7 成交或跟进</a:t>
            </a:r>
            <a:pPr indent="0" marL="0">
              <a:lnSpc>
                <a:spcPct val="140000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Step 8 成交交接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0" y="137160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CC71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229600" y="2011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未签单跟进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229600" y="2514600"/>
            <a:ext cx="2286000" cy="36576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229600" y="274320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未签单跟进节奏</a:t>
            </a:r>
            <a:pPr indent="0" marL="0">
              <a:lnSpc>
                <a:spcPct val="140000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关键指标</a:t>
            </a:r>
            <a:pPr indent="0" marL="0">
              <a:lnSpc>
                <a:spcPct val="140000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常见错误</a:t>
            </a:r>
            <a:pPr indent="0" marL="0">
              <a:lnSpc>
                <a:spcPct val="140000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本课要点回顾</a:t>
            </a:r>
            <a:endParaRPr lang="en-US" sz="1100" dirty="0"/>
          </a:p>
        </p:txBody>
      </p:sp>
      <p:sp>
        <p:nvSpPr>
          <p:cNvPr id="20" name="Rectangle 19"/>
          <p:cNvSpPr/>
          <p:nvPr/>
        </p:nvSpPr>
        <p:spPr>
          <a:xfrm rot="20700000">
            <a:off x="243840" y="1028700"/>
            <a:ext cx="97536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0700000">
            <a:off x="609600" y="1577339"/>
            <a:ext cx="12192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>
            <a:off x="10728960" y="0"/>
            <a:ext cx="1463040" cy="548640"/>
          </a:xfrm>
          <a:prstGeom prst="triangl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为什么接待如此重要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E0CC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WHY FIRST IMPRESSION MATTERS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1430000" y="320040"/>
            <a:ext cx="365760" cy="365760"/>
          </a:xfrm>
          <a:prstGeom prst="rect">
            <a:avLst>
              <a:gd name="adj" fmla="val 12500"/>
            </a:avLst>
          </a:prstGeom>
          <a:solidFill>
            <a:srgbClr val="1A2A50">
              <a:alpha val="70000"/>
            </a:srgbClr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6492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 · 销售培训  |  第 3 / 16 页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5790895" cy="640080"/>
          </a:xfrm>
          <a:prstGeom prst="roundRect">
            <a:avLst>
              <a:gd name="adj" fmla="val 14286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200400" y="1188720"/>
            <a:ext cx="5790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第一印象决定 70% 的成交率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3474720" cy="365760"/>
          </a:xfrm>
          <a:prstGeom prst="rect">
            <a:avLst>
              <a:gd name="adj" fmla="val 125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48640" y="2103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F 特性 Feature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468880"/>
            <a:ext cx="3474720" cy="3474720"/>
          </a:xfrm>
          <a:prstGeom prst="rect">
            <a:avLst>
              <a:gd name="adj" fmla="val 2105"/>
            </a:avLst>
          </a:prstGeom>
          <a:solidFill>
            <a:srgbClr val="1A2A50">
              <a:alpha val="70000"/>
            </a:srgbClr>
          </a:solidFill>
          <a:ln w="1905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85800" y="2560320"/>
            <a:ext cx="3200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客户到店前7秒形成第一印象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接待流程是客户体验的起点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标准化流程覆盖全触点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从预约到成交的完整链路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97680" y="2103120"/>
            <a:ext cx="3474720" cy="365760"/>
          </a:xfrm>
          <a:prstGeom prst="rect">
            <a:avLst>
              <a:gd name="adj" fmla="val 125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297680" y="2103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A 优势 Advantage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97680" y="2468880"/>
            <a:ext cx="3474720" cy="3474720"/>
          </a:xfrm>
          <a:prstGeom prst="rect">
            <a:avLst>
              <a:gd name="adj" fmla="val 2105"/>
            </a:avLst>
          </a:prstGeom>
          <a:solidFill>
            <a:srgbClr val="1A2A50">
              <a:alpha val="70000"/>
            </a:srgbClr>
          </a:solidFill>
          <a:ln w="190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434840" y="2560320"/>
            <a:ext cx="3200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消除个人能力差异，人人可复制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确保每位客户获得一致的高品质服务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减少因流程疏漏导致的客户流失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团队协作明确，顾问与教练配合默契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46720" y="2103120"/>
            <a:ext cx="3474720" cy="365760"/>
          </a:xfrm>
          <a:prstGeom prst="rect">
            <a:avLst>
              <a:gd name="adj" fmla="val 12500"/>
            </a:avLst>
          </a:prstGeom>
          <a:solidFill>
            <a:srgbClr val="2ECC71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046720" y="2103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B 利益 Benefit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46720" y="2468880"/>
            <a:ext cx="3474720" cy="3474720"/>
          </a:xfrm>
          <a:prstGeom prst="rect">
            <a:avLst>
              <a:gd name="adj" fmla="val 2105"/>
            </a:avLst>
          </a:prstGeom>
          <a:solidFill>
            <a:srgbClr val="1A2A50">
              <a:alpha val="70000"/>
            </a:srgbClr>
          </a:solidFill>
          <a:ln w="19050">
            <a:solidFill>
              <a:srgbClr val="2ECC71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183880" y="2560320"/>
            <a:ext cx="3200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新人也能做出老销售的效果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客户信任度显著提升，签单更顺畅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体验到店率提升至80%以上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转化率稳定在30%-50%区间</a:t>
            </a:r>
            <a:endParaRPr lang="en-US" sz="1050" dirty="0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0700000">
            <a:off x="243840" y="1028700"/>
            <a:ext cx="97536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0700000">
            <a:off x="609600" y="1577339"/>
            <a:ext cx="12192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829300"/>
            <a:ext cx="12192000" cy="1028700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Step 1: 预约确认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E0CC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时间要求：获取线索后2小时内完成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1430000" y="320040"/>
            <a:ext cx="365760" cy="365760"/>
          </a:xfrm>
          <a:prstGeom prst="rect">
            <a:avLst>
              <a:gd name="adj" fmla="val 12500"/>
            </a:avLst>
          </a:prstGeom>
          <a:solidFill>
            <a:srgbClr val="1A2A50">
              <a:alpha val="70000"/>
            </a:srgbClr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6492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 · 销售培训  |  第 4 / 16 页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11887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预约确认（2小时内）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2011680"/>
            <a:ext cx="3474720" cy="365760"/>
          </a:xfrm>
          <a:prstGeom prst="rect">
            <a:avLst>
              <a:gd name="adj" fmla="val 125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4864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F 特性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377440"/>
            <a:ext cx="3474720" cy="2194560"/>
          </a:xfrm>
          <a:prstGeom prst="rect">
            <a:avLst>
              <a:gd name="adj" fmla="val 3333"/>
            </a:avLst>
          </a:prstGeom>
          <a:solidFill>
            <a:srgbClr val="1A2A50">
              <a:alpha val="70000"/>
            </a:srgbClr>
          </a:solidFill>
          <a:ln w="1905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85800" y="246888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获取线索后2小时内电话确认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确认体验时间、孩子年龄、运动基础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了解家长核心需求与期望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记录到CRM系统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97680" y="2011680"/>
            <a:ext cx="3474720" cy="365760"/>
          </a:xfrm>
          <a:prstGeom prst="rect">
            <a:avLst>
              <a:gd name="adj" fmla="val 125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29768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A 优势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97680" y="2377440"/>
            <a:ext cx="3474720" cy="2194560"/>
          </a:xfrm>
          <a:prstGeom prst="rect">
            <a:avLst>
              <a:gd name="adj" fmla="val 3333"/>
            </a:avLst>
          </a:prstGeom>
          <a:solidFill>
            <a:srgbClr val="1A2A50">
              <a:alpha val="70000"/>
            </a:srgbClr>
          </a:solidFill>
          <a:ln w="190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434840" y="246888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快速响应体现专业度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提前了解客户，到店沟通更高效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减少爽约率，提升到店率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为教练提前准备提供信息支持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46720" y="2011680"/>
            <a:ext cx="3474720" cy="365760"/>
          </a:xfrm>
          <a:prstGeom prst="rect">
            <a:avLst>
              <a:gd name="adj" fmla="val 12500"/>
            </a:avLst>
          </a:prstGeom>
          <a:solidFill>
            <a:srgbClr val="2ECC71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04672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B 利益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46720" y="2377440"/>
            <a:ext cx="3474720" cy="2194560"/>
          </a:xfrm>
          <a:prstGeom prst="rect">
            <a:avLst>
              <a:gd name="adj" fmla="val 3333"/>
            </a:avLst>
          </a:prstGeom>
          <a:solidFill>
            <a:srgbClr val="1A2A50">
              <a:alpha val="70000"/>
            </a:srgbClr>
          </a:solidFill>
          <a:ln w="19050">
            <a:solidFill>
              <a:srgbClr val="2ECC71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183880" y="246888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客户感受到被重视，信任感倍增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到店率提升15%-20%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为后续成交奠定良好基础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减少无效到店，提升转化效率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754880"/>
            <a:ext cx="11094415" cy="1280160"/>
          </a:xfrm>
          <a:prstGeom prst="roundRect">
            <a:avLst>
              <a:gd name="adj" fmla="val 10714"/>
            </a:avLst>
          </a:prstGeom>
          <a:solidFill>
            <a:srgbClr val="FFE8DD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5800" y="484632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话术示例："XX妈妈您好，我是追光小牛的课程顾问XX。感谢您关注我们！了解到宝宝今年X岁，想体验体操课程。我们本周六上午10点有一节体验课，由我们的XX教练带课，非常适合X岁的小朋友。您看这个时间方便吗？"</a:t>
            </a:r>
            <a:endParaRPr lang="en-US" sz="1000" dirty="0"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829300"/>
            <a:ext cx="12192000" cy="1028700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Step 2: 建立三方服务群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E0CC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时间要求：预约确认后4小时内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1430000" y="320040"/>
            <a:ext cx="365760" cy="365760"/>
          </a:xfrm>
          <a:prstGeom prst="rect">
            <a:avLst>
              <a:gd name="adj" fmla="val 12500"/>
            </a:avLst>
          </a:prstGeom>
          <a:solidFill>
            <a:srgbClr val="1A2A50">
              <a:alpha val="70000"/>
            </a:srgbClr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6492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 · 销售培训  |  第 5 / 16 页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11887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建立三方服务群（4小时内）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2011680"/>
            <a:ext cx="3474720" cy="365760"/>
          </a:xfrm>
          <a:prstGeom prst="rect">
            <a:avLst>
              <a:gd name="adj" fmla="val 125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4864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F 特性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377440"/>
            <a:ext cx="3474720" cy="2194560"/>
          </a:xfrm>
          <a:prstGeom prst="rect">
            <a:avLst>
              <a:gd name="adj" fmla="val 3333"/>
            </a:avLst>
          </a:prstGeom>
          <a:solidFill>
            <a:srgbClr val="1A2A50">
              <a:alpha val="70000"/>
            </a:srgbClr>
          </a:solidFill>
          <a:ln w="1905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85800" y="246888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建立微信群：顾问+教练+家长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群名格式：追光小牛-孩子姓名-体验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群内发送到店须知和注意事项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教练提前了解孩子基本信息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97680" y="2011680"/>
            <a:ext cx="3474720" cy="365760"/>
          </a:xfrm>
          <a:prstGeom prst="rect">
            <a:avLst>
              <a:gd name="adj" fmla="val 125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29768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A 优势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97680" y="2377440"/>
            <a:ext cx="3474720" cy="2194560"/>
          </a:xfrm>
          <a:prstGeom prst="rect">
            <a:avLst>
              <a:gd name="adj" fmla="val 3333"/>
            </a:avLst>
          </a:prstGeom>
          <a:solidFill>
            <a:srgbClr val="1A2A50">
              <a:alpha val="70000"/>
            </a:srgbClr>
          </a:solidFill>
          <a:ln w="190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434840" y="246888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三方信息同步，沟通零延迟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家长有问题随时可问，体验感好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教练提前准备个性化教学方案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体现团队协作的专业形象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46720" y="2011680"/>
            <a:ext cx="3474720" cy="365760"/>
          </a:xfrm>
          <a:prstGeom prst="rect">
            <a:avLst>
              <a:gd name="adj" fmla="val 12500"/>
            </a:avLst>
          </a:prstGeom>
          <a:solidFill>
            <a:srgbClr val="2ECC71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04672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B 利益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46720" y="2377440"/>
            <a:ext cx="3474720" cy="2194560"/>
          </a:xfrm>
          <a:prstGeom prst="rect">
            <a:avLst>
              <a:gd name="adj" fmla="val 3333"/>
            </a:avLst>
          </a:prstGeom>
          <a:solidFill>
            <a:srgbClr val="1A2A50">
              <a:alpha val="70000"/>
            </a:srgbClr>
          </a:solidFill>
          <a:ln w="19050">
            <a:solidFill>
              <a:srgbClr val="2ECC71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183880" y="246888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家长安全感大幅提升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孩子获得更贴合的体验课内容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群内互动增加信任，促进成交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为后续长期服务建立沟通基础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754880"/>
            <a:ext cx="11094415" cy="1280160"/>
          </a:xfrm>
          <a:prstGeom prst="roundRect">
            <a:avLst>
              <a:gd name="adj" fmla="val 10714"/>
            </a:avLst>
          </a:prstGeom>
          <a:solidFill>
            <a:srgbClr val="FFE8DD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5800" y="484632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群内首条消息示例："XX妈妈好！我是XX的体验课教练XX。非常期待周六和宝宝见面！稍后我会发一些到店小贴士给您，有任何问题随时在群里沟通哦~"</a:t>
            </a:r>
            <a:endParaRPr lang="en-US" sz="1000" dirty="0"/>
          </a:p>
        </p:txBody>
      </p:sp>
      <p:sp>
        <p:nvSpPr>
          <p:cNvPr id="25" name="Rectangle 24"/>
          <p:cNvSpPr/>
          <p:nvPr/>
        </p:nvSpPr>
        <p:spPr>
          <a:xfrm rot="20700000">
            <a:off x="243840" y="1028700"/>
            <a:ext cx="97536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0700000">
            <a:off x="609600" y="1577339"/>
            <a:ext cx="12192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0700000">
            <a:off x="975360" y="2125980"/>
            <a:ext cx="1463040" cy="317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0700000">
            <a:off x="1341120" y="2674620"/>
            <a:ext cx="1706880" cy="381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>
            <a:off x="10728960" y="0"/>
            <a:ext cx="1463040" cy="548640"/>
          </a:xfrm>
          <a:prstGeom prst="triangl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sosceles Triangle 29"/>
          <p:cNvSpPr/>
          <p:nvPr/>
        </p:nvSpPr>
        <p:spPr>
          <a:xfrm rot="10800000">
            <a:off x="0" y="6309360"/>
            <a:ext cx="975360" cy="548640"/>
          </a:xfrm>
          <a:prstGeom prst="triangl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rc 30"/>
          <p:cNvSpPr/>
          <p:nvPr/>
        </p:nvSpPr>
        <p:spPr>
          <a:xfrm>
            <a:off x="9997440" y="685800"/>
            <a:ext cx="2438400" cy="2057400"/>
          </a:xfrm>
          <a:prstGeom prst="arc">
            <a:avLst/>
          </a:prstGeom>
          <a:noFill/>
          <a:ln w="25400">
            <a:solidFill>
              <a:srgbClr val="FF6B35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6652260"/>
            <a:ext cx="12192000" cy="2057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Step 3: 到访前1天确认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E0CC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时间要求：体验课前1天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1430000" y="320040"/>
            <a:ext cx="365760" cy="365760"/>
          </a:xfrm>
          <a:prstGeom prst="rect">
            <a:avLst>
              <a:gd name="adj" fmla="val 12500"/>
            </a:avLst>
          </a:prstGeom>
          <a:solidFill>
            <a:srgbClr val="1A2A50">
              <a:alpha val="70000"/>
            </a:srgbClr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6492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 · 销售培训  |  第 6 / 16 页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11887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到访前1天确认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2011680"/>
            <a:ext cx="3474720" cy="365760"/>
          </a:xfrm>
          <a:prstGeom prst="rect">
            <a:avLst>
              <a:gd name="adj" fmla="val 125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4864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F 特性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377440"/>
            <a:ext cx="3474720" cy="2194560"/>
          </a:xfrm>
          <a:prstGeom prst="rect">
            <a:avLst>
              <a:gd name="adj" fmla="val 3333"/>
            </a:avLst>
          </a:prstGeom>
          <a:solidFill>
            <a:srgbClr val="1A2A50">
              <a:alpha val="70000"/>
            </a:srgbClr>
          </a:solidFill>
          <a:ln w="1905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85800" y="246888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电话或微信确认到店时间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提醒着装要求（运动服+室内鞋）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发送场馆地址和停车指引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确认是否有特殊需求（过敏/伤病）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97680" y="2011680"/>
            <a:ext cx="3474720" cy="365760"/>
          </a:xfrm>
          <a:prstGeom prst="rect">
            <a:avLst>
              <a:gd name="adj" fmla="val 125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29768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A 优势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97680" y="2377440"/>
            <a:ext cx="3474720" cy="2194560"/>
          </a:xfrm>
          <a:prstGeom prst="rect">
            <a:avLst>
              <a:gd name="adj" fmla="val 3333"/>
            </a:avLst>
          </a:prstGeom>
          <a:solidFill>
            <a:srgbClr val="1A2A50">
              <a:alpha val="70000"/>
            </a:srgbClr>
          </a:solidFill>
          <a:ln w="190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434840" y="246888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再次降低爽约风险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家长准备充分，体验更顺畅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体现细致入微的服务态度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避免因信息缺失影响体验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46720" y="2011680"/>
            <a:ext cx="3474720" cy="365760"/>
          </a:xfrm>
          <a:prstGeom prst="rect">
            <a:avLst>
              <a:gd name="adj" fmla="val 12500"/>
            </a:avLst>
          </a:prstGeom>
          <a:solidFill>
            <a:srgbClr val="2ECC71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04672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B 利益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46720" y="2377440"/>
            <a:ext cx="3474720" cy="2194560"/>
          </a:xfrm>
          <a:prstGeom prst="rect">
            <a:avLst>
              <a:gd name="adj" fmla="val 3333"/>
            </a:avLst>
          </a:prstGeom>
          <a:solidFill>
            <a:srgbClr val="1A2A50">
              <a:alpha val="70000"/>
            </a:srgbClr>
          </a:solidFill>
          <a:ln w="19050">
            <a:solidFill>
              <a:srgbClr val="2ECC71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183880" y="246888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到店率再提升10%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客户感受到被用心对待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减少到店后的手忙脚乱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专业印象进一步加深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754880"/>
            <a:ext cx="11094415" cy="1280160"/>
          </a:xfrm>
          <a:prstGeom prst="roundRect">
            <a:avLst>
              <a:gd name="adj" fmla="val 10714"/>
            </a:avLst>
          </a:prstGeom>
          <a:solidFill>
            <a:srgbClr val="FFE8DD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5800" y="484632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话术示例："XX妈妈您好，明天上午10点的体验课，提醒您给宝宝穿舒适的运动服和室内运动鞋。我们场馆在XX商场B1层，从XX门进电梯直达。停车可以停在XX停车场。有任何问题随时联系我哦！"</a:t>
            </a:r>
            <a:endParaRPr lang="en-US" sz="1000" dirty="0"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0700000">
            <a:off x="243840" y="1028700"/>
            <a:ext cx="97536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0700000">
            <a:off x="609600" y="1577339"/>
            <a:ext cx="12192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829300"/>
            <a:ext cx="12192000" cy="1028700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Step 4: 到店迎接与签到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E0CC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时间要求：5分钟内完成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1430000" y="320040"/>
            <a:ext cx="365760" cy="365760"/>
          </a:xfrm>
          <a:prstGeom prst="rect">
            <a:avLst>
              <a:gd name="adj" fmla="val 12500"/>
            </a:avLst>
          </a:prstGeom>
          <a:solidFill>
            <a:srgbClr val="1A2A50">
              <a:alpha val="70000"/>
            </a:srgbClr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6492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 · 销售培训  |  第 7 / 16 页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11887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到店迎接与签到（5分钟内）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2011680"/>
            <a:ext cx="3474720" cy="365760"/>
          </a:xfrm>
          <a:prstGeom prst="rect">
            <a:avLst>
              <a:gd name="adj" fmla="val 125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4864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F 特性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377440"/>
            <a:ext cx="3474720" cy="2194560"/>
          </a:xfrm>
          <a:prstGeom prst="rect">
            <a:avLst>
              <a:gd name="adj" fmla="val 3333"/>
            </a:avLst>
          </a:prstGeom>
          <a:solidFill>
            <a:srgbClr val="1A2A50">
              <a:alpha val="70000"/>
            </a:srgbClr>
          </a:solidFill>
          <a:ln w="1905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85800" y="246888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提前5分钟在门口等候迎接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引导签到，发放体验名牌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简短环境介绍（更衣室/观课区/饮水区）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自然沟通了解孩子近期状态和兴趣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97680" y="2011680"/>
            <a:ext cx="3474720" cy="365760"/>
          </a:xfrm>
          <a:prstGeom prst="rect">
            <a:avLst>
              <a:gd name="adj" fmla="val 125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29768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A 优势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97680" y="2377440"/>
            <a:ext cx="3474720" cy="2194560"/>
          </a:xfrm>
          <a:prstGeom prst="rect">
            <a:avLst>
              <a:gd name="adj" fmla="val 3333"/>
            </a:avLst>
          </a:prstGeom>
          <a:solidFill>
            <a:srgbClr val="1A2A50">
              <a:alpha val="70000"/>
            </a:srgbClr>
          </a:solidFill>
          <a:ln w="190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434840" y="246888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第一时间消除陌生感和紧张感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家长和孩子快速熟悉环境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获取更多个性化信息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为教练提供最新观察要点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46720" y="2011680"/>
            <a:ext cx="3474720" cy="365760"/>
          </a:xfrm>
          <a:prstGeom prst="rect">
            <a:avLst>
              <a:gd name="adj" fmla="val 12500"/>
            </a:avLst>
          </a:prstGeom>
          <a:solidFill>
            <a:srgbClr val="2ECC71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04672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B 利益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46720" y="2377440"/>
            <a:ext cx="3474720" cy="2194560"/>
          </a:xfrm>
          <a:prstGeom prst="rect">
            <a:avLst>
              <a:gd name="adj" fmla="val 3333"/>
            </a:avLst>
          </a:prstGeom>
          <a:solidFill>
            <a:srgbClr val="1A2A50">
              <a:alpha val="70000"/>
            </a:srgbClr>
          </a:solidFill>
          <a:ln w="19050">
            <a:solidFill>
              <a:srgbClr val="2ECC71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183880" y="246888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孩子放松心情，体验效果更好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家长感受到被尊重和重视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自然聊天中挖掘深层需求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为课后沟通积累素材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754880"/>
            <a:ext cx="11094415" cy="1280160"/>
          </a:xfrm>
          <a:prstGeom prst="roundRect">
            <a:avLst>
              <a:gd name="adj" fmla="val 10714"/>
            </a:avLst>
          </a:prstGeom>
          <a:solidFill>
            <a:srgbClr val="FFE8DD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5800" y="484632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话术示例："XX妈妈、XX宝贝欢迎来到追光小牛！我是课程顾问XX姐姐。来，先给宝宝贴上专属名牌~ 更衣室在这边，饮水区在那边。XX宝贝平时喜欢做什么运动呀？"</a:t>
            </a:r>
            <a:endParaRPr lang="en-US" sz="1000" dirty="0"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829300"/>
            <a:ext cx="12192000" cy="1028700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Step 5: 体验课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E0CC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时间要求：45-60分钟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1430000" y="320040"/>
            <a:ext cx="365760" cy="365760"/>
          </a:xfrm>
          <a:prstGeom prst="rect">
            <a:avLst>
              <a:gd name="adj" fmla="val 12500"/>
            </a:avLst>
          </a:prstGeom>
          <a:solidFill>
            <a:srgbClr val="1A2A50">
              <a:alpha val="70000"/>
            </a:srgbClr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6492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 · 销售培训  |  第 8 / 16 页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11887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体验课（45-60分钟）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2011680"/>
            <a:ext cx="3474720" cy="365760"/>
          </a:xfrm>
          <a:prstGeom prst="rect">
            <a:avLst>
              <a:gd name="adj" fmla="val 125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4864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F 特性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377440"/>
            <a:ext cx="3474720" cy="2194560"/>
          </a:xfrm>
          <a:prstGeom prst="rect">
            <a:avLst>
              <a:gd name="adj" fmla="val 3333"/>
            </a:avLst>
          </a:prstGeom>
          <a:solidFill>
            <a:srgbClr val="1A2A50">
              <a:alpha val="70000"/>
            </a:srgbClr>
          </a:solidFill>
          <a:ln w="1905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85800" y="246888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教练主导体验课教学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顾问全程旁听并记录观察要点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课程包含：热身+技能体验+体能游戏+放松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关注孩子的参与度、协调性、社交表现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97680" y="2011680"/>
            <a:ext cx="3474720" cy="365760"/>
          </a:xfrm>
          <a:prstGeom prst="rect">
            <a:avLst>
              <a:gd name="adj" fmla="val 125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29768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A 优势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97680" y="2377440"/>
            <a:ext cx="3474720" cy="2194560"/>
          </a:xfrm>
          <a:prstGeom prst="rect">
            <a:avLst>
              <a:gd name="adj" fmla="val 3333"/>
            </a:avLst>
          </a:prstGeom>
          <a:solidFill>
            <a:srgbClr val="1A2A50">
              <a:alpha val="70000"/>
            </a:srgbClr>
          </a:solidFill>
          <a:ln w="190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434840" y="246888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教练展示专业教学能力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顾问收集第一手观察数据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课程设计兼顾趣味性和专业性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多维度评估孩子运动潜力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46720" y="2011680"/>
            <a:ext cx="3474720" cy="365760"/>
          </a:xfrm>
          <a:prstGeom prst="rect">
            <a:avLst>
              <a:gd name="adj" fmla="val 12500"/>
            </a:avLst>
          </a:prstGeom>
          <a:solidFill>
            <a:srgbClr val="2ECC71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04672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B 利益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46720" y="2377440"/>
            <a:ext cx="3474720" cy="2194560"/>
          </a:xfrm>
          <a:prstGeom prst="rect">
            <a:avLst>
              <a:gd name="adj" fmla="val 3333"/>
            </a:avLst>
          </a:prstGeom>
          <a:solidFill>
            <a:srgbClr val="1A2A50">
              <a:alpha val="70000"/>
            </a:srgbClr>
          </a:solidFill>
          <a:ln w="19050">
            <a:solidFill>
              <a:srgbClr val="2ECC71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183880" y="246888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孩子享受运动，爱上体操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家长亲眼看到孩子的进步和潜力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顾问有真实素材进行课后推荐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体验课本身就是最好的销售工具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754880"/>
            <a:ext cx="11094415" cy="1280160"/>
          </a:xfrm>
          <a:prstGeom prst="roundRect">
            <a:avLst>
              <a:gd name="adj" fmla="val 7143"/>
            </a:avLst>
          </a:prstGeom>
          <a:solidFill>
            <a:srgbClr val="E8EDF8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31520" y="4846320"/>
            <a:ext cx="1072865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顾问旁听记录要点：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孩子的运动基础 / 专注力时长 / 与教练互动情况 / 害羞或开朗 / 家长在旁的关注点 / 哪个环节孩子最开心</a:t>
            </a:r>
            <a:endParaRPr lang="en-US" sz="1100" dirty="0"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829300"/>
            <a:ext cx="12192000" cy="1028700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Step 6: 课后反馈与方案推荐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E0CC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时间要求：10分钟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1430000" y="320040"/>
            <a:ext cx="365760" cy="365760"/>
          </a:xfrm>
          <a:prstGeom prst="rect">
            <a:avLst>
              <a:gd name="adj" fmla="val 12500"/>
            </a:avLst>
          </a:prstGeom>
          <a:solidFill>
            <a:srgbClr val="1A2A50">
              <a:alpha val="70000"/>
            </a:srgbClr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6492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 · 销售培训  |  第 9 / 16 页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11887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课后反馈与方案推荐（10分钟）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201168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E8EDF8"/>
          </a:solidFill>
          <a:ln w="1905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2103120"/>
            <a:ext cx="49377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教练反馈（3分钟）
</a:t>
            </a:r>
            <a:pPr indent="0" marL="0">
              <a:lnSpc>
                <a:spcPct val="13000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肯定孩子的亮点和潜力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指出可提升的方向（专业但不否定）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给出个性化训练建议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表达对孩子后续学习的期待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201168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FFE8DD"/>
          </a:solidFill>
          <a:ln w="190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92240" y="2103120"/>
            <a:ext cx="49377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顾问推荐课包（7分钟）
</a:t>
            </a:r>
            <a:pPr indent="0" marL="0">
              <a:lnSpc>
                <a:spcPct val="13000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结合教练反馈，总结孩子优势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推荐匹配的课包方案（2选1策略）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说明课程体系和成长路径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引导家长决策，处理异议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3474720" cy="365760"/>
          </a:xfrm>
          <a:prstGeom prst="rect">
            <a:avLst>
              <a:gd name="adj" fmla="val 125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48640" y="4572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F 特性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937760"/>
            <a:ext cx="3474720" cy="1097280"/>
          </a:xfrm>
          <a:prstGeom prst="rect">
            <a:avLst>
              <a:gd name="adj" fmla="val 6667"/>
            </a:avLst>
          </a:prstGeom>
          <a:solidFill>
            <a:srgbClr val="1A2A50">
              <a:alpha val="70000"/>
            </a:srgbClr>
          </a:solidFill>
          <a:ln w="1905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85800" y="50292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教练+顾问双角色配合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97680" y="4572000"/>
            <a:ext cx="3474720" cy="365760"/>
          </a:xfrm>
          <a:prstGeom prst="rect">
            <a:avLst>
              <a:gd name="adj" fmla="val 125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297680" y="4572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A 优势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97680" y="4937760"/>
            <a:ext cx="3474720" cy="1097280"/>
          </a:xfrm>
          <a:prstGeom prst="rect">
            <a:avLst>
              <a:gd name="adj" fmla="val 6667"/>
            </a:avLst>
          </a:prstGeom>
          <a:solidFill>
            <a:srgbClr val="1A2A50">
              <a:alpha val="70000"/>
            </a:srgbClr>
          </a:solidFill>
          <a:ln w="190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434840" y="50292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专业+销售各司其职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46720" y="4572000"/>
            <a:ext cx="3474720" cy="365760"/>
          </a:xfrm>
          <a:prstGeom prst="rect">
            <a:avLst>
              <a:gd name="adj" fmla="val 12500"/>
            </a:avLst>
          </a:prstGeom>
          <a:solidFill>
            <a:srgbClr val="2ECC71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046720" y="4572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B 利益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46720" y="4937760"/>
            <a:ext cx="3474720" cy="1097280"/>
          </a:xfrm>
          <a:prstGeom prst="rect">
            <a:avLst>
              <a:gd name="adj" fmla="val 6667"/>
            </a:avLst>
          </a:prstGeom>
          <a:solidFill>
            <a:srgbClr val="1A2A50">
              <a:alpha val="70000"/>
            </a:srgbClr>
          </a:solidFill>
          <a:ln w="19050">
            <a:solidFill>
              <a:srgbClr val="2ECC71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183880" y="50292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家长感受专业，决策更果断</a:t>
            </a:r>
            <a:endParaRPr lang="en-US" sz="1050" dirty="0"/>
          </a:p>
        </p:txBody>
      </p:sp>
      <p:sp>
        <p:nvSpPr>
          <p:cNvPr id="27" name="Rectangle 26"/>
          <p:cNvSpPr/>
          <p:nvPr/>
        </p:nvSpPr>
        <p:spPr>
          <a:xfrm rot="20700000">
            <a:off x="243840" y="1028700"/>
            <a:ext cx="97536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0700000">
            <a:off x="609600" y="1577339"/>
            <a:ext cx="12192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Step 7: 成交或跟进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E0CC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成交签约 / 未成交当天感谢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1430000" y="320040"/>
            <a:ext cx="365760" cy="365760"/>
          </a:xfrm>
          <a:prstGeom prst="rect">
            <a:avLst>
              <a:gd name="adj" fmla="val 12500"/>
            </a:avLst>
          </a:prstGeom>
          <a:solidFill>
            <a:srgbClr val="1A2A50">
              <a:alpha val="70000"/>
            </a:srgbClr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6492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 · 销售培训  |  第 10 / 16 页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11887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成交或跟进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2011680"/>
            <a:ext cx="5303520" cy="3840480"/>
          </a:xfrm>
          <a:prstGeom prst="roundRect">
            <a:avLst>
              <a:gd name="adj" fmla="val 2857"/>
            </a:avLst>
          </a:prstGeom>
          <a:solidFill>
            <a:srgbClr val="1A2A50">
              <a:alpha val="70000"/>
            </a:srgbClr>
          </a:solidFill>
          <a:ln w="25400">
            <a:solidFill>
              <a:srgbClr val="2ECC71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48640" y="2011680"/>
            <a:ext cx="5303520" cy="457200"/>
          </a:xfrm>
          <a:prstGeom prst="rect">
            <a:avLst>
              <a:gd name="adj" fmla="val 24000"/>
            </a:avLst>
          </a:prstGeom>
          <a:solidFill>
            <a:srgbClr val="2ECC71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8640" y="20116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成交流程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2560320"/>
            <a:ext cx="49377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1. 确认课包方案，核对价格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2. 签署合同，双方各执一份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3. 收款并开具收据/发票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4. GYMGO系统录入会员信息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5. 添加会员标签和备注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6. 预约第一次正式课时间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7. 拍照留念，发送欢迎消息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2011680"/>
            <a:ext cx="5303520" cy="3840480"/>
          </a:xfrm>
          <a:prstGeom prst="roundRect">
            <a:avLst>
              <a:gd name="adj" fmla="val 2857"/>
            </a:avLst>
          </a:prstGeom>
          <a:solidFill>
            <a:srgbClr val="1A2A50">
              <a:alpha val="70000"/>
            </a:srgbClr>
          </a:solidFill>
          <a:ln w="254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309360" y="2011680"/>
            <a:ext cx="5303520" cy="457200"/>
          </a:xfrm>
          <a:prstGeom prst="rect">
            <a:avLst>
              <a:gd name="adj" fmla="val 24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309360" y="20116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未成交当天跟进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2560320"/>
            <a:ext cx="49377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1. 当天发送感谢消息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2. 分享孩子体验课的精彩照片/视频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3. 附上教练的个性化反馈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4. 了解未签约的真实原因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5. 表达理解，不给压力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6. 约定下次跟进时间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7. 持续保持群内互动</a:t>
            </a:r>
            <a:endParaRPr lang="en-US" sz="1100" dirty="0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10728960" y="0"/>
            <a:ext cx="1463040" cy="548640"/>
          </a:xfrm>
          <a:prstGeom prst="triangl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829300"/>
            <a:ext cx="12192000" cy="1028700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Step 8: 成交交接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E0CC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顾问 -&gt; 教练交接会员档案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1430000" y="320040"/>
            <a:ext cx="365760" cy="365760"/>
          </a:xfrm>
          <a:prstGeom prst="rect">
            <a:avLst>
              <a:gd name="adj" fmla="val 12500"/>
            </a:avLst>
          </a:prstGeom>
          <a:solidFill>
            <a:srgbClr val="1A2A50">
              <a:alpha val="70000"/>
            </a:srgbClr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6492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 · 销售培训  |  第 11 / 16 页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11887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成交交接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2011680"/>
            <a:ext cx="3474720" cy="365760"/>
          </a:xfrm>
          <a:prstGeom prst="rect">
            <a:avLst>
              <a:gd name="adj" fmla="val 125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4864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F 特性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377440"/>
            <a:ext cx="3474720" cy="2194560"/>
          </a:xfrm>
          <a:prstGeom prst="rect">
            <a:avLst>
              <a:gd name="adj" fmla="val 3333"/>
            </a:avLst>
          </a:prstGeom>
          <a:solidFill>
            <a:srgbClr val="1A2A50">
              <a:alpha val="70000"/>
            </a:srgbClr>
          </a:solidFill>
          <a:ln w="1905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85800" y="246888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成交后离店前完成交接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交接内容：孩子档案+家长需求+性格特点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教练确认接收并了解关键信息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GYMGO系统更新服务状态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97680" y="2011680"/>
            <a:ext cx="3474720" cy="365760"/>
          </a:xfrm>
          <a:prstGeom prst="rect">
            <a:avLst>
              <a:gd name="adj" fmla="val 125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29768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A 优势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97680" y="2377440"/>
            <a:ext cx="3474720" cy="2194560"/>
          </a:xfrm>
          <a:prstGeom prst="rect">
            <a:avLst>
              <a:gd name="adj" fmla="val 3333"/>
            </a:avLst>
          </a:prstGeom>
          <a:solidFill>
            <a:srgbClr val="1A2A50">
              <a:alpha val="70000"/>
            </a:srgbClr>
          </a:solidFill>
          <a:ln w="190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434840" y="246888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服务不脱节，客户无感知切换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教练提前了解会员，第一节课更贴心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避免重复询问让家长反感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明确责任归属，服务质量可控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46720" y="2011680"/>
            <a:ext cx="3474720" cy="365760"/>
          </a:xfrm>
          <a:prstGeom prst="rect">
            <a:avLst>
              <a:gd name="adj" fmla="val 12500"/>
            </a:avLst>
          </a:prstGeom>
          <a:solidFill>
            <a:srgbClr val="2ECC71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04672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B 利益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46720" y="2377440"/>
            <a:ext cx="3474720" cy="2194560"/>
          </a:xfrm>
          <a:prstGeom prst="rect">
            <a:avLst>
              <a:gd name="adj" fmla="val 3333"/>
            </a:avLst>
          </a:prstGeom>
          <a:solidFill>
            <a:srgbClr val="1A2A50">
              <a:alpha val="70000"/>
            </a:srgbClr>
          </a:solidFill>
          <a:ln w="19050">
            <a:solidFill>
              <a:srgbClr val="2ECC71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183880" y="246888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客户体验无缝衔接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续费率提升（服务连续性）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家长口碑传播，带来转介绍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团队配合默契，整体效率提升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754880"/>
            <a:ext cx="11094415" cy="1280160"/>
          </a:xfrm>
          <a:prstGeom prst="roundRect">
            <a:avLst>
              <a:gd name="adj" fmla="val 7143"/>
            </a:avLst>
          </a:prstGeom>
          <a:solidFill>
            <a:srgbClr val="E8EDF8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31520" y="4846320"/>
            <a:ext cx="1072865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交接清单：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孩子基本信息 / 运动基础评估 / 性格特点 / 家长核心诉求 / 签约课包类型 / 已约课程时间 / 特殊注意事项</a:t>
            </a:r>
            <a:endParaRPr lang="en-US" sz="1100" dirty="0"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829300"/>
            <a:ext cx="12192000" cy="1028700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未签单跟进节奏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E0CC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FOLLOW-UP CADENCE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1430000" y="320040"/>
            <a:ext cx="365760" cy="365760"/>
          </a:xfrm>
          <a:prstGeom prst="rect">
            <a:avLst>
              <a:gd name="adj" fmla="val 12500"/>
            </a:avLst>
          </a:prstGeom>
          <a:solidFill>
            <a:srgbClr val="1A2A50">
              <a:alpha val="70000"/>
            </a:srgbClr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6492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 · 销售培训  |  第 12 / 16 页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28016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2801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当天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03120" y="12801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发送感谢+体验课照片+教练反馈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326880" y="128016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FFE8DD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326880" y="1280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温暖感谢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207008" y="1920240"/>
            <a:ext cx="54864" cy="182880"/>
          </a:xfrm>
          <a:prstGeom prst="rect">
            <a:avLst/>
          </a:prstGeom>
          <a:solidFill>
            <a:srgbClr val="F5F0ED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48640" y="210312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8640" y="21031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24小时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03120" y="210312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询问体验感受，了解犹豫原因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326880" y="210312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FFE8DD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326880" y="21031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倾听理解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207008" y="2743200"/>
            <a:ext cx="54864" cy="182880"/>
          </a:xfrm>
          <a:prstGeom prst="rect">
            <a:avLst/>
          </a:prstGeom>
          <a:solidFill>
            <a:srgbClr val="F5F0ED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48640" y="292608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2ECC71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48640" y="29260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3天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103120" y="292608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分享相似案例/学员成长故事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326880" y="292608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FFE8DD"/>
          </a:solidFill>
          <a:ln w="12700">
            <a:solidFill>
              <a:srgbClr val="2ECC71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326880" y="2926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价值传递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207008" y="3566160"/>
            <a:ext cx="54864" cy="182880"/>
          </a:xfrm>
          <a:prstGeom prst="rect">
            <a:avLst/>
          </a:prstGeom>
          <a:solidFill>
            <a:srgbClr val="F5F0ED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548640" y="374904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E67E22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48640" y="37490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7天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103120" y="374904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发送限时优惠或活动邀请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326880" y="374904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FFE8DD"/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9326880" y="37490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紧迫感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207008" y="4389120"/>
            <a:ext cx="54864" cy="182880"/>
          </a:xfrm>
          <a:prstGeom prst="rect">
            <a:avLst/>
          </a:prstGeom>
          <a:solidFill>
            <a:srgbClr val="F5F0ED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548640" y="457200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9B59B6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48640" y="45720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15天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103120" y="45720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提供免费体测或二次体验机会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326880" y="457200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FFE8DD"/>
          </a:solidFill>
          <a:ln w="12700">
            <a:solidFill>
              <a:srgbClr val="9B59B6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9326880" y="4572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再次吸引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207008" y="5212080"/>
            <a:ext cx="54864" cy="182880"/>
          </a:xfrm>
          <a:prstGeom prst="rect">
            <a:avLst/>
          </a:prstGeom>
          <a:solidFill>
            <a:srgbClr val="F5F0ED"/>
          </a:solidFill>
          <a:ln/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548640" y="539496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888888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48640" y="53949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30天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103120" y="53949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最后跟进，保持长期关系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326880" y="539496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FFE8DD"/>
          </a:solidFill>
          <a:ln w="12700">
            <a:solidFill>
              <a:srgbClr val="888888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9326880" y="5394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长期维护</a:t>
            </a:r>
            <a:endParaRPr lang="en-US" sz="1100" dirty="0"/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0700000">
            <a:off x="243840" y="1028700"/>
            <a:ext cx="97536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 rot="20700000">
            <a:off x="609600" y="1577339"/>
            <a:ext cx="12192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5829300"/>
            <a:ext cx="12192000" cy="1028700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关键指标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E0CC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1430000" y="320040"/>
            <a:ext cx="365760" cy="365760"/>
          </a:xfrm>
          <a:prstGeom prst="rect">
            <a:avLst>
              <a:gd name="adj" fmla="val 12500"/>
            </a:avLst>
          </a:prstGeom>
          <a:solidFill>
            <a:srgbClr val="1A2A50">
              <a:alpha val="70000"/>
            </a:srgbClr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6492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 · 销售培训  |  第 13 / 16 页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4400" y="1371600"/>
            <a:ext cx="4754880" cy="4572000"/>
          </a:xfrm>
          <a:prstGeom prst="roundRect">
            <a:avLst>
              <a:gd name="adj" fmla="val 3000"/>
            </a:avLst>
          </a:prstGeom>
          <a:solidFill>
            <a:srgbClr val="1A2A50">
              <a:alpha val="70000"/>
            </a:srgbClr>
          </a:solidFill>
          <a:ln w="254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1554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体验到店率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71600" y="228600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FFE8DD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371600" y="228600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达标线
</a:t>
            </a:r>
            <a:pPr algn="ctr" indent="0" marL="0">
              <a:buNone/>
            </a:pPr>
            <a:r>
              <a:rPr lang="en-US" sz="32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&gt;= 70%
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371600" y="393192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E8EDF8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371600" y="393192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优秀线
</a:t>
            </a:r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&gt;= 80%
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92240" y="1371600"/>
            <a:ext cx="4754880" cy="4572000"/>
          </a:xfrm>
          <a:prstGeom prst="roundRect">
            <a:avLst>
              <a:gd name="adj" fmla="val 3000"/>
            </a:avLst>
          </a:prstGeom>
          <a:solidFill>
            <a:srgbClr val="1A2A50">
              <a:alpha val="70000"/>
            </a:srgbClr>
          </a:solidFill>
          <a:ln w="254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92240" y="1554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转化率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949440" y="228600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FFE8DD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949440" y="228600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达标线
</a:t>
            </a:r>
            <a:pPr algn="ctr" indent="0" marL="0">
              <a:buNone/>
            </a:pPr>
            <a:r>
              <a:rPr lang="en-US" sz="32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&gt;= 30%
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49440" y="393192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E8EDF8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949440" y="393192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优秀线
</a:t>
            </a:r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&gt;= 50%
</a:t>
            </a:r>
            <a:endParaRPr lang="en-US" sz="1200" dirty="0"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829300"/>
            <a:ext cx="12192000" cy="1028700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常见错误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E0CC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COMMON MISTAKES TO AVOID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1430000" y="320040"/>
            <a:ext cx="365760" cy="365760"/>
          </a:xfrm>
          <a:prstGeom prst="rect">
            <a:avLst>
              <a:gd name="adj" fmla="val 12500"/>
            </a:avLst>
          </a:prstGeom>
          <a:solidFill>
            <a:srgbClr val="1A2A50">
              <a:alpha val="70000"/>
            </a:srgbClr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6492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 · 销售培训  |  第 14 / 16 页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48640" cy="54864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X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80160" y="1280160"/>
            <a:ext cx="4754880" cy="1371600"/>
          </a:xfrm>
          <a:prstGeom prst="roundRect">
            <a:avLst>
              <a:gd name="adj" fmla="val 6667"/>
            </a:avLst>
          </a:prstGeom>
          <a:solidFill>
            <a:srgbClr val="FDE8E8"/>
          </a:solidFill>
          <a:ln w="12700">
            <a:solidFill>
              <a:srgbClr val="E74C3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463040" y="137160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E74C3C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错误做法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到店后才开始了解孩子信息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26480" y="1280160"/>
            <a:ext cx="731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-&gt;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858000" y="1280160"/>
            <a:ext cx="4754880" cy="1371600"/>
          </a:xfrm>
          <a:prstGeom prst="roundRect">
            <a:avLst>
              <a:gd name="adj" fmla="val 6667"/>
            </a:avLst>
          </a:prstGeom>
          <a:solidFill>
            <a:srgbClr val="E8F8E8"/>
          </a:solidFill>
          <a:ln w="12700">
            <a:solidFill>
              <a:srgbClr val="2ECC7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040880" y="137160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ECC71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正确做法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预约时就收集基本信息，到店前已充分准备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548640" cy="54864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4864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X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280160" y="2926080"/>
            <a:ext cx="4754880" cy="1371600"/>
          </a:xfrm>
          <a:prstGeom prst="roundRect">
            <a:avLst>
              <a:gd name="adj" fmla="val 6667"/>
            </a:avLst>
          </a:prstGeom>
          <a:solidFill>
            <a:srgbClr val="FDE8E8"/>
          </a:solidFill>
          <a:ln w="12700">
            <a:solidFill>
              <a:srgbClr val="E74C3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3040" y="301752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E74C3C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错误做法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体验课期间顾问离开或玩手机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26480" y="2926080"/>
            <a:ext cx="731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-&gt;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6858000" y="2926080"/>
            <a:ext cx="4754880" cy="1371600"/>
          </a:xfrm>
          <a:prstGeom prst="roundRect">
            <a:avLst>
              <a:gd name="adj" fmla="val 6667"/>
            </a:avLst>
          </a:prstGeom>
          <a:solidFill>
            <a:srgbClr val="E8F8E8"/>
          </a:solidFill>
          <a:ln w="12700">
            <a:solidFill>
              <a:srgbClr val="2ECC71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040880" y="301752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ECC71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正确做法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顾问全程旁听记录，为课后沟通积累素材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754880"/>
            <a:ext cx="548640" cy="54864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48640" y="4754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X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280160" y="4572000"/>
            <a:ext cx="4754880" cy="1371600"/>
          </a:xfrm>
          <a:prstGeom prst="roundRect">
            <a:avLst>
              <a:gd name="adj" fmla="val 6667"/>
            </a:avLst>
          </a:prstGeom>
          <a:solidFill>
            <a:srgbClr val="FDE8E8"/>
          </a:solidFill>
          <a:ln w="12700">
            <a:solidFill>
              <a:srgbClr val="E74C3C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463040" y="466344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E74C3C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错误做法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未成交就不再跟进，直接放弃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26480" y="4572000"/>
            <a:ext cx="731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-&gt;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6858000" y="4572000"/>
            <a:ext cx="4754880" cy="1371600"/>
          </a:xfrm>
          <a:prstGeom prst="roundRect">
            <a:avLst>
              <a:gd name="adj" fmla="val 6667"/>
            </a:avLst>
          </a:prstGeom>
          <a:solidFill>
            <a:srgbClr val="E8F8E8"/>
          </a:solidFill>
          <a:ln w="12700">
            <a:solidFill>
              <a:srgbClr val="2ECC71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040880" y="466344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ECC71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正确做法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按照6步跟进节奏持续触达，30天内多次尝试</a:t>
            </a:r>
            <a:endParaRPr lang="en-US" sz="1000" dirty="0"/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5829300"/>
            <a:ext cx="12192000" cy="1028700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本课要点回顾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E0CC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1430000" y="320040"/>
            <a:ext cx="365760" cy="365760"/>
          </a:xfrm>
          <a:prstGeom prst="rect">
            <a:avLst>
              <a:gd name="adj" fmla="val 12500"/>
            </a:avLst>
          </a:prstGeom>
          <a:solidFill>
            <a:srgbClr val="1A2A50">
              <a:alpha val="70000"/>
            </a:srgbClr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6492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 · 销售培训  |  第 15 / 16 页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1A2A50">
              <a:alpha val="70000"/>
            </a:srgbClr>
          </a:solidFill>
          <a:ln w="1905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463040" y="15544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463040" y="1554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8640" y="2468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预约确认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2926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2小时内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29000" y="137160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1A2A50">
              <a:alpha val="70000"/>
            </a:srgbClr>
          </a:solidFill>
          <a:ln w="1905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343400" y="15544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343400" y="1554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429000" y="2468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三方建群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29000" y="2926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4小时内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137160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1A2A50">
              <a:alpha val="70000"/>
            </a:srgbClr>
          </a:solidFill>
          <a:ln w="1905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223760" y="15544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223760" y="1554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309360" y="2468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到访确认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09360" y="2926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提前1天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89720" y="137160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1A2A50">
              <a:alpha val="70000"/>
            </a:srgbClr>
          </a:solidFill>
          <a:ln w="1905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104120" y="15544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0104120" y="1554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189720" y="2468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到店迎接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189720" y="2926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5分钟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93192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1A2A50">
              <a:alpha val="70000"/>
            </a:srgbClr>
          </a:solidFill>
          <a:ln w="190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463040" y="4114800"/>
            <a:ext cx="822960" cy="82296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463040" y="4114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548640" y="5029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体验上课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48640" y="5486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45-60分钟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429000" y="393192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1A2A50">
              <a:alpha val="70000"/>
            </a:srgbClr>
          </a:solidFill>
          <a:ln w="190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4343400" y="4114800"/>
            <a:ext cx="822960" cy="82296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343400" y="4114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3429000" y="5029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反馈推荐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3429000" y="5486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10分钟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09360" y="393192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1A2A50">
              <a:alpha val="70000"/>
            </a:srgbClr>
          </a:solidFill>
          <a:ln w="190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7223760" y="4114800"/>
            <a:ext cx="822960" cy="82296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7223760" y="4114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6309360" y="5029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成交跟进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309360" y="5486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当天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189720" y="393192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1A2A50">
              <a:alpha val="70000"/>
            </a:srgbClr>
          </a:solidFill>
          <a:ln w="190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10104120" y="4114800"/>
            <a:ext cx="822960" cy="82296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10104120" y="4114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9189720" y="5029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成交交接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9189720" y="5486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离店前</a:t>
            </a:r>
            <a:endParaRPr lang="en-US" sz="1100" dirty="0"/>
          </a:p>
        </p:txBody>
      </p:sp>
      <p:sp>
        <p:nvSpPr>
          <p:cNvPr id="48" name="Rectangle 47"/>
          <p:cNvSpPr/>
          <p:nvPr/>
        </p:nvSpPr>
        <p:spPr>
          <a:xfrm rot="20700000">
            <a:off x="243840" y="1028700"/>
            <a:ext cx="97536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0700000">
            <a:off x="609600" y="1577339"/>
            <a:ext cx="12192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3200400"/>
            <a:ext cx="12191695" cy="1371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731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E0CC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下  课  预  告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第四课：体测解读与方案定制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D4B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学会用数据说话，让家长看到孩子的成长可能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行动任务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0" y="4206240"/>
            <a:ext cx="8534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1. 背诵8步法流程及每步时间节点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0" y="4709160"/>
            <a:ext cx="8534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2. 模拟演练一次完整的到店接待（含话术）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28800" y="5212080"/>
            <a:ext cx="8534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3. 本周完成至少1次真实接待并填写接待记录表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 · 让每个孩子追光而行</a:t>
            </a:r>
            <a:endParaRPr lang="en-US" sz="1200" dirty="0"/>
          </a:p>
        </p:txBody>
      </p:sp>
      <p:sp>
        <p:nvSpPr>
          <p:cNvPr id="13" name="Rectangle 12"/>
          <p:cNvSpPr/>
          <p:nvPr/>
        </p:nvSpPr>
        <p:spPr>
          <a:xfrm rot="20700000">
            <a:off x="243840" y="1028700"/>
            <a:ext cx="97536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0700000">
            <a:off x="609600" y="1577339"/>
            <a:ext cx="12192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0700000">
            <a:off x="975360" y="2125980"/>
            <a:ext cx="1463040" cy="317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10800000">
            <a:off x="0" y="6309360"/>
            <a:ext cx="975360" cy="548640"/>
          </a:xfrm>
          <a:prstGeom prst="triangl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追光小牛·销售培训 第三课：首次到店接待8步法</dc:title>
  <dc:subject>PptxGenJS Presentation</dc:subject>
  <dc:creator>追光小牛</dc:creator>
  <cp:lastModifiedBy>追光小牛</cp:lastModifiedBy>
  <cp:revision>1</cp:revision>
  <dcterms:created xsi:type="dcterms:W3CDTF">2026-04-18T17:05:38Z</dcterms:created>
  <dcterms:modified xsi:type="dcterms:W3CDTF">2026-04-18T17:05:38Z</dcterms:modified>
</cp:coreProperties>
</file>